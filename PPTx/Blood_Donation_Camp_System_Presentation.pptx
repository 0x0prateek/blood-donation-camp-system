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B4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31720"/>
            <a:ext cx="3383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BLOOD</a:t>
            </a:r>
          </a:p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DONATION</a:t>
            </a:r>
          </a:p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CAMP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3977639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F3D2D6"/>
                </a:solidFill>
                <a:latin typeface="Calibri"/>
              </a:rPr>
              <a:t>Full-Stack Web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17720" y="196596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B41E2E"/>
                </a:solidFill>
                <a:latin typeface="Calibri"/>
              </a:rPr>
              <a:t>Vue 3  •  Node.js / Express  •  MySQL  •  Docker / Podman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17720" y="2514600"/>
            <a:ext cx="68580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212938"/>
                </a:solidFill>
                <a:latin typeface="Calibri"/>
              </a:rPr>
              <a:t>A production-style system for managing blood donors, donation camps, camp finances and multi-channel (WhatsApp/SMS) donor communication — built as a containerised SPA + REST API + relational database.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7720" y="5074920"/>
            <a:ext cx="6858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6B7280"/>
                </a:solidFill>
                <a:latin typeface="Calibri"/>
              </a:rPr>
              <a:t>Presented by: ____________________________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6B7280"/>
                </a:solidFill>
                <a:latin typeface="Calibri"/>
              </a:rPr>
              <a:t>Stack: Vue 3 SPA · Node/Express API · MariaDB · Podman/Docker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6B7280"/>
                </a:solidFill>
                <a:latin typeface="Calibri"/>
              </a:rPr>
              <a:t>Status: Audited, fixed and containerised —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B41E2E"/>
                </a:solidFill>
                <a:latin typeface="Calibri"/>
              </a:rPr>
              <a:t>1.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A digital platform to organise blood donation camps end-to-end.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Blood Donation Camp System  |  Vue 3 + Node.js + MySQL  | 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600">
                <a:solidFill>
                  <a:srgbClr val="212938"/>
                </a:solidFill>
                <a:latin typeface="Calibri"/>
              </a:rPr>
              <a:t>▪  Manages the full lifecycle of a blood donation drive: donors, camps, on-site registration, finances and outreach.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600">
                <a:solidFill>
                  <a:srgbClr val="212938"/>
                </a:solidFill>
                <a:latin typeface="Calibri"/>
              </a:rPr>
              <a:t>▪  A Vue 3 single-page app talks to a Node.js/Express REST API, backed by a MySQL/MariaDB relational database.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600">
                <a:solidFill>
                  <a:srgbClr val="212938"/>
                </a:solidFill>
                <a:latin typeface="Calibri"/>
              </a:rPr>
              <a:t>▪  Donor and camp records are normalised, indexed and searchable — built to hold 800+ real donor records.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600">
                <a:solidFill>
                  <a:srgbClr val="212938"/>
                </a:solidFill>
                <a:latin typeface="Calibri"/>
              </a:rPr>
              <a:t>▪  Multi-channel outreach: bulk WhatsApp (Meta Cloud API) and SMS (Notify.lk / Twilio), in English and Sinhala.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600">
                <a:solidFill>
                  <a:srgbClr val="212938"/>
                </a:solidFill>
                <a:latin typeface="Calibri"/>
              </a:rPr>
              <a:t>▪  Every write path (auth, CRUD, messaging, imports/exports) is authenticated and input-validated end to end.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600">
                <a:solidFill>
                  <a:srgbClr val="212938"/>
                </a:solidFill>
                <a:latin typeface="Calibri"/>
              </a:rPr>
              <a:t>▪  Ships fully containerised — one command brings up the SPA, API and database together.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B41E2E"/>
                </a:solidFill>
                <a:latin typeface="Calibri"/>
              </a:rPr>
              <a:t>2.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What organising a blood camp on paper and spreadsheets looks like.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Blood Donation Camp System  |  Vue 3 + Node.js + MySQL  | 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600">
                <a:solidFill>
                  <a:srgbClr val="212938"/>
                </a:solidFill>
                <a:latin typeface="Calibri"/>
              </a:rPr>
              <a:t>▪  Donor registers are kept as paper books or scattered spreadsheets, organised by village or camp.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600">
                <a:solidFill>
                  <a:srgbClr val="212938"/>
                </a:solidFill>
                <a:latin typeface="Calibri"/>
              </a:rPr>
              <a:t>▪  Finding donors of a specific blood group who are due to donate again takes manual cross-checking.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600">
                <a:solidFill>
                  <a:srgbClr val="212938"/>
                </a:solidFill>
                <a:latin typeface="Calibri"/>
              </a:rPr>
              <a:t>▪  Announcing a camp means calling or messaging donors one by one — slow and easy to under- or over-send.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600">
                <a:solidFill>
                  <a:srgbClr val="212938"/>
                </a:solidFill>
                <a:latin typeface="Calibri"/>
              </a:rPr>
              <a:t>▪  Camp income (cash and in-kind donations) and expenses are tracked informally, if at all.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600">
                <a:solidFill>
                  <a:srgbClr val="212938"/>
                </a:solidFill>
                <a:latin typeface="Calibri"/>
              </a:rPr>
              <a:t>▪  No shared, auditable record of who attended a camp, who actually donated, and who was contacted when.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600">
                <a:solidFill>
                  <a:srgbClr val="212938"/>
                </a:solidFill>
                <a:latin typeface="Calibri"/>
              </a:rPr>
              <a:t>▪  Emergency blood requests have no fast way to reach the right blood group at scale.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B41E2E"/>
                </a:solidFill>
                <a:latin typeface="Calibri"/>
              </a:rPr>
              <a:t>3.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What the system sets out to achieve.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Blood Donation Camp System  |  Vue 3 + Node.js + MySQL  | 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600">
                <a:solidFill>
                  <a:srgbClr val="212938"/>
                </a:solidFill>
                <a:latin typeface="Calibri"/>
              </a:rPr>
              <a:t>▪  Give organisers one system for donors, camps, on-site registration, budgets and messaging.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600">
                <a:solidFill>
                  <a:srgbClr val="212938"/>
                </a:solidFill>
                <a:latin typeface="Calibri"/>
              </a:rPr>
              <a:t>▪  Digitise the paper camp register while preserving its logic: T.P. (mobile) number as the unique identifier.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600">
                <a:solidFill>
                  <a:srgbClr val="212938"/>
                </a:solidFill>
                <a:latin typeface="Calibri"/>
              </a:rPr>
              <a:t>▪  Make blood-group and eligibility (4-month) filtering instant instead of manual.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600">
                <a:solidFill>
                  <a:srgbClr val="212938"/>
                </a:solidFill>
                <a:latin typeface="Calibri"/>
              </a:rPr>
              <a:t>▪  Support bulk, chunked WhatsApp/SMS campaigns that survive timeouts and never double-send.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600">
                <a:solidFill>
                  <a:srgbClr val="212938"/>
                </a:solidFill>
                <a:latin typeface="Calibri"/>
              </a:rPr>
              <a:t>▪  Track camp finances — cash donations, in-kind goods and expenses — without mixing the two.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600">
                <a:solidFill>
                  <a:srgbClr val="212938"/>
                </a:solidFill>
                <a:latin typeface="Calibri"/>
              </a:rPr>
              <a:t>▪  Package the whole stack so it can be built and run identically anywhere with one Docker/Podman command.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B41E2E"/>
                </a:solidFill>
                <a:latin typeface="Calibri"/>
              </a:rPr>
              <a:t>4. 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The concrete stack behind the platform.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Blood Donation Camp System  |  Vue 3 + Node.js + MySQL  | 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00200"/>
            <a:ext cx="507492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856232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B41E2E"/>
                </a:solidFill>
                <a:latin typeface="Calibri"/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423160"/>
            <a:ext cx="4434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212938"/>
                </a:solidFill>
                <a:latin typeface="Calibri"/>
              </a:rPr>
              <a:t>Vue 3 (Composition API) · Vite · Vue Router 4 · Pinia · Bootstrap 5 · Chart.js · Axios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00200"/>
            <a:ext cx="507492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856232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B41E2E"/>
                </a:solidFill>
                <a:latin typeface="Calibri"/>
              </a:rPr>
              <a:t>Backend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423160"/>
            <a:ext cx="4434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212938"/>
                </a:solidFill>
                <a:latin typeface="Calibri"/>
              </a:rPr>
              <a:t>Node.js 20 · Express · JWT (httpOnly cookies) · bcrypt · mysql2/promise · ExcelJS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794760"/>
            <a:ext cx="507492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4050792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B41E2E"/>
                </a:solidFill>
                <a:latin typeface="Calibri"/>
              </a:rPr>
              <a:t>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617720"/>
            <a:ext cx="4434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212938"/>
                </a:solidFill>
                <a:latin typeface="Calibri"/>
              </a:rPr>
              <a:t>MySQL / MariaDB 10.11 · 12 tables · foreign keys · indexes · migration ledger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794760"/>
            <a:ext cx="507492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4050792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B41E2E"/>
                </a:solidFill>
                <a:latin typeface="Calibri"/>
              </a:rPr>
              <a:t>Infrastructure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617720"/>
            <a:ext cx="4434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212938"/>
                </a:solidFill>
                <a:latin typeface="Calibri"/>
              </a:rPr>
              <a:t>Docker &amp; Podman (OCI) · Compose · Nginx (SPA + reverse proxy) · Railway-ready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B41E2E"/>
                </a:solidFill>
                <a:latin typeface="Calibri"/>
              </a:rPr>
              <a:t>5. Main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Core modules available to an administrator.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Blood Donation Camp System  |  Vue 3 + Node.js + MySQL  | 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332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450">
                <a:solidFill>
                  <a:srgbClr val="212938"/>
                </a:solidFill>
                <a:latin typeface="Calibri"/>
              </a:rPr>
              <a:t>▪  Donor Management — CRUD, Excel import/export, blood-group and eligibility filtering, duplicate detection.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450">
                <a:solidFill>
                  <a:srgbClr val="212938"/>
                </a:solidFill>
                <a:latin typeface="Calibri"/>
              </a:rPr>
              <a:t>▪  Blood Camps — schedule camps, track status (Upcoming / Completed / Cancelled), planned budget per camp.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450">
                <a:solidFill>
                  <a:srgbClr val="212938"/>
                </a:solidFill>
                <a:latin typeface="Calibri"/>
              </a:rPr>
              <a:t>▪  Camp Register — digital attendance book by T.P. number: known donor, walk-in, or already-registered.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450">
                <a:solidFill>
                  <a:srgbClr val="212938"/>
                </a:solidFill>
                <a:latin typeface="Calibri"/>
              </a:rPr>
              <a:t>▪  Budget &amp; Donations — cash and in-kind contributions tracked separately from spend, with a live balance.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450">
                <a:solidFill>
                  <a:srgbClr val="212938"/>
                </a:solidFill>
                <a:latin typeface="Calibri"/>
              </a:rPr>
              <a:t>▪  Staff — organising-committee directory, reachable through the same messaging pipeline as donors.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450">
                <a:solidFill>
                  <a:srgbClr val="212938"/>
                </a:solidFill>
                <a:latin typeface="Calibri"/>
              </a:rPr>
              <a:t>▪  Messaging — bulk WhatsApp (approved templates) and SMS, chunked sending, campaign de-duplication.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450">
                <a:solidFill>
                  <a:srgbClr val="212938"/>
                </a:solidFill>
                <a:latin typeface="Calibri"/>
              </a:rPr>
              <a:t>▪  Templates — reusable message bodies with Meta template mapping, English and Sinhala.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450">
                <a:solidFill>
                  <a:srgbClr val="212938"/>
                </a:solidFill>
                <a:latin typeface="Calibri"/>
              </a:rPr>
              <a:t>▪  Emergency Alerts — one-click blood-group targeted request to every matching active donor.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450">
                <a:solidFill>
                  <a:srgbClr val="212938"/>
                </a:solidFill>
                <a:latin typeface="Calibri"/>
              </a:rPr>
              <a:t>▪  Reports — date-filtered analytics with Excel export; Settings — app, messaging and account configuration.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B41E2E"/>
                </a:solidFill>
                <a:latin typeface="Calibri"/>
              </a:rPr>
              <a:t>6.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How a request travels through the stack.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Blood Donation Camp System  |  Vue 3 + Node.js + MySQL  | 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2148840"/>
            <a:ext cx="1051560" cy="1051560"/>
          </a:xfrm>
          <a:prstGeom prst="ellipse">
            <a:avLst/>
          </a:prstGeom>
          <a:solidFill>
            <a:srgbClr val="B4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337560"/>
            <a:ext cx="2057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212938"/>
                </a:solidFill>
                <a:latin typeface="Calibri"/>
              </a:rPr>
              <a:t>Browser</a:t>
            </a:r>
          </a:p>
          <a:p>
            <a:pPr algn="ctr"/>
            <a:r>
              <a:rPr sz="1250" b="1" i="0">
                <a:solidFill>
                  <a:srgbClr val="212938"/>
                </a:solidFill>
                <a:latin typeface="Calibri"/>
              </a:rPr>
              <a:t>(Vue 3 SPA)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828800" y="2619756"/>
            <a:ext cx="1337310" cy="109728"/>
          </a:xfrm>
          <a:prstGeom prst="rightArrow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166110" y="2148840"/>
            <a:ext cx="1051560" cy="1051560"/>
          </a:xfrm>
          <a:prstGeom prst="ellipse">
            <a:avLst/>
          </a:prstGeom>
          <a:solidFill>
            <a:srgbClr val="B4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63190" y="3337560"/>
            <a:ext cx="2057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212938"/>
                </a:solidFill>
                <a:latin typeface="Calibri"/>
              </a:rPr>
              <a:t>Nginx</a:t>
            </a:r>
          </a:p>
          <a:p>
            <a:pPr algn="ctr"/>
            <a:r>
              <a:rPr sz="1250" b="1" i="0">
                <a:solidFill>
                  <a:srgbClr val="212938"/>
                </a:solidFill>
                <a:latin typeface="Calibri"/>
              </a:rPr>
              <a:t>(static + proxy)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217670" y="2619756"/>
            <a:ext cx="1337310" cy="109728"/>
          </a:xfrm>
          <a:prstGeom prst="rightArrow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54980" y="2148840"/>
            <a:ext cx="1051560" cy="1051560"/>
          </a:xfrm>
          <a:prstGeom prst="ellipse">
            <a:avLst/>
          </a:prstGeom>
          <a:solidFill>
            <a:srgbClr val="B4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52060" y="3337560"/>
            <a:ext cx="2057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212938"/>
                </a:solidFill>
                <a:latin typeface="Calibri"/>
              </a:rPr>
              <a:t>Express</a:t>
            </a:r>
          </a:p>
          <a:p>
            <a:pPr algn="ctr"/>
            <a:r>
              <a:rPr sz="1250" b="1" i="0">
                <a:solidFill>
                  <a:srgbClr val="212938"/>
                </a:solidFill>
                <a:latin typeface="Calibri"/>
              </a:rPr>
              <a:t>REST API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606540" y="2619756"/>
            <a:ext cx="1337310" cy="109728"/>
          </a:xfrm>
          <a:prstGeom prst="rightArrow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943850" y="2148840"/>
            <a:ext cx="1051560" cy="1051560"/>
          </a:xfrm>
          <a:prstGeom prst="ellipse">
            <a:avLst/>
          </a:prstGeom>
          <a:solidFill>
            <a:srgbClr val="B4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40930" y="3337560"/>
            <a:ext cx="2057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212938"/>
                </a:solidFill>
                <a:latin typeface="Calibri"/>
              </a:rPr>
              <a:t>MariaDB</a:t>
            </a:r>
          </a:p>
          <a:p>
            <a:pPr algn="ctr"/>
            <a:r>
              <a:rPr sz="1250" b="1" i="0">
                <a:solidFill>
                  <a:srgbClr val="212938"/>
                </a:solidFill>
                <a:latin typeface="Calibri"/>
              </a:rPr>
              <a:t>(data)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995410" y="2619756"/>
            <a:ext cx="1337310" cy="109728"/>
          </a:xfrm>
          <a:prstGeom prst="rightArrow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0" y="2148840"/>
            <a:ext cx="1051560" cy="1051560"/>
          </a:xfrm>
          <a:prstGeom prst="ellipse">
            <a:avLst/>
          </a:prstGeom>
          <a:solidFill>
            <a:srgbClr val="B4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29800" y="3337560"/>
            <a:ext cx="2057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212938"/>
                </a:solidFill>
                <a:latin typeface="Calibri"/>
              </a:rPr>
              <a:t>WhatsApp / SMS</a:t>
            </a:r>
          </a:p>
          <a:p>
            <a:pPr algn="ctr"/>
            <a:r>
              <a:rPr sz="1250" b="1" i="0">
                <a:solidFill>
                  <a:srgbClr val="212938"/>
                </a:solidFill>
                <a:latin typeface="Calibri"/>
              </a:rPr>
              <a:t>(Meta, Notify.lk)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43484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B41E2E"/>
                </a:solidFill>
                <a:latin typeface="Calibri"/>
              </a:rPr>
              <a:t>Auth via JWT in an httpOnly cookie  •  All queries parameterised  •  CORS locked to the frontend origin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02920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50" b="0" i="0">
                <a:solidFill>
                  <a:srgbClr val="6B7280"/>
                </a:solidFill>
                <a:latin typeface="Calibri"/>
              </a:rPr>
              <a:t>Three containers, one Compose file: frontend (Vue build served by Nginx, which also reverse-proxies /api to the backend), backend (Node/Express) and db (MariaDB with a health-checked startup). Runs identically under Docker or Podman.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B41E2E"/>
                </a:solidFill>
                <a:latin typeface="Calibri"/>
              </a:rPr>
              <a:t>7. Database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Core MySQL/MariaDB tables (of 12 total).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Blood Donation Camp System  |  Vue 3 + Node.js + MySQL  | 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2286000" cy="457200"/>
          </a:xfrm>
          <a:prstGeom prst="rect">
            <a:avLst/>
          </a:prstGeom>
          <a:solidFill>
            <a:srgbClr val="B4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0" y="1508760"/>
            <a:ext cx="4206240" cy="457200"/>
          </a:xfrm>
          <a:prstGeom prst="rect">
            <a:avLst/>
          </a:prstGeom>
          <a:solidFill>
            <a:srgbClr val="B4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71800" y="1508760"/>
            <a:ext cx="3931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Key Fields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40880" y="1508760"/>
            <a:ext cx="4572000" cy="457200"/>
          </a:xfrm>
          <a:prstGeom prst="rect">
            <a:avLst/>
          </a:prstGeom>
          <a:solidFill>
            <a:srgbClr val="B4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78040" y="1508760"/>
            <a:ext cx="4297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Purpose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965960"/>
            <a:ext cx="228600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965960"/>
            <a:ext cx="20116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212938"/>
                </a:solidFill>
                <a:latin typeface="Calibri"/>
              </a:rPr>
              <a:t>donors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34640" y="1965960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71800" y="1965960"/>
            <a:ext cx="393192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212938"/>
                </a:solidFill>
                <a:latin typeface="Calibri"/>
              </a:rPr>
              <a:t>id, donor_name, mobile (unique), blood_group, status, last_donation_date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40880" y="1965960"/>
            <a:ext cx="457200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78040" y="1965960"/>
            <a:ext cx="42976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212938"/>
                </a:solidFill>
                <a:latin typeface="Calibri"/>
              </a:rPr>
              <a:t>The donor roll — mobile is the durable identity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715768"/>
            <a:ext cx="2286000" cy="749808"/>
          </a:xfrm>
          <a:prstGeom prst="rect">
            <a:avLst/>
          </a:prstGeom>
          <a:solidFill>
            <a:srgbClr val="F3F4F6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715768"/>
            <a:ext cx="20116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212938"/>
                </a:solidFill>
                <a:latin typeface="Calibri"/>
              </a:rPr>
              <a:t>blood_camps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34640" y="2715768"/>
            <a:ext cx="4206240" cy="749808"/>
          </a:xfrm>
          <a:prstGeom prst="rect">
            <a:avLst/>
          </a:prstGeom>
          <a:solidFill>
            <a:srgbClr val="F3F4F6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71800" y="2715768"/>
            <a:ext cx="393192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212938"/>
                </a:solidFill>
                <a:latin typeface="Calibri"/>
              </a:rPr>
              <a:t>id, title, camp_date, location, status, budget_amount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40880" y="2715768"/>
            <a:ext cx="4572000" cy="749808"/>
          </a:xfrm>
          <a:prstGeom prst="rect">
            <a:avLst/>
          </a:prstGeom>
          <a:solidFill>
            <a:srgbClr val="F3F4F6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78040" y="2715768"/>
            <a:ext cx="42976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212938"/>
                </a:solidFill>
                <a:latin typeface="Calibri"/>
              </a:rPr>
              <a:t>Scheduled camps and their planned budget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465576"/>
            <a:ext cx="228600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465576"/>
            <a:ext cx="20116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212938"/>
                </a:solidFill>
                <a:latin typeface="Calibri"/>
              </a:rPr>
              <a:t>camp_registrations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34640" y="3465576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71800" y="3465576"/>
            <a:ext cx="393192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212938"/>
                </a:solidFill>
                <a:latin typeface="Calibri"/>
              </a:rPr>
              <a:t>id, camp_id, donor_id, serial_no, status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40880" y="3465576"/>
            <a:ext cx="457200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78040" y="3465576"/>
            <a:ext cx="42976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212938"/>
                </a:solidFill>
                <a:latin typeface="Calibri"/>
              </a:rPr>
              <a:t>The digital attendance register per camp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215384"/>
            <a:ext cx="2286000" cy="749808"/>
          </a:xfrm>
          <a:prstGeom prst="rect">
            <a:avLst/>
          </a:prstGeom>
          <a:solidFill>
            <a:srgbClr val="F3F4F6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215384"/>
            <a:ext cx="20116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212938"/>
                </a:solidFill>
                <a:latin typeface="Calibri"/>
              </a:rPr>
              <a:t>camp_contributions /</a:t>
            </a:r>
          </a:p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212938"/>
                </a:solidFill>
                <a:latin typeface="Calibri"/>
              </a:rPr>
              <a:t>camp_expenses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34640" y="4215384"/>
            <a:ext cx="4206240" cy="749808"/>
          </a:xfrm>
          <a:prstGeom prst="rect">
            <a:avLst/>
          </a:prstGeom>
          <a:solidFill>
            <a:srgbClr val="F3F4F6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71800" y="4215384"/>
            <a:ext cx="393192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212938"/>
                </a:solidFill>
                <a:latin typeface="Calibri"/>
              </a:rPr>
              <a:t>camp_id, category, amount, status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40880" y="4215384"/>
            <a:ext cx="4572000" cy="749808"/>
          </a:xfrm>
          <a:prstGeom prst="rect">
            <a:avLst/>
          </a:prstGeom>
          <a:solidFill>
            <a:srgbClr val="F3F4F6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78040" y="4215384"/>
            <a:ext cx="42976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212938"/>
                </a:solidFill>
                <a:latin typeface="Calibri"/>
              </a:rPr>
              <a:t>Money and goods in vs. money spent, kept apart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965192"/>
            <a:ext cx="228600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4965192"/>
            <a:ext cx="20116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212938"/>
                </a:solidFill>
                <a:latin typeface="Calibri"/>
              </a:rPr>
              <a:t>message_logs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34640" y="4965192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71800" y="4965192"/>
            <a:ext cx="393192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212938"/>
                </a:solidFill>
                <a:latin typeface="Calibri"/>
              </a:rPr>
              <a:t>donor_id / staff_id, campaign_id, status, sent_at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040880" y="4965192"/>
            <a:ext cx="457200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78040" y="4965192"/>
            <a:ext cx="42976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212938"/>
                </a:solidFill>
                <a:latin typeface="Calibri"/>
              </a:rPr>
              <a:t>Full audit trail of every WhatsApp/SMS sent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5715000"/>
            <a:ext cx="2286000" cy="749808"/>
          </a:xfrm>
          <a:prstGeom prst="rect">
            <a:avLst/>
          </a:prstGeom>
          <a:solidFill>
            <a:srgbClr val="F3F4F6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" y="5715000"/>
            <a:ext cx="20116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212938"/>
                </a:solidFill>
                <a:latin typeface="Calibri"/>
              </a:rPr>
              <a:t>admins, staff,</a:t>
            </a:r>
          </a:p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212938"/>
                </a:solidFill>
                <a:latin typeface="Calibri"/>
              </a:rPr>
              <a:t>login_attempts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834640" y="5715000"/>
            <a:ext cx="4206240" cy="749808"/>
          </a:xfrm>
          <a:prstGeom prst="rect">
            <a:avLst/>
          </a:prstGeom>
          <a:solidFill>
            <a:srgbClr val="F3F4F6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971800" y="5715000"/>
            <a:ext cx="393192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212938"/>
                </a:solidFill>
                <a:latin typeface="Calibri"/>
              </a:rPr>
              <a:t>email/password, name/mobile, ip_address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040880" y="5715000"/>
            <a:ext cx="4572000" cy="749808"/>
          </a:xfrm>
          <a:prstGeom prst="rect">
            <a:avLst/>
          </a:prstGeom>
          <a:solidFill>
            <a:srgbClr val="F3F4F6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78040" y="5715000"/>
            <a:ext cx="42976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212938"/>
                </a:solidFill>
                <a:latin typeface="Calibri"/>
              </a:rPr>
              <a:t>Accounts, committee members, brute-force throttling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B41E2E"/>
                </a:solidFill>
                <a:latin typeface="Calibri"/>
              </a:rPr>
              <a:t>8. Security &amp; Reliability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Hardening applied on top of the base CRUD app.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Blood Donation Camp System  |  Vue 3 + Node.js + MySQL  | 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332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100"/>
              </a:spcAft>
            </a:pPr>
            <a:r>
              <a:rPr sz="1500">
                <a:solidFill>
                  <a:srgbClr val="212938"/>
                </a:solidFill>
                <a:latin typeface="Calibri"/>
              </a:rPr>
              <a:t>▪  Authentication — JWT in an httpOnly cookie (XSS-resistant), bcrypt-hashed passwords, session-aware CORS.</a:t>
            </a:r>
          </a:p>
          <a:p>
            <a:pPr>
              <a:lnSpc>
                <a:spcPct val="110000"/>
              </a:lnSpc>
              <a:spcAft>
                <a:spcPts val="1100"/>
              </a:spcAft>
            </a:pPr>
            <a:r>
              <a:rPr sz="1500">
                <a:solidFill>
                  <a:srgbClr val="212938"/>
                </a:solidFill>
                <a:latin typeface="Calibri"/>
              </a:rPr>
              <a:t>▪  Brute-force throttling — login_attempts table caps failures per email and per IP within a rolling window.</a:t>
            </a:r>
          </a:p>
          <a:p>
            <a:pPr>
              <a:lnSpc>
                <a:spcPct val="110000"/>
              </a:lnSpc>
              <a:spcAft>
                <a:spcPts val="1100"/>
              </a:spcAft>
            </a:pPr>
            <a:r>
              <a:rPr sz="1500">
                <a:solidFill>
                  <a:srgbClr val="212938"/>
                </a:solidFill>
                <a:latin typeface="Calibri"/>
              </a:rPr>
              <a:t>▪  SQL injection — every query goes through mysql2's parameterised placeholders; no string concatenation.</a:t>
            </a:r>
          </a:p>
          <a:p>
            <a:pPr>
              <a:lnSpc>
                <a:spcPct val="110000"/>
              </a:lnSpc>
              <a:spcAft>
                <a:spcPts val="1100"/>
              </a:spcAft>
            </a:pPr>
            <a:r>
              <a:rPr sz="1500">
                <a:solidFill>
                  <a:srgbClr val="212938"/>
                </a:solidFill>
                <a:latin typeface="Calibri"/>
              </a:rPr>
              <a:t>▪  Account changes — changing name, email or password requires re-entering the current password.</a:t>
            </a:r>
          </a:p>
          <a:p>
            <a:pPr>
              <a:lnSpc>
                <a:spcPct val="110000"/>
              </a:lnSpc>
              <a:spcAft>
                <a:spcPts val="1100"/>
              </a:spcAft>
            </a:pPr>
            <a:r>
              <a:rPr sz="1500">
                <a:solidFill>
                  <a:srgbClr val="212938"/>
                </a:solidFill>
                <a:latin typeface="Calibri"/>
              </a:rPr>
              <a:t>▪  Fail closed — a global error handler returns a generic message instead of leaking stack traces to clients.</a:t>
            </a:r>
          </a:p>
          <a:p>
            <a:pPr>
              <a:lnSpc>
                <a:spcPct val="110000"/>
              </a:lnSpc>
              <a:spcAft>
                <a:spcPts val="1100"/>
              </a:spcAft>
            </a:pPr>
            <a:r>
              <a:rPr sz="1500">
                <a:solidFill>
                  <a:srgbClr val="212938"/>
                </a:solidFill>
                <a:latin typeface="Calibri"/>
              </a:rPr>
              <a:t>▪  Data integrity — foreign keys with explicit ON DELETE rules; a schema_migrations ledger tracks what ran.</a:t>
            </a:r>
          </a:p>
          <a:p>
            <a:pPr>
              <a:lnSpc>
                <a:spcPct val="110000"/>
              </a:lnSpc>
              <a:spcAft>
                <a:spcPts val="1100"/>
              </a:spcAft>
            </a:pPr>
            <a:r>
              <a:rPr sz="1500">
                <a:solidFill>
                  <a:srgbClr val="212938"/>
                </a:solidFill>
                <a:latin typeface="Calibri"/>
              </a:rPr>
              <a:t>▪  Excel import/export — size-capped uploads, mobile-number normalisation, garbled-CSV detection.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B41E2E"/>
                </a:solidFill>
                <a:latin typeface="Calibri"/>
              </a:rPr>
              <a:t>9. Application Screens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Key screens in the admin console.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Blood Donation Camp System  |  Vue 3 + Node.js + MySQL  | 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00200"/>
            <a:ext cx="333756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3337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9CA3AF"/>
                </a:solidFill>
                <a:latin typeface="Calibri"/>
              </a:rPr>
              <a:t>SCREENSHOT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17520"/>
            <a:ext cx="3337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B41E2E"/>
                </a:solidFill>
                <a:latin typeface="Calibri"/>
              </a:rPr>
              <a:t>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600200"/>
            <a:ext cx="333756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2286000"/>
            <a:ext cx="3337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9CA3AF"/>
                </a:solidFill>
                <a:latin typeface="Calibri"/>
              </a:rPr>
              <a:t>SCREENSHOT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3017520"/>
            <a:ext cx="3337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B41E2E"/>
                </a:solidFill>
                <a:latin typeface="Calibri"/>
              </a:rPr>
              <a:t>Donor Management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00200"/>
            <a:ext cx="333756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2286000"/>
            <a:ext cx="3337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9CA3AF"/>
                </a:solidFill>
                <a:latin typeface="Calibri"/>
              </a:rPr>
              <a:t>SCREENSHOT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3017520"/>
            <a:ext cx="3337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B41E2E"/>
                </a:solidFill>
                <a:latin typeface="Calibri"/>
              </a:rPr>
              <a:t>Camp Register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977639"/>
            <a:ext cx="333756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663439"/>
            <a:ext cx="3337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9CA3AF"/>
                </a:solidFill>
                <a:latin typeface="Calibri"/>
              </a:rPr>
              <a:t>SCREENSHOT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394959"/>
            <a:ext cx="3337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B41E2E"/>
                </a:solidFill>
                <a:latin typeface="Calibri"/>
              </a:rPr>
              <a:t>Budget &amp; Donations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3977639"/>
            <a:ext cx="333756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4663439"/>
            <a:ext cx="3337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9CA3AF"/>
                </a:solidFill>
                <a:latin typeface="Calibri"/>
              </a:rPr>
              <a:t>SCREENSHOT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5394959"/>
            <a:ext cx="3337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B41E2E"/>
                </a:solidFill>
                <a:latin typeface="Calibri"/>
              </a:rPr>
              <a:t>Messaging &amp; Templates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3977639"/>
            <a:ext cx="333756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0" y="4663439"/>
            <a:ext cx="3337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9CA3AF"/>
                </a:solidFill>
                <a:latin typeface="Calibri"/>
              </a:rPr>
              <a:t>SCREENSHOT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5394959"/>
            <a:ext cx="3337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B41E2E"/>
                </a:solidFill>
                <a:latin typeface="Calibri"/>
              </a:rPr>
              <a:t>Reports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B41E2E"/>
                </a:solidFill>
                <a:latin typeface="Calibri"/>
              </a:rPr>
              <a:t>10. Testing &amp;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How the fixed system was verified before this presentation.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Blood Donation Camp System  |  Vue 3 + Node.js + MySQL  | 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332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500">
                <a:solidFill>
                  <a:srgbClr val="212938"/>
                </a:solidFill>
                <a:latin typeface="Calibri"/>
              </a:rPr>
              <a:t>▪  Full source audit across the Vue 3 frontend, Express API and MySQL schema — request/response contracts, SQL correctness and router paths checked file by file.</a:t>
            </a:r>
          </a:p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500">
                <a:solidFill>
                  <a:srgbClr val="212938"/>
                </a:solidFill>
                <a:latin typeface="Calibri"/>
              </a:rPr>
              <a:t>▪  Built and started the whole stack with Podman Compose: database, backend and frontend containers, all reporting healthy.</a:t>
            </a:r>
          </a:p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500">
                <a:solidFill>
                  <a:srgbClr val="212938"/>
                </a:solidFill>
                <a:latin typeface="Calibri"/>
              </a:rPr>
              <a:t>▪  Live endpoint checks after fixes: login and session flow, donor CRUD and search, camp finance summary and category totals, camp-register lookup, and Excel report export.</a:t>
            </a:r>
          </a:p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500">
                <a:solidFill>
                  <a:srgbClr val="212938"/>
                </a:solidFill>
                <a:latin typeface="Calibri"/>
              </a:rPr>
              <a:t>▪  Data-integrity check: fresh-install seed data (donors, camps, templates, message logs) loads without foreign-key errors.</a:t>
            </a:r>
          </a:p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500">
                <a:solidFill>
                  <a:srgbClr val="212938"/>
                </a:solidFill>
                <a:latin typeface="Calibri"/>
              </a:rPr>
              <a:t>▪  Regression check: values written through the fixed endpoints (e.g. new contribution categories) were re-read back correctly, then the test rows were removed — the database ships clean.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B41E2E"/>
                </a:solidFill>
                <a:latin typeface="Calibri"/>
              </a:rPr>
              <a:t>11.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From a laptop to a container host in one command.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Blood Donation Camp System  |  Vue 3 + Node.js + MySQL  | 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6035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450">
                <a:solidFill>
                  <a:srgbClr val="212938"/>
                </a:solidFill>
                <a:latin typeface="Calibri"/>
              </a:rPr>
              <a:t>▪  podman compose up --build — builds and starts frontend, backend and database together.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450">
                <a:solidFill>
                  <a:srgbClr val="212938"/>
                </a:solidFill>
                <a:latin typeface="Calibri"/>
              </a:rPr>
              <a:t>▪  OCI-compliant images: identical behaviour under Podman and Docker.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450">
                <a:solidFill>
                  <a:srgbClr val="212938"/>
                </a:solidFill>
                <a:latin typeface="Calibri"/>
              </a:rPr>
              <a:t>▪  MariaDB seeds itself from /database on first boot; a health check gates the backend start.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450">
                <a:solidFill>
                  <a:srgbClr val="212938"/>
                </a:solidFill>
                <a:latin typeface="Calibri"/>
              </a:rPr>
              <a:t>▪  Nginx serves the built SPA and reverse-proxies /api to the Node backend inside the same network.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450">
                <a:solidFill>
                  <a:srgbClr val="212938"/>
                </a:solidFill>
                <a:latin typeface="Calibri"/>
              </a:rPr>
              <a:t>▪  A production Compose overlay swaps in a leaner backend build stage and disables debug output.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450">
                <a:solidFill>
                  <a:srgbClr val="212938"/>
                </a:solidFill>
                <a:latin typeface="Calibri"/>
              </a:rPr>
              <a:t>▪  Deployable to Railway.app as three services (frontend, backend, MySQL plugin) via the same Dockerfiles.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78040" y="1600200"/>
            <a:ext cx="4206240" cy="3931920"/>
          </a:xfrm>
          <a:prstGeom prst="roundRect">
            <a:avLst>
              <a:gd name="adj" fmla="val 4000"/>
            </a:avLst>
          </a:prstGeom>
          <a:solidFill>
            <a:srgbClr val="2129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0" y="1874519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5E7EB"/>
                </a:solidFill>
                <a:latin typeface="Calibri"/>
              </a:rPr>
              <a:t>docker-compose.yml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0" y="2331720"/>
            <a:ext cx="361188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9EE6A8"/>
                </a:solidFill>
                <a:latin typeface="Consolas"/>
              </a:rPr>
              <a:t>services: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9EE6A8"/>
                </a:solidFill>
                <a:latin typeface="Consolas"/>
              </a:rPr>
              <a:t>  db        (MariaDB 10.11)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9EE6A8"/>
                </a:solidFill>
                <a:latin typeface="Consolas"/>
              </a:rPr>
              <a:t>  backend   (Node 20 / Express)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9EE6A8"/>
                </a:solidFill>
                <a:latin typeface="Consolas"/>
              </a:rPr>
              <a:t>  frontend  (Nginx + Vue build)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9EE6A8"/>
                </a:solidFill>
                <a:latin typeface="Consolas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9EE6A8"/>
                </a:solidFill>
                <a:latin typeface="Consolas"/>
              </a:rPr>
              <a:t>ports: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9EE6A8"/>
                </a:solidFill>
                <a:latin typeface="Consolas"/>
              </a:rPr>
              <a:t>  3000  → frontend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9EE6A8"/>
                </a:solidFill>
                <a:latin typeface="Consolas"/>
              </a:rPr>
              <a:t>  8081  → backend API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9EE6A8"/>
                </a:solidFill>
                <a:latin typeface="Consolas"/>
              </a:rPr>
              <a:t>  3306  → database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B41E2E"/>
                </a:solidFill>
                <a:latin typeface="Calibri"/>
              </a:rPr>
              <a:t>12. Benefits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Impact today, and what's still ahead.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Blood Donation Camp System  |  Vue 3 + Node.js + MySQL  | 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>
                <a:solidFill>
                  <a:srgbClr val="212938"/>
                </a:solidFill>
                <a:latin typeface="Calibri"/>
              </a:rPr>
              <a:t>▪  One system replaces paper registers, spreadsheets and ad-hoc phone calls for running a camp.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>
                <a:solidFill>
                  <a:srgbClr val="212938"/>
                </a:solidFill>
                <a:latin typeface="Calibri"/>
              </a:rPr>
              <a:t>▪  Chunked, deduplicated messaging safely reaches hundreds of donors without double-sending.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>
                <a:solidFill>
                  <a:srgbClr val="212938"/>
                </a:solidFill>
                <a:latin typeface="Calibri"/>
              </a:rPr>
              <a:t>▪  Clear separation of cash vs. in-kind donations gives organisers an honest, auditable budget picture.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290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B41E2E"/>
                </a:solidFill>
                <a:latin typeface="Calibri"/>
              </a:rPr>
              <a:t>Outstanding / 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400">
                <a:solidFill>
                  <a:srgbClr val="212938"/>
                </a:solidFill>
                <a:latin typeface="Calibri"/>
              </a:rPr>
              <a:t>▪  Get the three WhatsApp templates (camp notice, emergency, general) approved in WhatsApp Manager.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400">
                <a:solidFill>
                  <a:srgbClr val="212938"/>
                </a:solidFill>
                <a:latin typeface="Calibri"/>
              </a:rPr>
              <a:t>▪  Register the organisation's own WhatsApp number and an 11-character approved SMS sender ID.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400">
                <a:solidFill>
                  <a:srgbClr val="212938"/>
                </a:solidFill>
                <a:latin typeface="Calibri"/>
              </a:rPr>
              <a:t>▪  Finish transcribing the remaining paper register pages (~19) into the donor database.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400">
                <a:solidFill>
                  <a:srgbClr val="212938"/>
                </a:solidFill>
                <a:latin typeface="Calibri"/>
              </a:rPr>
              <a:t>▪  Admin dashboard widgets for donor-retention trends and per-camp turnout over time.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86000"/>
            <a:ext cx="121916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B41E2E"/>
                </a:solidFill>
                <a:latin typeface="Calibri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154680"/>
            <a:ext cx="121916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212938"/>
                </a:solidFill>
                <a:latin typeface="Calibri"/>
              </a:rPr>
              <a:t>Questions &amp;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251960"/>
            <a:ext cx="121916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0" i="0">
                <a:solidFill>
                  <a:srgbClr val="6B7280"/>
                </a:solidFill>
                <a:latin typeface="Calibri"/>
              </a:rPr>
              <a:t>Blood Donation Camp System</a:t>
            </a:r>
          </a:p>
          <a:p>
            <a:pPr algn="ctr">
              <a:lnSpc>
                <a:spcPct val="130000"/>
              </a:lnSpc>
            </a:pPr>
            <a:r>
              <a:rPr sz="1500" b="0" i="0">
                <a:solidFill>
                  <a:srgbClr val="6B7280"/>
                </a:solidFill>
                <a:latin typeface="Calibri"/>
              </a:rPr>
              <a:t>Vue 3  •  Node.js / Express  •  MySQL  •  Docker / Podman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34924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1">
                <a:solidFill>
                  <a:srgbClr val="B41E2E"/>
                </a:solidFill>
                <a:latin typeface="Calibri"/>
              </a:rPr>
              <a:t>“A small contribution can save a life.”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