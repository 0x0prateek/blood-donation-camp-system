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8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1695" cy="6858000" type="screen4x3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tableStyles" Target="tableStyles.xml"/><Relationship Id="rId21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BDF883A-B640-83F1-3130-8A6C250B348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E014D6-FD41-F37D-6701-9FA474D730A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23B7B6-77AD-E680-6A62-D10E3BC193F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3D7ACF-B8CF-30FA-7D11-5ECADD23DF5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1A6C32C-DA72-C3D8-66AD-B9286F5F48D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858B6E-7B79-D92F-79B4-4305FEE480E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112B19-9514-FD47-4E97-AD307D5AB84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76BD86-8208-4CB3-68DC-0C1F43DA188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1972D63-8647-7FF9-15EB-24D170BF95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B5088D6-B3BB-758E-2801-D78C72E89F7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9439A2-0401-B198-BF02-F4B36083B1D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564C5D-5BF6-1FE4-1B3D-A38DF04886B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E31ABE-29F9-189E-BCEC-2BF023D1688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5C4F2D-006B-6C43-1107-5C32D396642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8527070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15992663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68860214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9909585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3162295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34435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6722658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9411824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49673888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707352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8288163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6702365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8450957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52775374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9537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08923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6869080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1212700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5310918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4728293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7435269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550161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0709945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8794877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0548722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6771784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7850765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03454930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5852682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51092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01735756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866471429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17483007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459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22610897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87108408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131017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05562158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9101660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1817839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65545176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6409582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786480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64263997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12165766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0709237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8996458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2347577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688681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5348563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569680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98545580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296027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923661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2476312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732760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80608185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4974165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437973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4487001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7303207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507694767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8112340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media1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691890" name="Rectangle 1"/>
          <p:cNvSpPr/>
          <p:nvPr/>
        </p:nvSpPr>
        <p:spPr bwMode="auto">
          <a:xfrm>
            <a:off x="0" y="0"/>
            <a:ext cx="4206240" cy="6858000"/>
          </a:xfrm>
          <a:prstGeom prst="rect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5728246" name="TextBox 2"/>
          <p:cNvSpPr txBox="1"/>
          <p:nvPr/>
        </p:nvSpPr>
        <p:spPr bwMode="auto">
          <a:xfrm>
            <a:off x="502920" y="2331720"/>
            <a:ext cx="3386880" cy="2176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3400" b="1" i="0">
                <a:solidFill>
                  <a:srgbClr val="FFFFFF"/>
                </a:solidFill>
                <a:latin typeface="Calibri"/>
              </a:rPr>
              <a:t>DotLife</a:t>
            </a:r>
            <a:endParaRPr/>
          </a:p>
          <a:p>
            <a:pPr algn="l">
              <a:lnSpc>
                <a:spcPct val="105000"/>
              </a:lnSpc>
              <a:defRPr/>
            </a:pPr>
            <a:r>
              <a:rPr sz="3400" b="1" i="0">
                <a:solidFill>
                  <a:srgbClr val="FFFFFF"/>
                </a:solidFill>
                <a:latin typeface="Calibri"/>
              </a:rPr>
              <a:t>BLOOD</a:t>
            </a:r>
            <a:endParaRPr sz="3400" b="1" i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05000"/>
              </a:lnSpc>
              <a:defRPr/>
            </a:pPr>
            <a:r>
              <a:rPr sz="3400" b="1" i="0">
                <a:solidFill>
                  <a:srgbClr val="FFFFFF"/>
                </a:solidFill>
                <a:latin typeface="Calibri"/>
              </a:rPr>
              <a:t>DONATION</a:t>
            </a:r>
            <a:endParaRPr/>
          </a:p>
          <a:p>
            <a:pPr algn="l">
              <a:lnSpc>
                <a:spcPct val="105000"/>
              </a:lnSpc>
              <a:defRPr/>
            </a:pPr>
            <a:r>
              <a:rPr sz="3400" b="1" i="0">
                <a:solidFill>
                  <a:srgbClr val="FFFFFF"/>
                </a:solidFill>
                <a:latin typeface="Calibri"/>
              </a:rPr>
              <a:t>CAMP SYSTEM</a:t>
            </a:r>
            <a:endParaRPr/>
          </a:p>
        </p:txBody>
      </p:sp>
      <p:sp>
        <p:nvSpPr>
          <p:cNvPr id="1546599979" name="TextBox 3"/>
          <p:cNvSpPr txBox="1"/>
          <p:nvPr/>
        </p:nvSpPr>
        <p:spPr bwMode="auto">
          <a:xfrm>
            <a:off x="457200" y="4508352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F3D2D6"/>
                </a:solidFill>
                <a:latin typeface="Calibri"/>
              </a:rPr>
              <a:t>Full-Stack Web Platform</a:t>
            </a:r>
            <a:endParaRPr/>
          </a:p>
        </p:txBody>
      </p:sp>
      <p:sp>
        <p:nvSpPr>
          <p:cNvPr id="1022608161" name="TextBox 4"/>
          <p:cNvSpPr txBox="1"/>
          <p:nvPr/>
        </p:nvSpPr>
        <p:spPr bwMode="auto">
          <a:xfrm>
            <a:off x="4617720" y="1965960"/>
            <a:ext cx="6949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800" b="1" i="0">
                <a:solidFill>
                  <a:srgbClr val="B41E2E"/>
                </a:solidFill>
                <a:latin typeface="Calibri"/>
              </a:rPr>
              <a:t>Vue 3  •  Node.js / Express  •  MySQL  •  </a:t>
            </a:r>
            <a:endParaRPr/>
          </a:p>
        </p:txBody>
      </p:sp>
      <p:sp>
        <p:nvSpPr>
          <p:cNvPr id="923934031" name="TextBox 5"/>
          <p:cNvSpPr txBox="1"/>
          <p:nvPr/>
        </p:nvSpPr>
        <p:spPr bwMode="auto">
          <a:xfrm>
            <a:off x="4617720" y="2514599"/>
            <a:ext cx="6858720" cy="45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212938"/>
                </a:solidFill>
                <a:latin typeface="Calibri"/>
              </a:rPr>
              <a:t>A production-style system for managing blood donors, donation camps, camp finances and multi-channel (WhatsApp/SMS) donor communication</a:t>
            </a:r>
            <a:endParaRPr/>
          </a:p>
        </p:txBody>
      </p:sp>
      <p:sp>
        <p:nvSpPr>
          <p:cNvPr id="1531429106" name="TextBox 6"/>
          <p:cNvSpPr txBox="1"/>
          <p:nvPr/>
        </p:nvSpPr>
        <p:spPr bwMode="auto">
          <a:xfrm>
            <a:off x="4617720" y="5074920"/>
            <a:ext cx="6875639" cy="4956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defRPr/>
            </a:pPr>
            <a:r>
              <a:rPr sz="1250" b="0" i="0">
                <a:solidFill>
                  <a:srgbClr val="6B7280"/>
                </a:solidFill>
                <a:latin typeface="Calibri"/>
              </a:rPr>
              <a:t>Presented by: Shivani P. Vaghela</a:t>
            </a:r>
            <a:endParaRPr/>
          </a:p>
          <a:p>
            <a:pPr algn="l">
              <a:lnSpc>
                <a:spcPct val="130000"/>
              </a:lnSpc>
              <a:defRPr/>
            </a:pPr>
            <a:r>
              <a:rPr sz="1250" b="0" i="0">
                <a:solidFill>
                  <a:srgbClr val="6B7280"/>
                </a:solidFill>
                <a:latin typeface="Calibri"/>
              </a:rPr>
              <a:t>Stack: Vue 3 SPA · Node/Express API · MariaDB </a:t>
            </a:r>
            <a:endParaRPr/>
          </a:p>
        </p:txBody>
      </p:sp>
      <p:pic>
        <p:nvPicPr>
          <p:cNvPr id="2112976049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02920" y="870809"/>
            <a:ext cx="1379471" cy="13794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79181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1. Project Overview</a:t>
            </a:r>
            <a:endParaRPr/>
          </a:p>
        </p:txBody>
      </p:sp>
      <p:sp>
        <p:nvSpPr>
          <p:cNvPr id="679806233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A digital platform to organise blood donation camps end-to-end.</a:t>
            </a:r>
            <a:endParaRPr/>
          </a:p>
        </p:txBody>
      </p:sp>
      <p:sp>
        <p:nvSpPr>
          <p:cNvPr id="1018459780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1549433485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2</a:t>
            </a:r>
            <a:endParaRPr/>
          </a:p>
        </p:txBody>
      </p:sp>
      <p:sp>
        <p:nvSpPr>
          <p:cNvPr id="1690669087" name="TextBox 5"/>
          <p:cNvSpPr txBox="1"/>
          <p:nvPr/>
        </p:nvSpPr>
        <p:spPr bwMode="auto">
          <a:xfrm>
            <a:off x="822960" y="155448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Manages the full lifecycle of a blood donation drive: donors, camps, on-site registration, finances and outreach.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A Vue 3 single-page app talks to a Node.js/Express REST API, backed by a MySQL/MariaDB relational database.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Donor and camp records are normalised, indexed and searchable — built to hold 800+ real donor records.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Multi-channel outreach: bulk WhatsApp (Meta Cloud API) and SMS (Notify.lk / Twilio), in English and Sinhala.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Every write path (auth, CRUD, messaging, imports/exports) is authenticated and input-validated end to end.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Ships fully modern — one command brings up the SPA, API and database together.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8723505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2. Problem Statement</a:t>
            </a:r>
            <a:endParaRPr/>
          </a:p>
        </p:txBody>
      </p:sp>
      <p:sp>
        <p:nvSpPr>
          <p:cNvPr id="1177944485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What organising a blood camp on paper and spreadsheets looks like.</a:t>
            </a:r>
            <a:endParaRPr/>
          </a:p>
        </p:txBody>
      </p:sp>
      <p:sp>
        <p:nvSpPr>
          <p:cNvPr id="870228741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1733158911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3</a:t>
            </a:r>
            <a:endParaRPr/>
          </a:p>
        </p:txBody>
      </p:sp>
      <p:sp>
        <p:nvSpPr>
          <p:cNvPr id="225297964" name="TextBox 5"/>
          <p:cNvSpPr txBox="1"/>
          <p:nvPr/>
        </p:nvSpPr>
        <p:spPr bwMode="auto">
          <a:xfrm>
            <a:off x="822960" y="155448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Donor registers are kept as paper books or scattered spreadsheets, organised by village or camp.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Finding donors of a specific blood group who are due to donate again takes manual cross-checking.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Announcing a camp means calling or messaging donors one by one — slow and easy to under- or over-send.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Camp income (cash and in-kind donations) and expenses are tracked informally, if at all.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No shared, auditable record of who attended a camp, who actually donated, and who was contacted when.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Emergency blood requests have no fast way to reach the right blood group at scale.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18797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3. Objectives</a:t>
            </a:r>
            <a:endParaRPr/>
          </a:p>
        </p:txBody>
      </p:sp>
      <p:sp>
        <p:nvSpPr>
          <p:cNvPr id="344628437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What the system sets out to achieve.</a:t>
            </a:r>
            <a:endParaRPr/>
          </a:p>
        </p:txBody>
      </p:sp>
      <p:sp>
        <p:nvSpPr>
          <p:cNvPr id="1472804122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2036874404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4</a:t>
            </a:r>
            <a:endParaRPr/>
          </a:p>
        </p:txBody>
      </p:sp>
      <p:sp>
        <p:nvSpPr>
          <p:cNvPr id="1406749565" name="TextBox 5"/>
          <p:cNvSpPr txBox="1"/>
          <p:nvPr/>
        </p:nvSpPr>
        <p:spPr bwMode="auto">
          <a:xfrm>
            <a:off x="822960" y="155448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Give organisers one system for donors, camps, on-site registration, budgets and messaging.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Digitise the paper camp register while preserving its logic: T.P. (mobile) number as the unique identifier.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Make blood-group and eligibility (4-month) filtering instant instead of manual.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Support bulk, chunked WhatsApp/SMS campaigns that survive timeouts and never double-send.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Track camp finances — cash donations, in-kind goods and expenses — without mixing the two.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Package the whole stack so it can be built and run identically anywhere with one Docker/Podman command.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5068083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4. Technology Stack</a:t>
            </a:r>
            <a:endParaRPr/>
          </a:p>
        </p:txBody>
      </p:sp>
      <p:sp>
        <p:nvSpPr>
          <p:cNvPr id="1247528034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The concrete stack behind the platform.</a:t>
            </a:r>
            <a:endParaRPr/>
          </a:p>
        </p:txBody>
      </p:sp>
      <p:sp>
        <p:nvSpPr>
          <p:cNvPr id="1118694549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1648474633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5</a:t>
            </a:r>
            <a:endParaRPr/>
          </a:p>
        </p:txBody>
      </p:sp>
      <p:sp>
        <p:nvSpPr>
          <p:cNvPr id="1670198622" name="Rounded Rectangle 5"/>
          <p:cNvSpPr/>
          <p:nvPr/>
        </p:nvSpPr>
        <p:spPr bwMode="auto">
          <a:xfrm>
            <a:off x="822960" y="1600200"/>
            <a:ext cx="50749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08140952" name="TextBox 6"/>
          <p:cNvSpPr txBox="1"/>
          <p:nvPr/>
        </p:nvSpPr>
        <p:spPr bwMode="auto">
          <a:xfrm>
            <a:off x="1143000" y="1856232"/>
            <a:ext cx="4434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2000" b="1" i="0">
                <a:solidFill>
                  <a:srgbClr val="B41E2E"/>
                </a:solidFill>
                <a:latin typeface="Calibri"/>
              </a:rPr>
              <a:t>Frontend</a:t>
            </a:r>
            <a:endParaRPr/>
          </a:p>
        </p:txBody>
      </p:sp>
      <p:sp>
        <p:nvSpPr>
          <p:cNvPr id="1942162719" name="TextBox 7"/>
          <p:cNvSpPr txBox="1"/>
          <p:nvPr/>
        </p:nvSpPr>
        <p:spPr bwMode="auto">
          <a:xfrm>
            <a:off x="1143000" y="2423160"/>
            <a:ext cx="4434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defRPr/>
            </a:pPr>
            <a:r>
              <a:rPr sz="1350" b="0" i="0">
                <a:solidFill>
                  <a:srgbClr val="212938"/>
                </a:solidFill>
                <a:latin typeface="Calibri"/>
              </a:rPr>
              <a:t>Vue 3 (Composition API) · Vite · Vue Router 4 · Pinia · Bootstrap 5 · Chart.js · Axios</a:t>
            </a:r>
            <a:endParaRPr/>
          </a:p>
        </p:txBody>
      </p:sp>
      <p:sp>
        <p:nvSpPr>
          <p:cNvPr id="1991645523" name="Rounded Rectangle 8"/>
          <p:cNvSpPr/>
          <p:nvPr/>
        </p:nvSpPr>
        <p:spPr bwMode="auto">
          <a:xfrm>
            <a:off x="6263640" y="1600200"/>
            <a:ext cx="50749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95419944" name="TextBox 9"/>
          <p:cNvSpPr txBox="1"/>
          <p:nvPr/>
        </p:nvSpPr>
        <p:spPr bwMode="auto">
          <a:xfrm>
            <a:off x="6583680" y="1856232"/>
            <a:ext cx="4434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2000" b="1" i="0">
                <a:solidFill>
                  <a:srgbClr val="B41E2E"/>
                </a:solidFill>
                <a:latin typeface="Calibri"/>
              </a:rPr>
              <a:t>Backend API</a:t>
            </a:r>
            <a:endParaRPr/>
          </a:p>
        </p:txBody>
      </p:sp>
      <p:sp>
        <p:nvSpPr>
          <p:cNvPr id="1873276016" name="TextBox 10"/>
          <p:cNvSpPr txBox="1"/>
          <p:nvPr/>
        </p:nvSpPr>
        <p:spPr bwMode="auto">
          <a:xfrm>
            <a:off x="6583680" y="2423160"/>
            <a:ext cx="4434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defRPr/>
            </a:pPr>
            <a:r>
              <a:rPr sz="1350" b="0" i="0">
                <a:solidFill>
                  <a:srgbClr val="212938"/>
                </a:solidFill>
                <a:latin typeface="Calibri"/>
              </a:rPr>
              <a:t>Node.js 20 · Express · JWT (httpOnly cookies) · bcrypt · mysql2/promise · ExcelJS</a:t>
            </a:r>
            <a:endParaRPr/>
          </a:p>
        </p:txBody>
      </p:sp>
      <p:sp>
        <p:nvSpPr>
          <p:cNvPr id="1301628288" name="Rounded Rectangle 11"/>
          <p:cNvSpPr/>
          <p:nvPr/>
        </p:nvSpPr>
        <p:spPr bwMode="auto">
          <a:xfrm>
            <a:off x="822960" y="3794760"/>
            <a:ext cx="50749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14597158" name="TextBox 12"/>
          <p:cNvSpPr txBox="1"/>
          <p:nvPr/>
        </p:nvSpPr>
        <p:spPr bwMode="auto">
          <a:xfrm>
            <a:off x="1143000" y="4050792"/>
            <a:ext cx="4434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2000" b="1" i="0">
                <a:solidFill>
                  <a:srgbClr val="B41E2E"/>
                </a:solidFill>
                <a:latin typeface="Calibri"/>
              </a:rPr>
              <a:t>Database</a:t>
            </a:r>
            <a:endParaRPr/>
          </a:p>
        </p:txBody>
      </p:sp>
      <p:sp>
        <p:nvSpPr>
          <p:cNvPr id="942678034" name="TextBox 13"/>
          <p:cNvSpPr txBox="1"/>
          <p:nvPr/>
        </p:nvSpPr>
        <p:spPr bwMode="auto">
          <a:xfrm>
            <a:off x="1143000" y="4617720"/>
            <a:ext cx="4434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defRPr/>
            </a:pPr>
            <a:r>
              <a:rPr sz="1350" b="0" i="0">
                <a:solidFill>
                  <a:srgbClr val="212938"/>
                </a:solidFill>
                <a:latin typeface="Calibri"/>
              </a:rPr>
              <a:t>MySQL / MariaDB 10.11 · 12 tables · foreign keys · indexes · migration ledger</a:t>
            </a:r>
            <a:endParaRPr/>
          </a:p>
        </p:txBody>
      </p:sp>
      <p:sp>
        <p:nvSpPr>
          <p:cNvPr id="1412583388" name="Rounded Rectangle 14"/>
          <p:cNvSpPr/>
          <p:nvPr/>
        </p:nvSpPr>
        <p:spPr bwMode="auto">
          <a:xfrm>
            <a:off x="6263640" y="3794760"/>
            <a:ext cx="50749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72892702" name="TextBox 15"/>
          <p:cNvSpPr txBox="1"/>
          <p:nvPr/>
        </p:nvSpPr>
        <p:spPr bwMode="auto">
          <a:xfrm>
            <a:off x="6583680" y="4050792"/>
            <a:ext cx="4434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2000" b="1" i="0">
                <a:solidFill>
                  <a:srgbClr val="B41E2E"/>
                </a:solidFill>
                <a:latin typeface="Calibri"/>
              </a:rPr>
              <a:t>Infrastructure</a:t>
            </a:r>
            <a:endParaRPr/>
          </a:p>
        </p:txBody>
      </p:sp>
      <p:sp>
        <p:nvSpPr>
          <p:cNvPr id="1805888342" name="TextBox 16"/>
          <p:cNvSpPr txBox="1"/>
          <p:nvPr/>
        </p:nvSpPr>
        <p:spPr bwMode="auto">
          <a:xfrm>
            <a:off x="6583680" y="4617720"/>
            <a:ext cx="4434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defRPr/>
            </a:pPr>
            <a:r>
              <a:rPr sz="1350" b="0" i="0">
                <a:solidFill>
                  <a:srgbClr val="212938"/>
                </a:solidFill>
                <a:latin typeface="Calibri"/>
              </a:rPr>
              <a:t>Standard Web Hosting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7151888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5. Main Features</a:t>
            </a:r>
            <a:endParaRPr/>
          </a:p>
        </p:txBody>
      </p:sp>
      <p:sp>
        <p:nvSpPr>
          <p:cNvPr id="77303805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Core modules available to an administrator.</a:t>
            </a:r>
            <a:endParaRPr/>
          </a:p>
        </p:txBody>
      </p:sp>
      <p:sp>
        <p:nvSpPr>
          <p:cNvPr id="1318818679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150130231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6</a:t>
            </a:r>
            <a:endParaRPr/>
          </a:p>
        </p:txBody>
      </p:sp>
      <p:sp>
        <p:nvSpPr>
          <p:cNvPr id="873397771" name="TextBox 5"/>
          <p:cNvSpPr txBox="1"/>
          <p:nvPr/>
        </p:nvSpPr>
        <p:spPr bwMode="auto">
          <a:xfrm>
            <a:off x="822960" y="15544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Donor Management — CRUD, Excel import/export, blood-group and eligibility filtering, duplicate detection.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Blood Camps — schedule camps, track status (Upcoming / Completed / Cancelled), planned budget per camp.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Camp Register — digital attendance book by T.P. number: known donor, walk-in, or already-registered.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Budget &amp; Donations — cash and in-kind contributions tracked separately from spend, with a live balance.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Staff — organising-committee directory, reachable through the same messaging pipeline as donors.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Messaging — bulk WhatsApp (approved templates) and SMS, chunked sending, campaign de-duplication.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Templates — reusable message bodies with Meta template mapping, English and Sinhala.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Emergency Alerts — one-click blood-group targeted request to every matching active donor.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Reports — date-filtered analytics with Excel export; Settings — app, messaging and account configuration.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74216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6. System Architecture</a:t>
            </a:r>
            <a:endParaRPr/>
          </a:p>
        </p:txBody>
      </p:sp>
      <p:sp>
        <p:nvSpPr>
          <p:cNvPr id="1070906477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How a request travels through the stack.</a:t>
            </a:r>
            <a:endParaRPr/>
          </a:p>
        </p:txBody>
      </p:sp>
      <p:sp>
        <p:nvSpPr>
          <p:cNvPr id="409777487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1891943562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7</a:t>
            </a:r>
            <a:endParaRPr/>
          </a:p>
        </p:txBody>
      </p:sp>
      <p:sp>
        <p:nvSpPr>
          <p:cNvPr id="1360107663" name="Oval 5"/>
          <p:cNvSpPr/>
          <p:nvPr/>
        </p:nvSpPr>
        <p:spPr bwMode="auto">
          <a:xfrm>
            <a:off x="777240" y="2148840"/>
            <a:ext cx="1051560" cy="1051560"/>
          </a:xfrm>
          <a:prstGeom prst="ellipse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/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  <a:endParaRPr/>
          </a:p>
        </p:txBody>
      </p:sp>
      <p:sp>
        <p:nvSpPr>
          <p:cNvPr id="1158473135" name="TextBox 6"/>
          <p:cNvSpPr txBox="1"/>
          <p:nvPr/>
        </p:nvSpPr>
        <p:spPr bwMode="auto">
          <a:xfrm>
            <a:off x="274320" y="333756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Browser</a:t>
            </a:r>
            <a:endParaRPr/>
          </a:p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(Vue 3 SPA)</a:t>
            </a:r>
            <a:endParaRPr/>
          </a:p>
        </p:txBody>
      </p:sp>
      <p:sp>
        <p:nvSpPr>
          <p:cNvPr id="679539598" name="Right Arrow 7"/>
          <p:cNvSpPr/>
          <p:nvPr/>
        </p:nvSpPr>
        <p:spPr bwMode="auto">
          <a:xfrm>
            <a:off x="1828800" y="2619756"/>
            <a:ext cx="1337310" cy="10972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65053436" name="Oval 8"/>
          <p:cNvSpPr/>
          <p:nvPr/>
        </p:nvSpPr>
        <p:spPr bwMode="auto">
          <a:xfrm>
            <a:off x="3166110" y="2148840"/>
            <a:ext cx="1051560" cy="1051560"/>
          </a:xfrm>
          <a:prstGeom prst="ellipse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/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  <a:endParaRPr/>
          </a:p>
        </p:txBody>
      </p:sp>
      <p:sp>
        <p:nvSpPr>
          <p:cNvPr id="979514543" name="TextBox 9"/>
          <p:cNvSpPr txBox="1"/>
          <p:nvPr/>
        </p:nvSpPr>
        <p:spPr bwMode="auto">
          <a:xfrm>
            <a:off x="2663190" y="333756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Web Server</a:t>
            </a:r>
            <a:endParaRPr/>
          </a:p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(static + proxy)</a:t>
            </a:r>
            <a:endParaRPr/>
          </a:p>
        </p:txBody>
      </p:sp>
      <p:sp>
        <p:nvSpPr>
          <p:cNvPr id="898973861" name="Right Arrow 10"/>
          <p:cNvSpPr/>
          <p:nvPr/>
        </p:nvSpPr>
        <p:spPr bwMode="auto">
          <a:xfrm>
            <a:off x="4217670" y="2619756"/>
            <a:ext cx="1337310" cy="10972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3221679" name="Oval 11"/>
          <p:cNvSpPr/>
          <p:nvPr/>
        </p:nvSpPr>
        <p:spPr bwMode="auto">
          <a:xfrm>
            <a:off x="5554980" y="2148840"/>
            <a:ext cx="1051560" cy="1051560"/>
          </a:xfrm>
          <a:prstGeom prst="ellipse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/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  <a:endParaRPr/>
          </a:p>
        </p:txBody>
      </p:sp>
      <p:sp>
        <p:nvSpPr>
          <p:cNvPr id="2026600899" name="TextBox 12"/>
          <p:cNvSpPr txBox="1"/>
          <p:nvPr/>
        </p:nvSpPr>
        <p:spPr bwMode="auto">
          <a:xfrm>
            <a:off x="5052060" y="333756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Express</a:t>
            </a:r>
            <a:endParaRPr/>
          </a:p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REST API</a:t>
            </a:r>
            <a:endParaRPr/>
          </a:p>
        </p:txBody>
      </p:sp>
      <p:sp>
        <p:nvSpPr>
          <p:cNvPr id="42959554" name="Right Arrow 13"/>
          <p:cNvSpPr/>
          <p:nvPr/>
        </p:nvSpPr>
        <p:spPr bwMode="auto">
          <a:xfrm>
            <a:off x="6606539" y="2619756"/>
            <a:ext cx="1337310" cy="10972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31860040" name="Oval 14"/>
          <p:cNvSpPr/>
          <p:nvPr/>
        </p:nvSpPr>
        <p:spPr bwMode="auto">
          <a:xfrm>
            <a:off x="7943850" y="2148840"/>
            <a:ext cx="1051560" cy="1051560"/>
          </a:xfrm>
          <a:prstGeom prst="ellipse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/>
            </a:pPr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  <a:endParaRPr/>
          </a:p>
        </p:txBody>
      </p:sp>
      <p:sp>
        <p:nvSpPr>
          <p:cNvPr id="342611484" name="TextBox 15"/>
          <p:cNvSpPr txBox="1"/>
          <p:nvPr/>
        </p:nvSpPr>
        <p:spPr bwMode="auto">
          <a:xfrm>
            <a:off x="7440930" y="333756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MariaDB</a:t>
            </a:r>
            <a:endParaRPr/>
          </a:p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(data)</a:t>
            </a:r>
            <a:endParaRPr/>
          </a:p>
        </p:txBody>
      </p:sp>
      <p:sp>
        <p:nvSpPr>
          <p:cNvPr id="657121080" name="Right Arrow 16"/>
          <p:cNvSpPr/>
          <p:nvPr/>
        </p:nvSpPr>
        <p:spPr bwMode="auto">
          <a:xfrm>
            <a:off x="8995410" y="2619756"/>
            <a:ext cx="1337310" cy="10972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50182206" name="Oval 17"/>
          <p:cNvSpPr/>
          <p:nvPr/>
        </p:nvSpPr>
        <p:spPr bwMode="auto">
          <a:xfrm>
            <a:off x="10332720" y="2148840"/>
            <a:ext cx="1051560" cy="1051560"/>
          </a:xfrm>
          <a:prstGeom prst="ellipse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/>
            </a:pPr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  <a:endParaRPr/>
          </a:p>
        </p:txBody>
      </p:sp>
      <p:sp>
        <p:nvSpPr>
          <p:cNvPr id="1585453503" name="TextBox 18"/>
          <p:cNvSpPr txBox="1"/>
          <p:nvPr/>
        </p:nvSpPr>
        <p:spPr bwMode="auto">
          <a:xfrm>
            <a:off x="9829800" y="333756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WhatsApp / SMS</a:t>
            </a:r>
            <a:endParaRPr/>
          </a:p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(Meta, Notify.lk)</a:t>
            </a:r>
            <a:endParaRPr/>
          </a:p>
        </p:txBody>
      </p:sp>
      <p:sp>
        <p:nvSpPr>
          <p:cNvPr id="2010442695" name="TextBox 19"/>
          <p:cNvSpPr txBox="1"/>
          <p:nvPr/>
        </p:nvSpPr>
        <p:spPr bwMode="auto">
          <a:xfrm>
            <a:off x="822960" y="443484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B41E2E"/>
                </a:solidFill>
                <a:latin typeface="Calibri"/>
              </a:rPr>
              <a:t>Auth via JWT in an httpOnly cookie  •  All queries parameterised  •  CORS locked to the frontend origin</a:t>
            </a:r>
            <a:endParaRPr/>
          </a:p>
        </p:txBody>
      </p:sp>
      <p:sp>
        <p:nvSpPr>
          <p:cNvPr id="1983936062" name="TextBox 20"/>
          <p:cNvSpPr txBox="1"/>
          <p:nvPr/>
        </p:nvSpPr>
        <p:spPr bwMode="auto">
          <a:xfrm>
            <a:off x="822960" y="5029200"/>
            <a:ext cx="10332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defRPr/>
            </a:pPr>
            <a:r>
              <a:t>The frontend is built with Vue 3 and communicates with the Node.js backend API, which connects to the MySQL database.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0983885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7. Database Design</a:t>
            </a:r>
            <a:endParaRPr/>
          </a:p>
        </p:txBody>
      </p:sp>
      <p:sp>
        <p:nvSpPr>
          <p:cNvPr id="1351015587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Core MySQL/MariaDB tables (of 12 total).</a:t>
            </a:r>
            <a:endParaRPr/>
          </a:p>
        </p:txBody>
      </p:sp>
      <p:sp>
        <p:nvSpPr>
          <p:cNvPr id="1593673463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687537019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8</a:t>
            </a:r>
            <a:endParaRPr/>
          </a:p>
        </p:txBody>
      </p:sp>
      <p:sp>
        <p:nvSpPr>
          <p:cNvPr id="1421669245" name="Rectangle 5"/>
          <p:cNvSpPr/>
          <p:nvPr/>
        </p:nvSpPr>
        <p:spPr bwMode="auto">
          <a:xfrm>
            <a:off x="548640" y="1508759"/>
            <a:ext cx="2286000" cy="457200"/>
          </a:xfrm>
          <a:prstGeom prst="rect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6106069" name="TextBox 6"/>
          <p:cNvSpPr txBox="1"/>
          <p:nvPr/>
        </p:nvSpPr>
        <p:spPr bwMode="auto">
          <a:xfrm>
            <a:off x="685800" y="1508759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400" b="1" i="0">
                <a:solidFill>
                  <a:srgbClr val="FFFFFF"/>
                </a:solidFill>
                <a:latin typeface="Calibri"/>
              </a:rPr>
              <a:t>Table</a:t>
            </a:r>
            <a:endParaRPr/>
          </a:p>
        </p:txBody>
      </p:sp>
      <p:sp>
        <p:nvSpPr>
          <p:cNvPr id="1959387855" name="Rectangle 7"/>
          <p:cNvSpPr/>
          <p:nvPr/>
        </p:nvSpPr>
        <p:spPr bwMode="auto">
          <a:xfrm>
            <a:off x="2834640" y="1508759"/>
            <a:ext cx="4206240" cy="457200"/>
          </a:xfrm>
          <a:prstGeom prst="rect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01045361" name="TextBox 8"/>
          <p:cNvSpPr txBox="1"/>
          <p:nvPr/>
        </p:nvSpPr>
        <p:spPr bwMode="auto">
          <a:xfrm>
            <a:off x="2971800" y="1508759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400" b="1" i="0">
                <a:solidFill>
                  <a:srgbClr val="FFFFFF"/>
                </a:solidFill>
                <a:latin typeface="Calibri"/>
              </a:rPr>
              <a:t>Key Fields</a:t>
            </a:r>
            <a:endParaRPr/>
          </a:p>
        </p:txBody>
      </p:sp>
      <p:sp>
        <p:nvSpPr>
          <p:cNvPr id="39000758" name="Rectangle 9"/>
          <p:cNvSpPr/>
          <p:nvPr/>
        </p:nvSpPr>
        <p:spPr bwMode="auto">
          <a:xfrm>
            <a:off x="7040880" y="1508759"/>
            <a:ext cx="4572000" cy="457200"/>
          </a:xfrm>
          <a:prstGeom prst="rect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91597905" name="TextBox 10"/>
          <p:cNvSpPr txBox="1"/>
          <p:nvPr/>
        </p:nvSpPr>
        <p:spPr bwMode="auto">
          <a:xfrm>
            <a:off x="7178039" y="1508759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400" b="1" i="0">
                <a:solidFill>
                  <a:srgbClr val="FFFFFF"/>
                </a:solidFill>
                <a:latin typeface="Calibri"/>
              </a:rPr>
              <a:t>Purpose</a:t>
            </a:r>
            <a:endParaRPr/>
          </a:p>
        </p:txBody>
      </p:sp>
      <p:sp>
        <p:nvSpPr>
          <p:cNvPr id="1388657915" name="Rectangle 11"/>
          <p:cNvSpPr/>
          <p:nvPr/>
        </p:nvSpPr>
        <p:spPr bwMode="auto">
          <a:xfrm>
            <a:off x="548640" y="1965960"/>
            <a:ext cx="228600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0203603" name="TextBox 12"/>
          <p:cNvSpPr txBox="1"/>
          <p:nvPr/>
        </p:nvSpPr>
        <p:spPr bwMode="auto">
          <a:xfrm>
            <a:off x="685800" y="1965960"/>
            <a:ext cx="2011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1" i="0">
                <a:solidFill>
                  <a:srgbClr val="212938"/>
                </a:solidFill>
                <a:latin typeface="Calibri"/>
              </a:rPr>
              <a:t>donors</a:t>
            </a:r>
            <a:endParaRPr/>
          </a:p>
        </p:txBody>
      </p:sp>
      <p:sp>
        <p:nvSpPr>
          <p:cNvPr id="1638561092" name="Rectangle 13"/>
          <p:cNvSpPr/>
          <p:nvPr/>
        </p:nvSpPr>
        <p:spPr bwMode="auto">
          <a:xfrm>
            <a:off x="2834640" y="1965960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79500138" name="TextBox 14"/>
          <p:cNvSpPr txBox="1"/>
          <p:nvPr/>
        </p:nvSpPr>
        <p:spPr bwMode="auto">
          <a:xfrm>
            <a:off x="2971800" y="1965960"/>
            <a:ext cx="39319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id, donor_name, mobile (unique), blood_group, status, last_donation_date</a:t>
            </a:r>
            <a:endParaRPr/>
          </a:p>
        </p:txBody>
      </p:sp>
      <p:sp>
        <p:nvSpPr>
          <p:cNvPr id="7433371" name="Rectangle 15"/>
          <p:cNvSpPr/>
          <p:nvPr/>
        </p:nvSpPr>
        <p:spPr bwMode="auto">
          <a:xfrm>
            <a:off x="7040880" y="1965960"/>
            <a:ext cx="457200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96263871" name="TextBox 16"/>
          <p:cNvSpPr txBox="1"/>
          <p:nvPr/>
        </p:nvSpPr>
        <p:spPr bwMode="auto">
          <a:xfrm>
            <a:off x="7178039" y="1965960"/>
            <a:ext cx="4297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The donor roll — mobile is the durable identity</a:t>
            </a:r>
            <a:endParaRPr/>
          </a:p>
        </p:txBody>
      </p:sp>
      <p:sp>
        <p:nvSpPr>
          <p:cNvPr id="469096265" name="Rectangle 17"/>
          <p:cNvSpPr/>
          <p:nvPr/>
        </p:nvSpPr>
        <p:spPr bwMode="auto">
          <a:xfrm>
            <a:off x="548640" y="2715768"/>
            <a:ext cx="228600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24737243" name="TextBox 18"/>
          <p:cNvSpPr txBox="1"/>
          <p:nvPr/>
        </p:nvSpPr>
        <p:spPr bwMode="auto">
          <a:xfrm>
            <a:off x="685800" y="2715768"/>
            <a:ext cx="2011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1" i="0">
                <a:solidFill>
                  <a:srgbClr val="212938"/>
                </a:solidFill>
                <a:latin typeface="Calibri"/>
              </a:rPr>
              <a:t>blood_camps</a:t>
            </a:r>
            <a:endParaRPr/>
          </a:p>
        </p:txBody>
      </p:sp>
      <p:sp>
        <p:nvSpPr>
          <p:cNvPr id="821977690" name="Rectangle 19"/>
          <p:cNvSpPr/>
          <p:nvPr/>
        </p:nvSpPr>
        <p:spPr bwMode="auto">
          <a:xfrm>
            <a:off x="2834640" y="2715768"/>
            <a:ext cx="420624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06674566" name="TextBox 20"/>
          <p:cNvSpPr txBox="1"/>
          <p:nvPr/>
        </p:nvSpPr>
        <p:spPr bwMode="auto">
          <a:xfrm>
            <a:off x="2971800" y="2715768"/>
            <a:ext cx="39319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id, title, camp_date, location, status, budget_amount</a:t>
            </a:r>
            <a:endParaRPr/>
          </a:p>
        </p:txBody>
      </p:sp>
      <p:sp>
        <p:nvSpPr>
          <p:cNvPr id="1285241972" name="Rectangle 21"/>
          <p:cNvSpPr/>
          <p:nvPr/>
        </p:nvSpPr>
        <p:spPr bwMode="auto">
          <a:xfrm>
            <a:off x="7040880" y="2715768"/>
            <a:ext cx="457200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63640159" name="TextBox 22"/>
          <p:cNvSpPr txBox="1"/>
          <p:nvPr/>
        </p:nvSpPr>
        <p:spPr bwMode="auto">
          <a:xfrm>
            <a:off x="7178039" y="2715768"/>
            <a:ext cx="4297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Scheduled camps and their planned budget</a:t>
            </a:r>
            <a:endParaRPr/>
          </a:p>
        </p:txBody>
      </p:sp>
      <p:sp>
        <p:nvSpPr>
          <p:cNvPr id="1252377568" name="Rectangle 23"/>
          <p:cNvSpPr/>
          <p:nvPr/>
        </p:nvSpPr>
        <p:spPr bwMode="auto">
          <a:xfrm>
            <a:off x="548640" y="3465576"/>
            <a:ext cx="228600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73740736" name="TextBox 24"/>
          <p:cNvSpPr txBox="1"/>
          <p:nvPr/>
        </p:nvSpPr>
        <p:spPr bwMode="auto">
          <a:xfrm>
            <a:off x="685800" y="3465576"/>
            <a:ext cx="2011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1" i="0">
                <a:solidFill>
                  <a:srgbClr val="212938"/>
                </a:solidFill>
                <a:latin typeface="Calibri"/>
              </a:rPr>
              <a:t>camp_registrations</a:t>
            </a:r>
            <a:endParaRPr/>
          </a:p>
        </p:txBody>
      </p:sp>
      <p:sp>
        <p:nvSpPr>
          <p:cNvPr id="2273393" name="Rectangle 25"/>
          <p:cNvSpPr/>
          <p:nvPr/>
        </p:nvSpPr>
        <p:spPr bwMode="auto">
          <a:xfrm>
            <a:off x="2834640" y="3465576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93157356" name="TextBox 26"/>
          <p:cNvSpPr txBox="1"/>
          <p:nvPr/>
        </p:nvSpPr>
        <p:spPr bwMode="auto">
          <a:xfrm>
            <a:off x="2971800" y="3465576"/>
            <a:ext cx="39319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id, camp_id, donor_id, serial_no, status</a:t>
            </a:r>
            <a:endParaRPr/>
          </a:p>
        </p:txBody>
      </p:sp>
      <p:sp>
        <p:nvSpPr>
          <p:cNvPr id="1960809381" name="Rectangle 27"/>
          <p:cNvSpPr/>
          <p:nvPr/>
        </p:nvSpPr>
        <p:spPr bwMode="auto">
          <a:xfrm>
            <a:off x="7040880" y="3465576"/>
            <a:ext cx="457200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67372952" name="TextBox 28"/>
          <p:cNvSpPr txBox="1"/>
          <p:nvPr/>
        </p:nvSpPr>
        <p:spPr bwMode="auto">
          <a:xfrm>
            <a:off x="7178039" y="3465576"/>
            <a:ext cx="4297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The digital attendance register per camp</a:t>
            </a:r>
            <a:endParaRPr/>
          </a:p>
        </p:txBody>
      </p:sp>
      <p:sp>
        <p:nvSpPr>
          <p:cNvPr id="861356189" name="Rectangle 29"/>
          <p:cNvSpPr/>
          <p:nvPr/>
        </p:nvSpPr>
        <p:spPr bwMode="auto">
          <a:xfrm>
            <a:off x="548640" y="4215384"/>
            <a:ext cx="228600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34980557" name="TextBox 30"/>
          <p:cNvSpPr txBox="1"/>
          <p:nvPr/>
        </p:nvSpPr>
        <p:spPr bwMode="auto">
          <a:xfrm>
            <a:off x="685800" y="4215384"/>
            <a:ext cx="2011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1" i="0">
                <a:solidFill>
                  <a:srgbClr val="212938"/>
                </a:solidFill>
                <a:latin typeface="Calibri"/>
              </a:rPr>
              <a:t>camp_contributions /</a:t>
            </a:r>
            <a:endParaRPr/>
          </a:p>
          <a:p>
            <a:pPr algn="l">
              <a:lnSpc>
                <a:spcPct val="105000"/>
              </a:lnSpc>
              <a:defRPr/>
            </a:pPr>
            <a:r>
              <a:rPr sz="1150" b="1" i="0">
                <a:solidFill>
                  <a:srgbClr val="212938"/>
                </a:solidFill>
                <a:latin typeface="Calibri"/>
              </a:rPr>
              <a:t>camp_expenses</a:t>
            </a:r>
            <a:endParaRPr/>
          </a:p>
        </p:txBody>
      </p:sp>
      <p:sp>
        <p:nvSpPr>
          <p:cNvPr id="2036858021" name="Rectangle 31"/>
          <p:cNvSpPr/>
          <p:nvPr/>
        </p:nvSpPr>
        <p:spPr bwMode="auto">
          <a:xfrm>
            <a:off x="2834640" y="4215384"/>
            <a:ext cx="420624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30214411" name="TextBox 32"/>
          <p:cNvSpPr txBox="1"/>
          <p:nvPr/>
        </p:nvSpPr>
        <p:spPr bwMode="auto">
          <a:xfrm>
            <a:off x="2971800" y="4215384"/>
            <a:ext cx="39319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camp_id, category, amount, status</a:t>
            </a:r>
            <a:endParaRPr/>
          </a:p>
        </p:txBody>
      </p:sp>
      <p:sp>
        <p:nvSpPr>
          <p:cNvPr id="2042524643" name="Rectangle 33"/>
          <p:cNvSpPr/>
          <p:nvPr/>
        </p:nvSpPr>
        <p:spPr bwMode="auto">
          <a:xfrm>
            <a:off x="7040880" y="4215384"/>
            <a:ext cx="457200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37560089" name="TextBox 34"/>
          <p:cNvSpPr txBox="1"/>
          <p:nvPr/>
        </p:nvSpPr>
        <p:spPr bwMode="auto">
          <a:xfrm>
            <a:off x="7178039" y="4215384"/>
            <a:ext cx="4297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Money and goods in vs. money spent, kept apart</a:t>
            </a:r>
            <a:endParaRPr/>
          </a:p>
        </p:txBody>
      </p:sp>
      <p:sp>
        <p:nvSpPr>
          <p:cNvPr id="1098120062" name="Rectangle 35"/>
          <p:cNvSpPr/>
          <p:nvPr/>
        </p:nvSpPr>
        <p:spPr bwMode="auto">
          <a:xfrm>
            <a:off x="548640" y="4965192"/>
            <a:ext cx="228600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86765375" name="TextBox 36"/>
          <p:cNvSpPr txBox="1"/>
          <p:nvPr/>
        </p:nvSpPr>
        <p:spPr bwMode="auto">
          <a:xfrm>
            <a:off x="685800" y="4965192"/>
            <a:ext cx="2011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1" i="0">
                <a:solidFill>
                  <a:srgbClr val="212938"/>
                </a:solidFill>
                <a:latin typeface="Calibri"/>
              </a:rPr>
              <a:t>message_logs</a:t>
            </a:r>
            <a:endParaRPr/>
          </a:p>
        </p:txBody>
      </p:sp>
      <p:sp>
        <p:nvSpPr>
          <p:cNvPr id="594000968" name="Rectangle 37"/>
          <p:cNvSpPr/>
          <p:nvPr/>
        </p:nvSpPr>
        <p:spPr bwMode="auto">
          <a:xfrm>
            <a:off x="2834640" y="4965192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23953347" name="TextBox 38"/>
          <p:cNvSpPr txBox="1"/>
          <p:nvPr/>
        </p:nvSpPr>
        <p:spPr bwMode="auto">
          <a:xfrm>
            <a:off x="2971800" y="4965192"/>
            <a:ext cx="39319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donor_id / staff_id, campaign_id, status, sent_at</a:t>
            </a:r>
            <a:endParaRPr/>
          </a:p>
        </p:txBody>
      </p:sp>
      <p:sp>
        <p:nvSpPr>
          <p:cNvPr id="369821602" name="Rectangle 39"/>
          <p:cNvSpPr/>
          <p:nvPr/>
        </p:nvSpPr>
        <p:spPr bwMode="auto">
          <a:xfrm>
            <a:off x="7040880" y="4965192"/>
            <a:ext cx="457200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72007653" name="TextBox 40"/>
          <p:cNvSpPr txBox="1"/>
          <p:nvPr/>
        </p:nvSpPr>
        <p:spPr bwMode="auto">
          <a:xfrm>
            <a:off x="7178039" y="4965192"/>
            <a:ext cx="4297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Full audit trail of every WhatsApp/SMS sent</a:t>
            </a:r>
            <a:endParaRPr/>
          </a:p>
        </p:txBody>
      </p:sp>
      <p:sp>
        <p:nvSpPr>
          <p:cNvPr id="1302611456" name="Rectangle 41"/>
          <p:cNvSpPr/>
          <p:nvPr/>
        </p:nvSpPr>
        <p:spPr bwMode="auto">
          <a:xfrm>
            <a:off x="548640" y="5715000"/>
            <a:ext cx="228600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1946692" name="TextBox 42"/>
          <p:cNvSpPr txBox="1"/>
          <p:nvPr/>
        </p:nvSpPr>
        <p:spPr bwMode="auto">
          <a:xfrm>
            <a:off x="685800" y="5715000"/>
            <a:ext cx="2011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1" i="0">
                <a:solidFill>
                  <a:srgbClr val="212938"/>
                </a:solidFill>
                <a:latin typeface="Calibri"/>
              </a:rPr>
              <a:t>admins, staff,</a:t>
            </a:r>
            <a:endParaRPr/>
          </a:p>
          <a:p>
            <a:pPr algn="l">
              <a:lnSpc>
                <a:spcPct val="105000"/>
              </a:lnSpc>
              <a:defRPr/>
            </a:pPr>
            <a:r>
              <a:rPr sz="1150" b="1" i="0">
                <a:solidFill>
                  <a:srgbClr val="212938"/>
                </a:solidFill>
                <a:latin typeface="Calibri"/>
              </a:rPr>
              <a:t>login_attempts</a:t>
            </a:r>
            <a:endParaRPr/>
          </a:p>
        </p:txBody>
      </p:sp>
      <p:sp>
        <p:nvSpPr>
          <p:cNvPr id="1595656082" name="Rectangle 43"/>
          <p:cNvSpPr/>
          <p:nvPr/>
        </p:nvSpPr>
        <p:spPr bwMode="auto">
          <a:xfrm>
            <a:off x="2834640" y="5715000"/>
            <a:ext cx="420624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77711240" name="TextBox 44"/>
          <p:cNvSpPr txBox="1"/>
          <p:nvPr/>
        </p:nvSpPr>
        <p:spPr bwMode="auto">
          <a:xfrm>
            <a:off x="2971800" y="5715000"/>
            <a:ext cx="39319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email/password, name/mobile, ip_address</a:t>
            </a:r>
            <a:endParaRPr/>
          </a:p>
        </p:txBody>
      </p:sp>
      <p:sp>
        <p:nvSpPr>
          <p:cNvPr id="339497964" name="Rectangle 45"/>
          <p:cNvSpPr/>
          <p:nvPr/>
        </p:nvSpPr>
        <p:spPr bwMode="auto">
          <a:xfrm>
            <a:off x="7040880" y="5715000"/>
            <a:ext cx="457200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98540148" name="TextBox 46"/>
          <p:cNvSpPr txBox="1"/>
          <p:nvPr/>
        </p:nvSpPr>
        <p:spPr bwMode="auto">
          <a:xfrm>
            <a:off x="7178039" y="5715000"/>
            <a:ext cx="4297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Accounts, committee members, brute-force throttling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271090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8. Security &amp; Reliability</a:t>
            </a:r>
            <a:endParaRPr/>
          </a:p>
        </p:txBody>
      </p:sp>
      <p:sp>
        <p:nvSpPr>
          <p:cNvPr id="1983280638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Hardening applied on top of the base CRUD app.</a:t>
            </a:r>
            <a:endParaRPr/>
          </a:p>
        </p:txBody>
      </p:sp>
      <p:sp>
        <p:nvSpPr>
          <p:cNvPr id="226271159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95437982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9</a:t>
            </a:r>
            <a:endParaRPr/>
          </a:p>
        </p:txBody>
      </p:sp>
      <p:sp>
        <p:nvSpPr>
          <p:cNvPr id="281839516" name="TextBox 5"/>
          <p:cNvSpPr txBox="1"/>
          <p:nvPr/>
        </p:nvSpPr>
        <p:spPr bwMode="auto">
          <a:xfrm>
            <a:off x="822960" y="15544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1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Authentication — JWT in an httpOnly cookie (XSS-resistant), bcrypt-hashed passwords, session-aware CORS.</a:t>
            </a:r>
            <a:endParaRPr/>
          </a:p>
          <a:p>
            <a:pPr>
              <a:lnSpc>
                <a:spcPct val="110000"/>
              </a:lnSpc>
              <a:spcAft>
                <a:spcPts val="11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Brute-force throttling — login_attempts table caps failures per email and per IP within a rolling window.</a:t>
            </a:r>
            <a:endParaRPr/>
          </a:p>
          <a:p>
            <a:pPr>
              <a:lnSpc>
                <a:spcPct val="110000"/>
              </a:lnSpc>
              <a:spcAft>
                <a:spcPts val="11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SQL injection — every query goes through mysql2's parameterised placeholders; no string concatenation.</a:t>
            </a:r>
            <a:endParaRPr/>
          </a:p>
          <a:p>
            <a:pPr>
              <a:lnSpc>
                <a:spcPct val="110000"/>
              </a:lnSpc>
              <a:spcAft>
                <a:spcPts val="11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Account changes — changing name, email or password requires re-entering the current password.</a:t>
            </a:r>
            <a:endParaRPr/>
          </a:p>
          <a:p>
            <a:pPr>
              <a:lnSpc>
                <a:spcPct val="110000"/>
              </a:lnSpc>
              <a:spcAft>
                <a:spcPts val="11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Fail closed — a global error handler returns a generic message instead of leaking stack traces to clients.</a:t>
            </a:r>
            <a:endParaRPr/>
          </a:p>
          <a:p>
            <a:pPr>
              <a:lnSpc>
                <a:spcPct val="110000"/>
              </a:lnSpc>
              <a:spcAft>
                <a:spcPts val="11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Data integrity — foreign keys with explicit ON DELETE rules; a schema_migrations ledger tracks what ran.</a:t>
            </a:r>
            <a:endParaRPr/>
          </a:p>
          <a:p>
            <a:pPr>
              <a:lnSpc>
                <a:spcPct val="110000"/>
              </a:lnSpc>
              <a:spcAft>
                <a:spcPts val="11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Excel import/export — size-capped uploads, mobile-number normalisation, garbled-CSV detection.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6348642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9. Application Screens</a:t>
            </a:r>
            <a:endParaRPr/>
          </a:p>
        </p:txBody>
      </p:sp>
      <p:sp>
        <p:nvSpPr>
          <p:cNvPr id="1311247143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Key screens in the admin console.</a:t>
            </a:r>
            <a:endParaRPr/>
          </a:p>
        </p:txBody>
      </p:sp>
      <p:sp>
        <p:nvSpPr>
          <p:cNvPr id="717219720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1336203887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10</a:t>
            </a:r>
            <a:endParaRPr/>
          </a:p>
        </p:txBody>
      </p:sp>
      <p:sp>
        <p:nvSpPr>
          <p:cNvPr id="904040634" name="Rounded Rectangle 5"/>
          <p:cNvSpPr/>
          <p:nvPr/>
        </p:nvSpPr>
        <p:spPr bwMode="auto">
          <a:xfrm>
            <a:off x="822960" y="1600200"/>
            <a:ext cx="33375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01842993" name="TextBox 6"/>
          <p:cNvSpPr txBox="1"/>
          <p:nvPr/>
        </p:nvSpPr>
        <p:spPr bwMode="auto">
          <a:xfrm>
            <a:off x="822960" y="2286000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9CA3AF"/>
                </a:solidFill>
                <a:latin typeface="Calibri"/>
              </a:rPr>
              <a:t>SCREENSHOT</a:t>
            </a:r>
            <a:endParaRPr/>
          </a:p>
        </p:txBody>
      </p:sp>
      <p:sp>
        <p:nvSpPr>
          <p:cNvPr id="46023655" name="TextBox 7"/>
          <p:cNvSpPr txBox="1"/>
          <p:nvPr/>
        </p:nvSpPr>
        <p:spPr bwMode="auto">
          <a:xfrm>
            <a:off x="822960" y="301751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B41E2E"/>
                </a:solidFill>
                <a:latin typeface="Calibri"/>
              </a:rPr>
              <a:t>Dashboard</a:t>
            </a:r>
            <a:endParaRPr/>
          </a:p>
        </p:txBody>
      </p:sp>
      <p:sp>
        <p:nvSpPr>
          <p:cNvPr id="111230504" name="Rounded Rectangle 8"/>
          <p:cNvSpPr/>
          <p:nvPr/>
        </p:nvSpPr>
        <p:spPr bwMode="auto">
          <a:xfrm>
            <a:off x="4434840" y="1600200"/>
            <a:ext cx="33375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3199827" name="TextBox 9"/>
          <p:cNvSpPr txBox="1"/>
          <p:nvPr/>
        </p:nvSpPr>
        <p:spPr bwMode="auto">
          <a:xfrm>
            <a:off x="4434840" y="2286000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9CA3AF"/>
                </a:solidFill>
                <a:latin typeface="Calibri"/>
              </a:rPr>
              <a:t>SCREENSHOT</a:t>
            </a:r>
            <a:endParaRPr/>
          </a:p>
        </p:txBody>
      </p:sp>
      <p:sp>
        <p:nvSpPr>
          <p:cNvPr id="1041506874" name="TextBox 10"/>
          <p:cNvSpPr txBox="1"/>
          <p:nvPr/>
        </p:nvSpPr>
        <p:spPr bwMode="auto">
          <a:xfrm>
            <a:off x="4434840" y="301751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B41E2E"/>
                </a:solidFill>
                <a:latin typeface="Calibri"/>
              </a:rPr>
              <a:t>Donor Management</a:t>
            </a:r>
            <a:endParaRPr/>
          </a:p>
        </p:txBody>
      </p:sp>
      <p:sp>
        <p:nvSpPr>
          <p:cNvPr id="278203836" name="Rounded Rectangle 11"/>
          <p:cNvSpPr/>
          <p:nvPr/>
        </p:nvSpPr>
        <p:spPr bwMode="auto">
          <a:xfrm>
            <a:off x="8046720" y="1600200"/>
            <a:ext cx="33375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12123176" name="TextBox 12"/>
          <p:cNvSpPr txBox="1"/>
          <p:nvPr/>
        </p:nvSpPr>
        <p:spPr bwMode="auto">
          <a:xfrm>
            <a:off x="8046720" y="2286000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9CA3AF"/>
                </a:solidFill>
                <a:latin typeface="Calibri"/>
              </a:rPr>
              <a:t>SCREENSHOT</a:t>
            </a:r>
            <a:endParaRPr/>
          </a:p>
        </p:txBody>
      </p:sp>
      <p:sp>
        <p:nvSpPr>
          <p:cNvPr id="694675171" name="TextBox 13"/>
          <p:cNvSpPr txBox="1"/>
          <p:nvPr/>
        </p:nvSpPr>
        <p:spPr bwMode="auto">
          <a:xfrm>
            <a:off x="8046720" y="301751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B41E2E"/>
                </a:solidFill>
                <a:latin typeface="Calibri"/>
              </a:rPr>
              <a:t>Camp Register</a:t>
            </a:r>
            <a:endParaRPr/>
          </a:p>
        </p:txBody>
      </p:sp>
      <p:sp>
        <p:nvSpPr>
          <p:cNvPr id="494969632" name="Rounded Rectangle 14"/>
          <p:cNvSpPr/>
          <p:nvPr/>
        </p:nvSpPr>
        <p:spPr bwMode="auto">
          <a:xfrm>
            <a:off x="822960" y="3977639"/>
            <a:ext cx="33375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58067999" name="TextBox 15"/>
          <p:cNvSpPr txBox="1"/>
          <p:nvPr/>
        </p:nvSpPr>
        <p:spPr bwMode="auto">
          <a:xfrm>
            <a:off x="822960" y="466343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9CA3AF"/>
                </a:solidFill>
                <a:latin typeface="Calibri"/>
              </a:rPr>
              <a:t>SCREENSHOT</a:t>
            </a:r>
            <a:endParaRPr/>
          </a:p>
        </p:txBody>
      </p:sp>
      <p:sp>
        <p:nvSpPr>
          <p:cNvPr id="1977251672" name="TextBox 16"/>
          <p:cNvSpPr txBox="1"/>
          <p:nvPr/>
        </p:nvSpPr>
        <p:spPr bwMode="auto">
          <a:xfrm>
            <a:off x="822960" y="539495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B41E2E"/>
                </a:solidFill>
                <a:latin typeface="Calibri"/>
              </a:rPr>
              <a:t>Budget &amp; Donations</a:t>
            </a:r>
            <a:endParaRPr/>
          </a:p>
        </p:txBody>
      </p:sp>
      <p:sp>
        <p:nvSpPr>
          <p:cNvPr id="377716283" name="Rounded Rectangle 17"/>
          <p:cNvSpPr/>
          <p:nvPr/>
        </p:nvSpPr>
        <p:spPr bwMode="auto">
          <a:xfrm>
            <a:off x="4434840" y="3977639"/>
            <a:ext cx="33375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8053415" name="TextBox 18"/>
          <p:cNvSpPr txBox="1"/>
          <p:nvPr/>
        </p:nvSpPr>
        <p:spPr bwMode="auto">
          <a:xfrm>
            <a:off x="4434840" y="466343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9CA3AF"/>
                </a:solidFill>
                <a:latin typeface="Calibri"/>
              </a:rPr>
              <a:t>SCREENSHOT</a:t>
            </a:r>
            <a:endParaRPr/>
          </a:p>
        </p:txBody>
      </p:sp>
      <p:sp>
        <p:nvSpPr>
          <p:cNvPr id="1937679787" name="TextBox 19"/>
          <p:cNvSpPr txBox="1"/>
          <p:nvPr/>
        </p:nvSpPr>
        <p:spPr bwMode="auto">
          <a:xfrm>
            <a:off x="4434840" y="539495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B41E2E"/>
                </a:solidFill>
                <a:latin typeface="Calibri"/>
              </a:rPr>
              <a:t>Messaging &amp; Templates</a:t>
            </a:r>
            <a:endParaRPr/>
          </a:p>
        </p:txBody>
      </p:sp>
      <p:sp>
        <p:nvSpPr>
          <p:cNvPr id="880843390" name="Rounded Rectangle 20"/>
          <p:cNvSpPr/>
          <p:nvPr/>
        </p:nvSpPr>
        <p:spPr bwMode="auto">
          <a:xfrm>
            <a:off x="8046720" y="3977639"/>
            <a:ext cx="33375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93815613" name="TextBox 21"/>
          <p:cNvSpPr txBox="1"/>
          <p:nvPr/>
        </p:nvSpPr>
        <p:spPr bwMode="auto">
          <a:xfrm>
            <a:off x="8046720" y="466343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9CA3AF"/>
                </a:solidFill>
                <a:latin typeface="Calibri"/>
              </a:rPr>
              <a:t>SCREENSHOT</a:t>
            </a:r>
            <a:endParaRPr/>
          </a:p>
        </p:txBody>
      </p:sp>
      <p:sp>
        <p:nvSpPr>
          <p:cNvPr id="1557525937" name="TextBox 22"/>
          <p:cNvSpPr txBox="1"/>
          <p:nvPr/>
        </p:nvSpPr>
        <p:spPr bwMode="auto">
          <a:xfrm>
            <a:off x="8046720" y="539495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B41E2E"/>
                </a:solidFill>
                <a:latin typeface="Calibri"/>
              </a:rPr>
              <a:t>Reports</a:t>
            </a:r>
            <a:endParaRPr/>
          </a:p>
        </p:txBody>
      </p:sp>
      <p:pic>
        <p:nvPicPr>
          <p:cNvPr id="1495104362" name="Picture 23" descr="landing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7200" y="1828800"/>
            <a:ext cx="4064000" cy="2286000"/>
          </a:xfrm>
          <a:prstGeom prst="rect">
            <a:avLst/>
          </a:prstGeom>
        </p:spPr>
      </p:pic>
      <p:pic>
        <p:nvPicPr>
          <p:cNvPr id="911778164" name="Picture 24" descr="login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029200" y="1828800"/>
            <a:ext cx="4064000" cy="2286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5949611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10. Testing &amp; Verification</a:t>
            </a:r>
            <a:endParaRPr/>
          </a:p>
        </p:txBody>
      </p:sp>
      <p:sp>
        <p:nvSpPr>
          <p:cNvPr id="1136458160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How the fixed system was verified before this presentation.</a:t>
            </a:r>
            <a:endParaRPr/>
          </a:p>
        </p:txBody>
      </p:sp>
      <p:sp>
        <p:nvSpPr>
          <p:cNvPr id="1847972985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904542495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11</a:t>
            </a:r>
            <a:endParaRPr/>
          </a:p>
        </p:txBody>
      </p:sp>
      <p:sp>
        <p:nvSpPr>
          <p:cNvPr id="854447051" name="TextBox 5"/>
          <p:cNvSpPr txBox="1"/>
          <p:nvPr/>
        </p:nvSpPr>
        <p:spPr bwMode="auto">
          <a:xfrm>
            <a:off x="822960" y="15544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3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Full source audit across the Vue 3 frontend, Express API and MySQL schema — request/response contracts, SQL correctness and router paths checked file by file.</a:t>
            </a:r>
            <a:endParaRPr/>
          </a:p>
          <a:p>
            <a:pPr>
              <a:lnSpc>
                <a:spcPct val="110000"/>
              </a:lnSpc>
              <a:spcAft>
                <a:spcPts val="13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Deployed and tested the frontend, backend, and database successfully.</a:t>
            </a:r>
            <a:endParaRPr/>
          </a:p>
          <a:p>
            <a:pPr>
              <a:lnSpc>
                <a:spcPct val="110000"/>
              </a:lnSpc>
              <a:spcAft>
                <a:spcPts val="13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Live endpoint checks after fixes: login and session flow, donor CRUD and search, camp finance summary and category totals, camp-register lookup, and Excel report export.</a:t>
            </a:r>
            <a:endParaRPr/>
          </a:p>
          <a:p>
            <a:pPr>
              <a:lnSpc>
                <a:spcPct val="110000"/>
              </a:lnSpc>
              <a:spcAft>
                <a:spcPts val="13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Data-integrity check: fresh-install seed data (donors, camps, templates, message logs) loads without foreign-key errors.</a:t>
            </a:r>
            <a:endParaRPr/>
          </a:p>
          <a:p>
            <a:pPr>
              <a:lnSpc>
                <a:spcPct val="110000"/>
              </a:lnSpc>
              <a:spcAft>
                <a:spcPts val="13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Regression check: values written through the fixed endpoints (e.g. new contribution categories) were re-read back correctly, then the test rows were removed — the database ships clean.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9580545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11. Deployment</a:t>
            </a:r>
            <a:endParaRPr/>
          </a:p>
        </p:txBody>
      </p:sp>
      <p:sp>
        <p:nvSpPr>
          <p:cNvPr id="43262970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Deployed on standard web hosting.</a:t>
            </a:r>
            <a:endParaRPr/>
          </a:p>
        </p:txBody>
      </p:sp>
      <p:sp>
        <p:nvSpPr>
          <p:cNvPr id="741662914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1681331490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12</a:t>
            </a:r>
            <a:endParaRPr/>
          </a:p>
        </p:txBody>
      </p:sp>
      <p:sp>
        <p:nvSpPr>
          <p:cNvPr id="1243590314" name="TextBox 5"/>
          <p:cNvSpPr txBox="1"/>
          <p:nvPr/>
        </p:nvSpPr>
        <p:spPr bwMode="auto">
          <a:xfrm>
            <a:off x="822960" y="1554480"/>
            <a:ext cx="603503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▪ Deployed online using standard web hosting services.</a:t>
            </a:r>
          </a:p>
          <a:p>
            <a:r>
              <a:t>▪ Frontend is a Vue 3 Single Page Application.</a:t>
            </a:r>
          </a:p>
          <a:p>
            <a:r>
              <a:t>▪ Backend is a Node.js REST API.</a:t>
            </a:r>
          </a:p>
          <a:p>
            <a:r>
              <a:t>▪ Database is MySQL/MariaDB.</a:t>
            </a:r>
          </a:p>
        </p:txBody>
      </p:sp>
      <p:sp>
        <p:nvSpPr>
          <p:cNvPr id="748444850" name="Rounded Rectangle 6"/>
          <p:cNvSpPr/>
          <p:nvPr/>
        </p:nvSpPr>
        <p:spPr bwMode="auto">
          <a:xfrm>
            <a:off x="7178039" y="1600200"/>
            <a:ext cx="4206240" cy="3931920"/>
          </a:xfrm>
          <a:prstGeom prst="roundRect">
            <a:avLst>
              <a:gd name="adj" fmla="val 4000"/>
            </a:avLst>
          </a:prstGeom>
          <a:solidFill>
            <a:srgbClr val="212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33312924" name="TextBox 7"/>
          <p:cNvSpPr txBox="1"/>
          <p:nvPr/>
        </p:nvSpPr>
        <p:spPr bwMode="auto">
          <a:xfrm>
            <a:off x="7498080" y="1874519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300" b="1" i="0">
                <a:solidFill>
                  <a:srgbClr val="E5E7EB"/>
                </a:solidFill>
                <a:latin typeface="Calibri"/>
              </a:rPr>
              <a:t>System Architecture</a:t>
            </a:r>
            <a:endParaRPr/>
          </a:p>
        </p:txBody>
      </p:sp>
      <p:sp>
        <p:nvSpPr>
          <p:cNvPr id="252151753" name="TextBox 8"/>
          <p:cNvSpPr txBox="1"/>
          <p:nvPr/>
        </p:nvSpPr>
        <p:spPr bwMode="auto">
          <a:xfrm>
            <a:off x="7498080" y="2331720"/>
            <a:ext cx="3611880" cy="3017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Frontend: Vue 3</a:t>
            </a:r>
          </a:p>
          <a:p>
            <a:r>
              <a:t>Backend: Node.js / Express</a:t>
            </a:r>
          </a:p>
          <a:p>
            <a:r>
              <a:t>Database: MySQL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66339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12. Benefits &amp; Future Scope</a:t>
            </a:r>
            <a:endParaRPr/>
          </a:p>
        </p:txBody>
      </p:sp>
      <p:sp>
        <p:nvSpPr>
          <p:cNvPr id="1092407583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Impact today, and what's still ahead.</a:t>
            </a:r>
            <a:endParaRPr/>
          </a:p>
        </p:txBody>
      </p:sp>
      <p:sp>
        <p:nvSpPr>
          <p:cNvPr id="1094884607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1840293471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13</a:t>
            </a:r>
            <a:endParaRPr/>
          </a:p>
        </p:txBody>
      </p:sp>
      <p:sp>
        <p:nvSpPr>
          <p:cNvPr id="486341996" name="TextBox 5"/>
          <p:cNvSpPr txBox="1"/>
          <p:nvPr/>
        </p:nvSpPr>
        <p:spPr bwMode="auto">
          <a:xfrm>
            <a:off x="822960" y="155448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One system replaces paper registers, spreadsheets and ad-hoc phone calls for running a camp.</a:t>
            </a:r>
            <a:endParaRPr/>
          </a:p>
          <a:p>
            <a:pPr>
              <a:lnSpc>
                <a:spcPct val="110000"/>
              </a:lnSpc>
              <a:spcAft>
                <a:spcPts val="10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Chunked, deduplicated messaging safely reaches hundreds of donors without double-sending.</a:t>
            </a:r>
            <a:endParaRPr/>
          </a:p>
          <a:p>
            <a:pPr>
              <a:lnSpc>
                <a:spcPct val="110000"/>
              </a:lnSpc>
              <a:spcAft>
                <a:spcPts val="10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Clear separation of cash vs. in-kind donations gives organisers an honest, auditable budget picture.</a:t>
            </a:r>
            <a:endParaRPr/>
          </a:p>
        </p:txBody>
      </p:sp>
      <p:sp>
        <p:nvSpPr>
          <p:cNvPr id="891221895" name="TextBox 6"/>
          <p:cNvSpPr txBox="1"/>
          <p:nvPr/>
        </p:nvSpPr>
        <p:spPr bwMode="auto">
          <a:xfrm>
            <a:off x="822960" y="34290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600" b="1" i="0">
                <a:solidFill>
                  <a:srgbClr val="B41E2E"/>
                </a:solidFill>
                <a:latin typeface="Calibri"/>
              </a:rPr>
              <a:t>Outstanding / Roadmap</a:t>
            </a:r>
            <a:endParaRPr/>
          </a:p>
        </p:txBody>
      </p:sp>
      <p:sp>
        <p:nvSpPr>
          <p:cNvPr id="835874884" name="TextBox 7"/>
          <p:cNvSpPr txBox="1"/>
          <p:nvPr/>
        </p:nvSpPr>
        <p:spPr bwMode="auto">
          <a:xfrm>
            <a:off x="822960" y="384048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00">
                <a:solidFill>
                  <a:srgbClr val="212938"/>
                </a:solidFill>
                <a:latin typeface="Calibri"/>
              </a:rPr>
              <a:t>▪  Get the three WhatsApp templates (camp notice, emergency, general) approved in WhatsApp Manager.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00">
                <a:solidFill>
                  <a:srgbClr val="212938"/>
                </a:solidFill>
                <a:latin typeface="Calibri"/>
              </a:rPr>
              <a:t>▪  Register the organisation's own WhatsApp number and an 11-character approved SMS sender ID.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00">
                <a:solidFill>
                  <a:srgbClr val="212938"/>
                </a:solidFill>
                <a:latin typeface="Calibri"/>
              </a:rPr>
              <a:t>▪  Finish transcribing the remaining paper register pages (~19) into the donor database.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00">
                <a:solidFill>
                  <a:srgbClr val="212938"/>
                </a:solidFill>
                <a:latin typeface="Calibri"/>
              </a:rPr>
              <a:t>▪  Admin dashboard widgets for donor-retention trends and per-camp turnout over time.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1411731" name="TextBox 1"/>
          <p:cNvSpPr txBox="1"/>
          <p:nvPr/>
        </p:nvSpPr>
        <p:spPr bwMode="auto">
          <a:xfrm>
            <a:off x="0" y="228600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4400" b="1" i="0">
                <a:solidFill>
                  <a:srgbClr val="B41E2E"/>
                </a:solidFill>
                <a:latin typeface="Calibri"/>
              </a:rPr>
              <a:t>Thank You</a:t>
            </a:r>
            <a:endParaRPr/>
          </a:p>
        </p:txBody>
      </p:sp>
      <p:sp>
        <p:nvSpPr>
          <p:cNvPr id="2138659585" name="TextBox 2"/>
          <p:cNvSpPr txBox="1"/>
          <p:nvPr/>
        </p:nvSpPr>
        <p:spPr bwMode="auto">
          <a:xfrm>
            <a:off x="0" y="3154680"/>
            <a:ext cx="121916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2200" b="1" i="0">
                <a:solidFill>
                  <a:srgbClr val="212938"/>
                </a:solidFill>
                <a:latin typeface="Calibri"/>
              </a:rPr>
              <a:t>Questions &amp; Answers</a:t>
            </a:r>
            <a:endParaRPr/>
          </a:p>
        </p:txBody>
      </p:sp>
      <p:sp>
        <p:nvSpPr>
          <p:cNvPr id="821555438" name="TextBox 3"/>
          <p:cNvSpPr txBox="1"/>
          <p:nvPr/>
        </p:nvSpPr>
        <p:spPr bwMode="auto">
          <a:xfrm>
            <a:off x="0" y="4251960"/>
            <a:ext cx="121916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defRPr/>
            </a:pPr>
            <a:r>
              <a:rPr sz="1500" b="0" i="0">
                <a:solidFill>
                  <a:srgbClr val="6B7280"/>
                </a:solidFill>
                <a:latin typeface="Calibri"/>
              </a:rPr>
              <a:t>DotLife</a:t>
            </a:r>
            <a:endParaRPr/>
          </a:p>
          <a:p>
            <a:pPr algn="ctr">
              <a:lnSpc>
                <a:spcPct val="130000"/>
              </a:lnSpc>
              <a:defRPr/>
            </a:pPr>
            <a:r>
              <a:rPr sz="1500" b="0" i="0">
                <a:solidFill>
                  <a:srgbClr val="6B7280"/>
                </a:solidFill>
                <a:latin typeface="Calibri"/>
              </a:rPr>
              <a:t>Vue 3  •  Node.js / Express  •  MySQL  •  </a:t>
            </a:r>
            <a:endParaRPr/>
          </a:p>
        </p:txBody>
      </p:sp>
      <p:sp>
        <p:nvSpPr>
          <p:cNvPr id="1478107619" name="TextBox 4"/>
          <p:cNvSpPr txBox="1"/>
          <p:nvPr/>
        </p:nvSpPr>
        <p:spPr bwMode="auto">
          <a:xfrm>
            <a:off x="0" y="534924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600" b="1" i="1">
                <a:solidFill>
                  <a:srgbClr val="B41E2E"/>
                </a:solidFill>
                <a:latin typeface="Calibri"/>
              </a:rPr>
              <a:t>“A small contribution can save a life.”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2026-09-18T18:49:20Z</dcterms:modified>
  <cp:category/>
</cp:coreProperties>
</file>