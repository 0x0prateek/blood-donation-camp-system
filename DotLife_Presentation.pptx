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34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70" r:id="rId18"/>
    <p:sldId id="271" r:id="rId19"/>
    <p:sldId id="272" r:id="rId20"/>
    <p:sldId id="273" r:id="rId21"/>
    <p:sldId id="274" r:id="rId22"/>
    <p:sldId id="275" r:id="rId23"/>
  </p:sldIdLst>
  <p:sldSz cx="12191695" cy="6858000" type="screen4x3"/>
  <p:notesSz cx="6858000" cy="9144000"/>
  <p:defaultTextStyle>
    <a:defPPr>
      <a:defRPr lang="en-US"/>
    </a:defPPr>
    <a:lvl1pPr marL="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pos="2160" orient="horz"/>
        <p:guide pos="2880"/>
      </p:guideLst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tableStyles" Target="tableStyles.xml"/><Relationship Id="rId37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476365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68691980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011424306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954139917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139601737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918078915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81882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45095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266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BDF883A-B640-83F1-3130-8A6C250B348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33775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024123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150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E014D6-FD41-F37D-6701-9FA474D730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890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9004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79678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223B7B6-77AD-E680-6A62-D10E3BC193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414459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588147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491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3D7ACF-B8CF-30FA-7D11-5ECADD23DF5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1147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263637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68406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1A6C32C-DA72-C3D8-66AD-B9286F5F48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18699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687217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373534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858B6E-7B79-D92F-79B4-4305FEE480E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37828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0261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964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112B19-9514-FD47-4E97-AD307D5AB84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97900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362806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80821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76BD86-8208-4CB3-68DC-0C1F43DA188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5332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98127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99081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972D63-8647-7FF9-15EB-24D170BF95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51870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759853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4379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9439A2-0401-B198-BF02-F4B36083B1D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5946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364035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2999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564C5D-5BF6-1FE4-1B3D-A38DF04886B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94743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678209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9813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E31ABE-29F9-189E-BCEC-2BF023D1688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26589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09064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63537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5C4F2D-006B-6C43-1107-5C32D396642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06210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894342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938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B5088D6-B3BB-758E-2801-D78C72E89F7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8504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46765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0055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E3EEBC-17A8-3135-E490-541257D6C4C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5516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94966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1498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D82CB4-9F95-CFA3-7FEC-621DC048B4D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55554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855525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203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F411A84-E738-F687-EFEF-2F270A0130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58847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32795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2050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746648-14B9-F8E6-0DB6-2267EE64A3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87917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65451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4655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352A4B0-50EB-F4DA-F06E-3FC8766E800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16151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994101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5893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F26B921-D7D3-4FA5-7DA6-4E4C3FBEE0A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15099F-1479-0CB9-D41B-4072F0085DD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3EAD93-84B5-0615-931E-F919EC48307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9667E2F-E934-3537-E599-EA3695CF0F1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8C2FCD-89E0-29D6-72D8-4E576FC9396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03C414-DACD-A486-918A-C549FA1A617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6E3F473-F2E0-BC90-FD5F-8E8FD126BAA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F6E915-DC97-EAFA-6E75-863DB113F48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E7AAE75-5DFD-9082-64EB-BF72061E44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B20769-11BE-52C0-4E9F-5AACE03BD22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5C6C0C-914F-11AC-3784-C5F514CFF9F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0233353" name="Title 1"/>
          <p:cNvSpPr>
            <a:spLocks noGrp="1"/>
          </p:cNvSpPr>
          <p:nvPr>
            <p:ph type="ctrTitle"/>
          </p:nvPr>
        </p:nvSpPr>
        <p:spPr bwMode="auto">
          <a:xfrm>
            <a:off x="685800" y="2130425"/>
            <a:ext cx="7772400" cy="1470025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4799986" name="Subtitle 2"/>
          <p:cNvSpPr>
            <a:spLocks noGrp="1"/>
          </p:cNvSpPr>
          <p:nvPr>
            <p:ph type="subTitle" idx="1"/>
          </p:nvPr>
        </p:nvSpPr>
        <p:spPr bwMode="auto">
          <a:xfrm>
            <a:off x="1371600" y="3886200"/>
            <a:ext cx="6400800" cy="1752599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212624061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21211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2693021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5407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554870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691243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8391557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7711972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348158" name="Title 1"/>
          <p:cNvSpPr>
            <a:spLocks noGrp="1"/>
          </p:cNvSpPr>
          <p:nvPr>
            <p:ph type="title"/>
          </p:nvPr>
        </p:nvSpPr>
        <p:spPr bwMode="auto"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519705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7660840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207167781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401633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22894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83583976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9262198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85944904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6695652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889219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2019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9199290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0273742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776225015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98388920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99186871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8953119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58952300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97006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208680576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454042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8168374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4074099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4072285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1082139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601091" name="Title 1"/>
          <p:cNvSpPr>
            <a:spLocks noGrp="1"/>
          </p:cNvSpPr>
          <p:nvPr>
            <p:ph type="title"/>
          </p:nvPr>
        </p:nvSpPr>
        <p:spPr bwMode="auto"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41344276" name="Content Placeholder 2"/>
          <p:cNvSpPr>
            <a:spLocks noGrp="1"/>
          </p:cNvSpPr>
          <p:nvPr>
            <p:ph idx="1"/>
          </p:nvPr>
        </p:nvSpPr>
        <p:spPr bwMode="auto"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5160670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8978507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4008518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675689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3590598" name="Title 1"/>
          <p:cNvSpPr>
            <a:spLocks noGrp="1"/>
          </p:cNvSpPr>
          <p:nvPr>
            <p:ph type="title"/>
          </p:nvPr>
        </p:nvSpPr>
        <p:spPr bwMode="auto"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199465729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US"/>
          </a:p>
        </p:txBody>
      </p:sp>
      <p:sp>
        <p:nvSpPr>
          <p:cNvPr id="209367168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286052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27263287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78074068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76163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67392734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2152570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16046041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5723635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5150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6629400" y="274638"/>
            <a:ext cx="2057400" cy="5851525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19415911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457200" y="274638"/>
            <a:ext cx="6019800" cy="5851525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9085449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8568315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04590011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091130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5448454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93763706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CAD085-E8A6-8845-BD4E-CB4CCA059FC4}" type="datetimeFigureOut">
              <a:rPr lang="en-US"/>
              <a:t>1/27/13</a:t>
            </a:fld>
            <a:endParaRPr lang="en-US"/>
          </a:p>
        </p:txBody>
      </p:sp>
      <p:sp>
        <p:nvSpPr>
          <p:cNvPr id="1976811749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603284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C1FF6DA9-008F-8B48-92A6-B652298478B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media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6516868" name="Rectangle 1"/>
          <p:cNvSpPr/>
          <p:nvPr/>
        </p:nvSpPr>
        <p:spPr bwMode="auto">
          <a:xfrm>
            <a:off x="0" y="0"/>
            <a:ext cx="4206240" cy="68580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2412537" name="TextBox 2"/>
          <p:cNvSpPr txBox="1"/>
          <p:nvPr/>
        </p:nvSpPr>
        <p:spPr bwMode="auto">
          <a:xfrm>
            <a:off x="502920" y="2331720"/>
            <a:ext cx="3386880" cy="21766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DotLife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BLOOD</a:t>
            </a:r>
            <a:endParaRPr sz="3400" b="1" i="0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DONATION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3400" b="1" i="0">
                <a:solidFill>
                  <a:srgbClr val="FFFFFF"/>
                </a:solidFill>
                <a:latin typeface="Calibri"/>
              </a:rPr>
              <a:t>CAMP SYSTEM</a:t>
            </a:r>
            <a:endParaRPr/>
          </a:p>
        </p:txBody>
      </p:sp>
      <p:sp>
        <p:nvSpPr>
          <p:cNvPr id="561543659" name="TextBox 3"/>
          <p:cNvSpPr txBox="1"/>
          <p:nvPr/>
        </p:nvSpPr>
        <p:spPr bwMode="auto">
          <a:xfrm>
            <a:off x="457200" y="4508352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F3D2D6"/>
                </a:solidFill>
                <a:latin typeface="Calibri"/>
              </a:rPr>
              <a:t>Full-Stack Web Platform</a:t>
            </a:r>
            <a:endParaRPr/>
          </a:p>
        </p:txBody>
      </p:sp>
      <p:sp>
        <p:nvSpPr>
          <p:cNvPr id="1712090313" name="TextBox 4"/>
          <p:cNvSpPr txBox="1"/>
          <p:nvPr/>
        </p:nvSpPr>
        <p:spPr bwMode="auto">
          <a:xfrm>
            <a:off x="4617720" y="1965960"/>
            <a:ext cx="6949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800" b="1" i="0">
                <a:solidFill>
                  <a:srgbClr val="B41E2E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1815470787" name="TextBox 5"/>
          <p:cNvSpPr txBox="1"/>
          <p:nvPr/>
        </p:nvSpPr>
        <p:spPr bwMode="auto">
          <a:xfrm>
            <a:off x="4617720" y="2514599"/>
            <a:ext cx="6858720" cy="45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500" b="0" i="0">
                <a:solidFill>
                  <a:srgbClr val="212938"/>
                </a:solidFill>
                <a:latin typeface="Calibri"/>
              </a:rPr>
              <a:t>A production-style system for managing blood donors, donation camps, camp finances and multi-channel (WhatsApp/SMS) donor communication</a:t>
            </a:r>
            <a:endParaRPr/>
          </a:p>
        </p:txBody>
      </p:sp>
      <p:sp>
        <p:nvSpPr>
          <p:cNvPr id="1682717198" name="TextBox 6"/>
          <p:cNvSpPr txBox="1"/>
          <p:nvPr/>
        </p:nvSpPr>
        <p:spPr bwMode="auto">
          <a:xfrm>
            <a:off x="4617720" y="5074920"/>
            <a:ext cx="6875639" cy="495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Presented by: Shivani P. Vaghela</a:t>
            </a:r>
            <a:endParaRPr/>
          </a:p>
          <a:p>
            <a:pPr algn="l">
              <a:lnSpc>
                <a:spcPct val="130000"/>
              </a:lnSpc>
              <a:defRPr/>
            </a:pPr>
            <a:r>
              <a:rPr sz="1250" b="0" i="0">
                <a:solidFill>
                  <a:srgbClr val="6B7280"/>
                </a:solidFill>
                <a:latin typeface="Calibri"/>
              </a:rPr>
              <a:t>Stack: Vue 3 SPA · Node/Express API · MariaDB </a:t>
            </a:r>
            <a:endParaRPr/>
          </a:p>
        </p:txBody>
      </p:sp>
      <p:pic>
        <p:nvPicPr>
          <p:cNvPr id="1898916992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502920" y="870809"/>
            <a:ext cx="1379471" cy="1379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464999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1. Project Overview</a:t>
            </a:r>
            <a:endParaRPr/>
          </a:p>
        </p:txBody>
      </p:sp>
      <p:sp>
        <p:nvSpPr>
          <p:cNvPr id="1991255524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A digital platform to organise blood donation camps end-to-end.</a:t>
            </a:r>
            <a:endParaRPr/>
          </a:p>
        </p:txBody>
      </p:sp>
      <p:sp>
        <p:nvSpPr>
          <p:cNvPr id="180751784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20135740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1769359063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Manages the full lifecycle of a blood donation drive: donors, camps, on-site registration, finances and outreach.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 Vue 3 single-page app talks to a Node.js/Express REST API, backed by a MySQL/MariaDB relational database.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and camp records are normalised, indexed and searchable — built to hold 800+ real donor records.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Multi-channel outreach: bulk WhatsApp (Meta Cloud API) and SMS (Notify.lk / Twilio), in English and Sinhala.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Every write path (auth, CRUD, messaging, imports/exports) is authenticated and input-validated end to 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Ships fully modern — one command brings up the SPA, API and database together.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6704153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2. Problem Statement</a:t>
            </a:r>
            <a:endParaRPr/>
          </a:p>
        </p:txBody>
      </p:sp>
      <p:sp>
        <p:nvSpPr>
          <p:cNvPr id="1047617858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organising a blood camp on paper and spreadsheets looks like.</a:t>
            </a:r>
            <a:endParaRPr/>
          </a:p>
        </p:txBody>
      </p:sp>
      <p:sp>
        <p:nvSpPr>
          <p:cNvPr id="135132403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698291403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1519863431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Donor registers are kept as paper books or scattered spreadsheets, organised by village or camp.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Finding donors of a specific blood group who are due to donate again takes manual cross-checking.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Announcing a camp means calling or messaging donors one by one — slow and easy to under- or over-send.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Camp income (cash and in-kind donations) and expenses are tracked informally, if at all.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No shared, auditable record of who attended a camp, who actually donated, and who was contacted when.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Emergency blood requests have no fast way to reach the right blood group at scale.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4130265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3. Objectives</a:t>
            </a:r>
            <a:endParaRPr/>
          </a:p>
        </p:txBody>
      </p:sp>
      <p:sp>
        <p:nvSpPr>
          <p:cNvPr id="2124837844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What the system sets out to achieve.</a:t>
            </a:r>
            <a:endParaRPr/>
          </a:p>
        </p:txBody>
      </p:sp>
      <p:sp>
        <p:nvSpPr>
          <p:cNvPr id="1423913117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328399353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173584250" name="TextBox 5"/>
          <p:cNvSpPr txBox="1"/>
          <p:nvPr/>
        </p:nvSpPr>
        <p:spPr bwMode="auto">
          <a:xfrm>
            <a:off x="822960" y="155448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Give organisers one system for donors, camps, on-site registration, budgets and messaging.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Digitise the paper camp register while preserving its logic: T.P. (mobile) number as the unique identifier.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Make blood-group and eligibility (4-month) filtering instant instead of manual.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Support bulk, chunked WhatsApp/SMS campaigns that survive timeouts and never double-send.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Track camp finances — cash donations, in-kind goods and expenses — without mixing the two.</a:t>
            </a:r>
            <a:endParaRPr/>
          </a:p>
          <a:p>
            <a:pPr>
              <a:lnSpc>
                <a:spcPct val="110000"/>
              </a:lnSpc>
              <a:spcAft>
                <a:spcPts val="1400"/>
              </a:spcAft>
              <a:defRPr/>
            </a:pPr>
            <a:r>
              <a:rPr sz="1600">
                <a:solidFill>
                  <a:srgbClr val="212938"/>
                </a:solidFill>
                <a:latin typeface="Calibri"/>
              </a:rPr>
              <a:t>▪  Package the whole stack so it can be built and run identically anywhere with one Docker/Podman command.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3022638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4. Technology Stack</a:t>
            </a:r>
            <a:endParaRPr/>
          </a:p>
        </p:txBody>
      </p:sp>
      <p:sp>
        <p:nvSpPr>
          <p:cNvPr id="1666588091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The concrete stack behind the platform.</a:t>
            </a:r>
            <a:endParaRPr/>
          </a:p>
        </p:txBody>
      </p:sp>
      <p:sp>
        <p:nvSpPr>
          <p:cNvPr id="827637499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210492558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458232492" name="Rounded Rectangle 5"/>
          <p:cNvSpPr/>
          <p:nvPr/>
        </p:nvSpPr>
        <p:spPr bwMode="auto">
          <a:xfrm>
            <a:off x="82296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4714265" name="TextBox 6"/>
          <p:cNvSpPr txBox="1"/>
          <p:nvPr/>
        </p:nvSpPr>
        <p:spPr bwMode="auto">
          <a:xfrm>
            <a:off x="114300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Frontend</a:t>
            </a:r>
            <a:endParaRPr/>
          </a:p>
        </p:txBody>
      </p:sp>
      <p:sp>
        <p:nvSpPr>
          <p:cNvPr id="84865640" name="TextBox 7"/>
          <p:cNvSpPr txBox="1"/>
          <p:nvPr/>
        </p:nvSpPr>
        <p:spPr bwMode="auto">
          <a:xfrm>
            <a:off x="114300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Vue 3 (Composition API) · Vite · Vue Router 4 · Pinia · Bootstrap 5 · Chart.js · Axios</a:t>
            </a:r>
            <a:endParaRPr/>
          </a:p>
        </p:txBody>
      </p:sp>
      <p:sp>
        <p:nvSpPr>
          <p:cNvPr id="1744619659" name="Rounded Rectangle 8"/>
          <p:cNvSpPr/>
          <p:nvPr/>
        </p:nvSpPr>
        <p:spPr bwMode="auto">
          <a:xfrm>
            <a:off x="6263640" y="160020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4046030" name="TextBox 9"/>
          <p:cNvSpPr txBox="1"/>
          <p:nvPr/>
        </p:nvSpPr>
        <p:spPr bwMode="auto">
          <a:xfrm>
            <a:off x="6583680" y="185623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Backend API</a:t>
            </a:r>
            <a:endParaRPr/>
          </a:p>
        </p:txBody>
      </p:sp>
      <p:sp>
        <p:nvSpPr>
          <p:cNvPr id="1656111144" name="TextBox 10"/>
          <p:cNvSpPr txBox="1"/>
          <p:nvPr/>
        </p:nvSpPr>
        <p:spPr bwMode="auto">
          <a:xfrm>
            <a:off x="6583680" y="242316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Node.js 20 · Express · JWT (httpOnly cookies) · bcrypt · mysql2/promise · ExcelJS</a:t>
            </a:r>
            <a:endParaRPr/>
          </a:p>
        </p:txBody>
      </p:sp>
      <p:sp>
        <p:nvSpPr>
          <p:cNvPr id="1229130462" name="Rounded Rectangle 11"/>
          <p:cNvSpPr/>
          <p:nvPr/>
        </p:nvSpPr>
        <p:spPr bwMode="auto">
          <a:xfrm>
            <a:off x="82296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218592641" name="TextBox 12"/>
          <p:cNvSpPr txBox="1"/>
          <p:nvPr/>
        </p:nvSpPr>
        <p:spPr bwMode="auto">
          <a:xfrm>
            <a:off x="114300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Database</a:t>
            </a:r>
            <a:endParaRPr/>
          </a:p>
        </p:txBody>
      </p:sp>
      <p:sp>
        <p:nvSpPr>
          <p:cNvPr id="2065118792" name="TextBox 13"/>
          <p:cNvSpPr txBox="1"/>
          <p:nvPr/>
        </p:nvSpPr>
        <p:spPr bwMode="auto">
          <a:xfrm>
            <a:off x="114300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MySQL / MariaDB 10.11 · 12 tables · foreign keys · indexes · migration ledger</a:t>
            </a:r>
            <a:endParaRPr/>
          </a:p>
        </p:txBody>
      </p:sp>
      <p:sp>
        <p:nvSpPr>
          <p:cNvPr id="1755679798" name="Rounded Rectangle 14"/>
          <p:cNvSpPr/>
          <p:nvPr/>
        </p:nvSpPr>
        <p:spPr bwMode="auto">
          <a:xfrm>
            <a:off x="6263640" y="3794760"/>
            <a:ext cx="507492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91694335" name="TextBox 15"/>
          <p:cNvSpPr txBox="1"/>
          <p:nvPr/>
        </p:nvSpPr>
        <p:spPr bwMode="auto">
          <a:xfrm>
            <a:off x="6583680" y="4050792"/>
            <a:ext cx="4434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2000" b="1" i="0">
                <a:solidFill>
                  <a:srgbClr val="B41E2E"/>
                </a:solidFill>
                <a:latin typeface="Calibri"/>
              </a:rPr>
              <a:t>Infrastructure</a:t>
            </a:r>
            <a:endParaRPr/>
          </a:p>
        </p:txBody>
      </p:sp>
      <p:sp>
        <p:nvSpPr>
          <p:cNvPr id="1184805076" name="TextBox 16"/>
          <p:cNvSpPr txBox="1"/>
          <p:nvPr/>
        </p:nvSpPr>
        <p:spPr bwMode="auto">
          <a:xfrm>
            <a:off x="6583680" y="4617720"/>
            <a:ext cx="44348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defRPr/>
            </a:pPr>
            <a:r>
              <a:rPr sz="1350" b="0" i="0">
                <a:solidFill>
                  <a:srgbClr val="212938"/>
                </a:solidFill>
                <a:latin typeface="Calibri"/>
              </a:rPr>
              <a:t>Standard Web Hosting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848706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5. Main Features</a:t>
            </a:r>
            <a:endParaRPr/>
          </a:p>
        </p:txBody>
      </p:sp>
      <p:sp>
        <p:nvSpPr>
          <p:cNvPr id="2000986237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modules available to an administrator.</a:t>
            </a:r>
            <a:endParaRPr/>
          </a:p>
        </p:txBody>
      </p:sp>
      <p:sp>
        <p:nvSpPr>
          <p:cNvPr id="1218206984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821256360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6</a:t>
            </a:r>
            <a:endParaRPr/>
          </a:p>
        </p:txBody>
      </p:sp>
      <p:sp>
        <p:nvSpPr>
          <p:cNvPr id="676730028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Donor Management — CRUD, Excel import/export, blood-group and eligibility filtering, duplicate detection.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Blood Camps — schedule camps, track status (Upcoming / Completed / Cancelled), planned budget per camp.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Camp Register — digital attendance book by T.P. number: known donor, walk-in, or already-registered.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Budget &amp; Donations — cash and in-kind contributions tracked separately from spend, with a live balance.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Staff — organising-committee directory, reachable through the same messaging pipeline as donors.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Messaging — bulk WhatsApp (approved templates) and SMS, chunked sending, campaign de-duplication.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Templates — reusable message bodies with Meta template mapping, English and Sinhala.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Emergency Alerts — one-click blood-group targeted request to every matching active donor.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50">
                <a:solidFill>
                  <a:srgbClr val="212938"/>
                </a:solidFill>
                <a:latin typeface="Calibri"/>
              </a:rPr>
              <a:t>▪  Reports — date-filtered analytics with Excel export; Settings — app, messaging and account configuration.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886351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6. System Architecture</a:t>
            </a:r>
            <a:endParaRPr/>
          </a:p>
        </p:txBody>
      </p:sp>
      <p:sp>
        <p:nvSpPr>
          <p:cNvPr id="9156553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a request travels through the stack.</a:t>
            </a:r>
            <a:endParaRPr/>
          </a:p>
        </p:txBody>
      </p:sp>
      <p:sp>
        <p:nvSpPr>
          <p:cNvPr id="109685438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802614228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7</a:t>
            </a:r>
            <a:endParaRPr/>
          </a:p>
        </p:txBody>
      </p:sp>
      <p:sp>
        <p:nvSpPr>
          <p:cNvPr id="435992391" name="Oval 5"/>
          <p:cNvSpPr/>
          <p:nvPr/>
        </p:nvSpPr>
        <p:spPr bwMode="auto">
          <a:xfrm>
            <a:off x="77724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  <a:endParaRPr/>
          </a:p>
        </p:txBody>
      </p:sp>
      <p:sp>
        <p:nvSpPr>
          <p:cNvPr id="1554808685" name="TextBox 6"/>
          <p:cNvSpPr txBox="1"/>
          <p:nvPr/>
        </p:nvSpPr>
        <p:spPr bwMode="auto">
          <a:xfrm>
            <a:off x="27432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Browser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(Vue 3 SPA)</a:t>
            </a:r>
            <a:endParaRPr/>
          </a:p>
        </p:txBody>
      </p:sp>
      <p:sp>
        <p:nvSpPr>
          <p:cNvPr id="1069830735" name="Right Arrow 7"/>
          <p:cNvSpPr/>
          <p:nvPr/>
        </p:nvSpPr>
        <p:spPr bwMode="auto">
          <a:xfrm>
            <a:off x="182880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1509575" name="Oval 8"/>
          <p:cNvSpPr/>
          <p:nvPr/>
        </p:nvSpPr>
        <p:spPr bwMode="auto">
          <a:xfrm>
            <a:off x="316611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  <a:endParaRPr/>
          </a:p>
        </p:txBody>
      </p:sp>
      <p:sp>
        <p:nvSpPr>
          <p:cNvPr id="666075616" name="TextBox 9"/>
          <p:cNvSpPr txBox="1"/>
          <p:nvPr/>
        </p:nvSpPr>
        <p:spPr bwMode="auto">
          <a:xfrm>
            <a:off x="266319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Web Server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(static + proxy)</a:t>
            </a:r>
            <a:endParaRPr/>
          </a:p>
        </p:txBody>
      </p:sp>
      <p:sp>
        <p:nvSpPr>
          <p:cNvPr id="1871191835" name="Right Arrow 10"/>
          <p:cNvSpPr/>
          <p:nvPr/>
        </p:nvSpPr>
        <p:spPr bwMode="auto">
          <a:xfrm>
            <a:off x="421767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83749341" name="Oval 11"/>
          <p:cNvSpPr/>
          <p:nvPr/>
        </p:nvSpPr>
        <p:spPr bwMode="auto">
          <a:xfrm>
            <a:off x="555498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  <a:endParaRPr/>
          </a:p>
        </p:txBody>
      </p:sp>
      <p:sp>
        <p:nvSpPr>
          <p:cNvPr id="19378481" name="TextBox 12"/>
          <p:cNvSpPr txBox="1"/>
          <p:nvPr/>
        </p:nvSpPr>
        <p:spPr bwMode="auto">
          <a:xfrm>
            <a:off x="505206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Express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REST API</a:t>
            </a:r>
            <a:endParaRPr/>
          </a:p>
        </p:txBody>
      </p:sp>
      <p:sp>
        <p:nvSpPr>
          <p:cNvPr id="401719007" name="Right Arrow 13"/>
          <p:cNvSpPr/>
          <p:nvPr/>
        </p:nvSpPr>
        <p:spPr bwMode="auto">
          <a:xfrm>
            <a:off x="6606539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09827798" name="Oval 14"/>
          <p:cNvSpPr/>
          <p:nvPr/>
        </p:nvSpPr>
        <p:spPr bwMode="auto">
          <a:xfrm>
            <a:off x="794385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  <a:endParaRPr/>
          </a:p>
        </p:txBody>
      </p:sp>
      <p:sp>
        <p:nvSpPr>
          <p:cNvPr id="988914999" name="TextBox 15"/>
          <p:cNvSpPr txBox="1"/>
          <p:nvPr/>
        </p:nvSpPr>
        <p:spPr bwMode="auto">
          <a:xfrm>
            <a:off x="744093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MariaDB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(data)</a:t>
            </a:r>
            <a:endParaRPr/>
          </a:p>
        </p:txBody>
      </p:sp>
      <p:sp>
        <p:nvSpPr>
          <p:cNvPr id="732546803" name="Right Arrow 16"/>
          <p:cNvSpPr/>
          <p:nvPr/>
        </p:nvSpPr>
        <p:spPr bwMode="auto">
          <a:xfrm>
            <a:off x="8995410" y="2619756"/>
            <a:ext cx="1337310" cy="109728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26875414" name="Oval 17"/>
          <p:cNvSpPr/>
          <p:nvPr/>
        </p:nvSpPr>
        <p:spPr bwMode="auto">
          <a:xfrm>
            <a:off x="10332720" y="2148840"/>
            <a:ext cx="1051560" cy="1051560"/>
          </a:xfrm>
          <a:prstGeom prst="ellipse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/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  <a:endParaRPr/>
          </a:p>
        </p:txBody>
      </p:sp>
      <p:sp>
        <p:nvSpPr>
          <p:cNvPr id="1216946435" name="TextBox 18"/>
          <p:cNvSpPr txBox="1"/>
          <p:nvPr/>
        </p:nvSpPr>
        <p:spPr bwMode="auto">
          <a:xfrm>
            <a:off x="9829800" y="3337560"/>
            <a:ext cx="2057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WhatsApp / SMS</a:t>
            </a:r>
            <a:endParaRPr/>
          </a:p>
          <a:p>
            <a:pPr algn="ctr">
              <a:defRPr/>
            </a:pPr>
            <a:r>
              <a:rPr sz="1250" b="1" i="0">
                <a:solidFill>
                  <a:srgbClr val="212938"/>
                </a:solidFill>
                <a:latin typeface="Calibri"/>
              </a:rPr>
              <a:t>(Meta, Notify.lk)</a:t>
            </a:r>
            <a:endParaRPr/>
          </a:p>
        </p:txBody>
      </p:sp>
      <p:sp>
        <p:nvSpPr>
          <p:cNvPr id="1227936818" name="TextBox 19"/>
          <p:cNvSpPr txBox="1"/>
          <p:nvPr/>
        </p:nvSpPr>
        <p:spPr bwMode="auto">
          <a:xfrm>
            <a:off x="822960" y="4434840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Auth via JWT in an httpOnly cookie  •  All queries parameterised  •  CORS locked to the frontend origin</a:t>
            </a:r>
            <a:endParaRPr/>
          </a:p>
        </p:txBody>
      </p:sp>
      <p:sp>
        <p:nvSpPr>
          <p:cNvPr id="158333943" name="TextBox 20"/>
          <p:cNvSpPr txBox="1"/>
          <p:nvPr/>
        </p:nvSpPr>
        <p:spPr bwMode="auto">
          <a:xfrm>
            <a:off x="822960" y="5029200"/>
            <a:ext cx="103327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25000"/>
              </a:lnSpc>
              <a:defRPr/>
            </a:pPr>
            <a:r>
              <a:rPr/>
              <a:t>The frontend is built with Vue 3 and communicates with the Node.js backend API, which connects to the MySQL database.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3478699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7. Database Design</a:t>
            </a:r>
            <a:endParaRPr/>
          </a:p>
        </p:txBody>
      </p:sp>
      <p:sp>
        <p:nvSpPr>
          <p:cNvPr id="1783363609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Core MySQL/MariaDB tables (of 12 total).</a:t>
            </a:r>
            <a:endParaRPr/>
          </a:p>
        </p:txBody>
      </p:sp>
      <p:sp>
        <p:nvSpPr>
          <p:cNvPr id="315944106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713210206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8</a:t>
            </a:r>
            <a:endParaRPr/>
          </a:p>
        </p:txBody>
      </p:sp>
      <p:sp>
        <p:nvSpPr>
          <p:cNvPr id="1363836598" name="Rectangle 5"/>
          <p:cNvSpPr/>
          <p:nvPr/>
        </p:nvSpPr>
        <p:spPr bwMode="auto">
          <a:xfrm>
            <a:off x="548640" y="1508759"/>
            <a:ext cx="2286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97482065" name="TextBox 6"/>
          <p:cNvSpPr txBox="1"/>
          <p:nvPr/>
        </p:nvSpPr>
        <p:spPr bwMode="auto">
          <a:xfrm>
            <a:off x="685800" y="1508759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Table</a:t>
            </a:r>
            <a:endParaRPr/>
          </a:p>
        </p:txBody>
      </p:sp>
      <p:sp>
        <p:nvSpPr>
          <p:cNvPr id="1350051406" name="Rectangle 7"/>
          <p:cNvSpPr/>
          <p:nvPr/>
        </p:nvSpPr>
        <p:spPr bwMode="auto">
          <a:xfrm>
            <a:off x="2834640" y="1508759"/>
            <a:ext cx="420624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6781985" name="TextBox 8"/>
          <p:cNvSpPr txBox="1"/>
          <p:nvPr/>
        </p:nvSpPr>
        <p:spPr bwMode="auto">
          <a:xfrm>
            <a:off x="2971800" y="1508759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Key Fields</a:t>
            </a:r>
            <a:endParaRPr/>
          </a:p>
        </p:txBody>
      </p:sp>
      <p:sp>
        <p:nvSpPr>
          <p:cNvPr id="2016360484" name="Rectangle 9"/>
          <p:cNvSpPr/>
          <p:nvPr/>
        </p:nvSpPr>
        <p:spPr bwMode="auto">
          <a:xfrm>
            <a:off x="7040880" y="1508759"/>
            <a:ext cx="4572000" cy="457200"/>
          </a:xfrm>
          <a:prstGeom prst="rect">
            <a:avLst/>
          </a:prstGeom>
          <a:solidFill>
            <a:srgbClr val="B4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052678486" name="TextBox 10"/>
          <p:cNvSpPr txBox="1"/>
          <p:nvPr/>
        </p:nvSpPr>
        <p:spPr bwMode="auto">
          <a:xfrm>
            <a:off x="7178039" y="1508759"/>
            <a:ext cx="429768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defRPr/>
            </a:pPr>
            <a:r>
              <a:rPr sz="1400" b="1" i="0">
                <a:solidFill>
                  <a:srgbClr val="FFFFFF"/>
                </a:solidFill>
                <a:latin typeface="Calibri"/>
              </a:rPr>
              <a:t>Purpose</a:t>
            </a:r>
            <a:endParaRPr/>
          </a:p>
        </p:txBody>
      </p:sp>
      <p:sp>
        <p:nvSpPr>
          <p:cNvPr id="865446304" name="Rectangle 11"/>
          <p:cNvSpPr/>
          <p:nvPr/>
        </p:nvSpPr>
        <p:spPr bwMode="auto">
          <a:xfrm>
            <a:off x="548640" y="1965960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53378798" name="TextBox 12"/>
          <p:cNvSpPr txBox="1"/>
          <p:nvPr/>
        </p:nvSpPr>
        <p:spPr bwMode="auto">
          <a:xfrm>
            <a:off x="685800" y="196596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donors</a:t>
            </a:r>
            <a:endParaRPr/>
          </a:p>
        </p:txBody>
      </p:sp>
      <p:sp>
        <p:nvSpPr>
          <p:cNvPr id="1342009386" name="Rectangle 13"/>
          <p:cNvSpPr/>
          <p:nvPr/>
        </p:nvSpPr>
        <p:spPr bwMode="auto">
          <a:xfrm>
            <a:off x="2834640" y="1965960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920811047" name="TextBox 14"/>
          <p:cNvSpPr txBox="1"/>
          <p:nvPr/>
        </p:nvSpPr>
        <p:spPr bwMode="auto">
          <a:xfrm>
            <a:off x="2971800" y="196596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donor_name, mobile (unique), blood_group, status, last_donation_date</a:t>
            </a:r>
            <a:endParaRPr/>
          </a:p>
        </p:txBody>
      </p:sp>
      <p:sp>
        <p:nvSpPr>
          <p:cNvPr id="1827607867" name="Rectangle 15"/>
          <p:cNvSpPr/>
          <p:nvPr/>
        </p:nvSpPr>
        <p:spPr bwMode="auto">
          <a:xfrm>
            <a:off x="7040880" y="1965960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58483754" name="TextBox 16"/>
          <p:cNvSpPr txBox="1"/>
          <p:nvPr/>
        </p:nvSpPr>
        <p:spPr bwMode="auto">
          <a:xfrm>
            <a:off x="7178039" y="196596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donor roll — mobile is the durable identity</a:t>
            </a:r>
            <a:endParaRPr/>
          </a:p>
        </p:txBody>
      </p:sp>
      <p:sp>
        <p:nvSpPr>
          <p:cNvPr id="1128005555" name="Rectangle 17"/>
          <p:cNvSpPr/>
          <p:nvPr/>
        </p:nvSpPr>
        <p:spPr bwMode="auto">
          <a:xfrm>
            <a:off x="548640" y="2715768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0453474" name="TextBox 18"/>
          <p:cNvSpPr txBox="1"/>
          <p:nvPr/>
        </p:nvSpPr>
        <p:spPr bwMode="auto">
          <a:xfrm>
            <a:off x="685800" y="2715768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blood_camps</a:t>
            </a:r>
            <a:endParaRPr/>
          </a:p>
        </p:txBody>
      </p:sp>
      <p:sp>
        <p:nvSpPr>
          <p:cNvPr id="12721865" name="Rectangle 19"/>
          <p:cNvSpPr/>
          <p:nvPr/>
        </p:nvSpPr>
        <p:spPr bwMode="auto">
          <a:xfrm>
            <a:off x="2834640" y="2715768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44294155" name="TextBox 20"/>
          <p:cNvSpPr txBox="1"/>
          <p:nvPr/>
        </p:nvSpPr>
        <p:spPr bwMode="auto">
          <a:xfrm>
            <a:off x="2971800" y="2715768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title, camp_date, location, status, budget_amount</a:t>
            </a:r>
            <a:endParaRPr/>
          </a:p>
        </p:txBody>
      </p:sp>
      <p:sp>
        <p:nvSpPr>
          <p:cNvPr id="1343625527" name="Rectangle 21"/>
          <p:cNvSpPr/>
          <p:nvPr/>
        </p:nvSpPr>
        <p:spPr bwMode="auto">
          <a:xfrm>
            <a:off x="7040880" y="2715768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03155209" name="TextBox 22"/>
          <p:cNvSpPr txBox="1"/>
          <p:nvPr/>
        </p:nvSpPr>
        <p:spPr bwMode="auto">
          <a:xfrm>
            <a:off x="7178039" y="2715768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Scheduled camps and their planned budget</a:t>
            </a:r>
            <a:endParaRPr/>
          </a:p>
        </p:txBody>
      </p:sp>
      <p:sp>
        <p:nvSpPr>
          <p:cNvPr id="1942021557" name="Rectangle 23"/>
          <p:cNvSpPr/>
          <p:nvPr/>
        </p:nvSpPr>
        <p:spPr bwMode="auto">
          <a:xfrm>
            <a:off x="548640" y="3465576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38074302" name="TextBox 24"/>
          <p:cNvSpPr txBox="1"/>
          <p:nvPr/>
        </p:nvSpPr>
        <p:spPr bwMode="auto">
          <a:xfrm>
            <a:off x="685800" y="3465576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camp_registrations</a:t>
            </a:r>
            <a:endParaRPr/>
          </a:p>
        </p:txBody>
      </p:sp>
      <p:sp>
        <p:nvSpPr>
          <p:cNvPr id="701011242" name="Rectangle 25"/>
          <p:cNvSpPr/>
          <p:nvPr/>
        </p:nvSpPr>
        <p:spPr bwMode="auto">
          <a:xfrm>
            <a:off x="2834640" y="3465576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104317738" name="TextBox 26"/>
          <p:cNvSpPr txBox="1"/>
          <p:nvPr/>
        </p:nvSpPr>
        <p:spPr bwMode="auto">
          <a:xfrm>
            <a:off x="2971800" y="3465576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id, camp_id, donor_id, serial_no, status</a:t>
            </a:r>
            <a:endParaRPr/>
          </a:p>
        </p:txBody>
      </p:sp>
      <p:sp>
        <p:nvSpPr>
          <p:cNvPr id="597958077" name="Rectangle 27"/>
          <p:cNvSpPr/>
          <p:nvPr/>
        </p:nvSpPr>
        <p:spPr bwMode="auto">
          <a:xfrm>
            <a:off x="7040880" y="3465576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71445747" name="TextBox 28"/>
          <p:cNvSpPr txBox="1"/>
          <p:nvPr/>
        </p:nvSpPr>
        <p:spPr bwMode="auto">
          <a:xfrm>
            <a:off x="7178039" y="3465576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The digital attendance register per camp</a:t>
            </a:r>
            <a:endParaRPr/>
          </a:p>
        </p:txBody>
      </p:sp>
      <p:sp>
        <p:nvSpPr>
          <p:cNvPr id="393108748" name="Rectangle 29"/>
          <p:cNvSpPr/>
          <p:nvPr/>
        </p:nvSpPr>
        <p:spPr bwMode="auto">
          <a:xfrm>
            <a:off x="548640" y="4215384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864468402" name="TextBox 30"/>
          <p:cNvSpPr txBox="1"/>
          <p:nvPr/>
        </p:nvSpPr>
        <p:spPr bwMode="auto">
          <a:xfrm>
            <a:off x="685800" y="4215384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camp_contributions /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camp_expenses</a:t>
            </a:r>
            <a:endParaRPr/>
          </a:p>
        </p:txBody>
      </p:sp>
      <p:sp>
        <p:nvSpPr>
          <p:cNvPr id="39811162" name="Rectangle 31"/>
          <p:cNvSpPr/>
          <p:nvPr/>
        </p:nvSpPr>
        <p:spPr bwMode="auto">
          <a:xfrm>
            <a:off x="2834640" y="4215384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651707754" name="TextBox 32"/>
          <p:cNvSpPr txBox="1"/>
          <p:nvPr/>
        </p:nvSpPr>
        <p:spPr bwMode="auto">
          <a:xfrm>
            <a:off x="2971800" y="4215384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camp_id, category, amount, status</a:t>
            </a:r>
            <a:endParaRPr/>
          </a:p>
        </p:txBody>
      </p:sp>
      <p:sp>
        <p:nvSpPr>
          <p:cNvPr id="993397708" name="Rectangle 33"/>
          <p:cNvSpPr/>
          <p:nvPr/>
        </p:nvSpPr>
        <p:spPr bwMode="auto">
          <a:xfrm>
            <a:off x="7040880" y="4215384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06986835" name="TextBox 34"/>
          <p:cNvSpPr txBox="1"/>
          <p:nvPr/>
        </p:nvSpPr>
        <p:spPr bwMode="auto">
          <a:xfrm>
            <a:off x="7178039" y="4215384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Money and goods in vs. money spent, kept apart</a:t>
            </a:r>
            <a:endParaRPr/>
          </a:p>
        </p:txBody>
      </p:sp>
      <p:sp>
        <p:nvSpPr>
          <p:cNvPr id="270996182" name="Rectangle 35"/>
          <p:cNvSpPr/>
          <p:nvPr/>
        </p:nvSpPr>
        <p:spPr bwMode="auto">
          <a:xfrm>
            <a:off x="548640" y="4965192"/>
            <a:ext cx="2286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678492034" name="TextBox 36"/>
          <p:cNvSpPr txBox="1"/>
          <p:nvPr/>
        </p:nvSpPr>
        <p:spPr bwMode="auto">
          <a:xfrm>
            <a:off x="685800" y="4965192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message_logs</a:t>
            </a:r>
            <a:endParaRPr/>
          </a:p>
        </p:txBody>
      </p:sp>
      <p:sp>
        <p:nvSpPr>
          <p:cNvPr id="227289140" name="Rectangle 37"/>
          <p:cNvSpPr/>
          <p:nvPr/>
        </p:nvSpPr>
        <p:spPr bwMode="auto">
          <a:xfrm>
            <a:off x="2834640" y="4965192"/>
            <a:ext cx="42062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13915655" name="TextBox 38"/>
          <p:cNvSpPr txBox="1"/>
          <p:nvPr/>
        </p:nvSpPr>
        <p:spPr bwMode="auto">
          <a:xfrm>
            <a:off x="2971800" y="4965192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donor_id / staff_id, campaign_id, status, sent_at</a:t>
            </a:r>
            <a:endParaRPr/>
          </a:p>
        </p:txBody>
      </p:sp>
      <p:sp>
        <p:nvSpPr>
          <p:cNvPr id="1641229200" name="Rectangle 39"/>
          <p:cNvSpPr/>
          <p:nvPr/>
        </p:nvSpPr>
        <p:spPr bwMode="auto">
          <a:xfrm>
            <a:off x="7040880" y="4965192"/>
            <a:ext cx="457200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27739374" name="TextBox 40"/>
          <p:cNvSpPr txBox="1"/>
          <p:nvPr/>
        </p:nvSpPr>
        <p:spPr bwMode="auto">
          <a:xfrm>
            <a:off x="7178039" y="4965192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Full audit trail of every WhatsApp/SMS sent</a:t>
            </a:r>
            <a:endParaRPr/>
          </a:p>
        </p:txBody>
      </p:sp>
      <p:sp>
        <p:nvSpPr>
          <p:cNvPr id="464787661" name="Rectangle 41"/>
          <p:cNvSpPr/>
          <p:nvPr/>
        </p:nvSpPr>
        <p:spPr bwMode="auto">
          <a:xfrm>
            <a:off x="548640" y="5715000"/>
            <a:ext cx="2286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769788532" name="TextBox 42"/>
          <p:cNvSpPr txBox="1"/>
          <p:nvPr/>
        </p:nvSpPr>
        <p:spPr bwMode="auto">
          <a:xfrm>
            <a:off x="685800" y="5715000"/>
            <a:ext cx="2011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admins, staff,</a:t>
            </a:r>
            <a:endParaRPr/>
          </a:p>
          <a:p>
            <a:pPr algn="l">
              <a:lnSpc>
                <a:spcPct val="105000"/>
              </a:lnSpc>
              <a:defRPr/>
            </a:pPr>
            <a:r>
              <a:rPr sz="1150" b="1" i="0">
                <a:solidFill>
                  <a:srgbClr val="212938"/>
                </a:solidFill>
                <a:latin typeface="Calibri"/>
              </a:rPr>
              <a:t>login_attempts</a:t>
            </a:r>
            <a:endParaRPr/>
          </a:p>
        </p:txBody>
      </p:sp>
      <p:sp>
        <p:nvSpPr>
          <p:cNvPr id="1457860266" name="Rectangle 43"/>
          <p:cNvSpPr/>
          <p:nvPr/>
        </p:nvSpPr>
        <p:spPr bwMode="auto">
          <a:xfrm>
            <a:off x="2834640" y="5715000"/>
            <a:ext cx="420624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19990310" name="TextBox 44"/>
          <p:cNvSpPr txBox="1"/>
          <p:nvPr/>
        </p:nvSpPr>
        <p:spPr bwMode="auto">
          <a:xfrm>
            <a:off x="2971800" y="5715000"/>
            <a:ext cx="393192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email/password, name/mobile, ip_address</a:t>
            </a:r>
            <a:endParaRPr/>
          </a:p>
        </p:txBody>
      </p:sp>
      <p:sp>
        <p:nvSpPr>
          <p:cNvPr id="241859940" name="Rectangle 45"/>
          <p:cNvSpPr/>
          <p:nvPr/>
        </p:nvSpPr>
        <p:spPr bwMode="auto">
          <a:xfrm>
            <a:off x="7040880" y="5715000"/>
            <a:ext cx="4572000" cy="749808"/>
          </a:xfrm>
          <a:prstGeom prst="rect">
            <a:avLst/>
          </a:prstGeom>
          <a:solidFill>
            <a:srgbClr val="F3F4F6"/>
          </a:solidFill>
          <a:ln w="9525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945006412" name="TextBox 46"/>
          <p:cNvSpPr txBox="1"/>
          <p:nvPr/>
        </p:nvSpPr>
        <p:spPr bwMode="auto">
          <a:xfrm>
            <a:off x="7178039" y="5715000"/>
            <a:ext cx="4297680" cy="7498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defRPr/>
            </a:pPr>
            <a:r>
              <a:rPr sz="1150" b="0" i="0">
                <a:solidFill>
                  <a:srgbClr val="212938"/>
                </a:solidFill>
                <a:latin typeface="Calibri"/>
              </a:rPr>
              <a:t>Accounts, committee members, brute-force throttling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962772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8. Security &amp; Reliability</a:t>
            </a:r>
            <a:endParaRPr/>
          </a:p>
        </p:txBody>
      </p:sp>
      <p:sp>
        <p:nvSpPr>
          <p:cNvPr id="14871539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Hardening applied on top of the base CRUD app.</a:t>
            </a:r>
            <a:endParaRPr/>
          </a:p>
        </p:txBody>
      </p:sp>
      <p:sp>
        <p:nvSpPr>
          <p:cNvPr id="468748884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483920731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9</a:t>
            </a:r>
            <a:endParaRPr/>
          </a:p>
        </p:txBody>
      </p:sp>
      <p:sp>
        <p:nvSpPr>
          <p:cNvPr id="11945830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Authentication — JWT in an httpOnly cookie (XSS-resistant), bcrypt-hashed passwords, session-aware CORS.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Brute-force throttling — login_attempts table caps failures per email and per IP within a rolling window.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SQL injection — every query goes through mysql2's parameterised placeholders; no string concatenation.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Account changes — changing name, email or password requires re-entering the current password.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Fail closed — a global error handler returns a generic message instead of leaking stack traces to clients.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 integrity — foreign keys with explicit ON DELETE rules; a schema_migrations ledger tracks what ran.</a:t>
            </a:r>
            <a:endParaRPr/>
          </a:p>
          <a:p>
            <a:pPr>
              <a:lnSpc>
                <a:spcPct val="110000"/>
              </a:lnSpc>
              <a:spcAft>
                <a:spcPts val="11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Excel import/export — size-capped uploads, mobile-number normalisation, garbled-CSV detection.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2852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10. Testing &amp; Verification</a:t>
            </a:r>
            <a:endParaRPr/>
          </a:p>
        </p:txBody>
      </p:sp>
      <p:sp>
        <p:nvSpPr>
          <p:cNvPr id="1356427980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How the fixed system was verified before this presentation.</a:t>
            </a:r>
            <a:endParaRPr/>
          </a:p>
        </p:txBody>
      </p:sp>
      <p:sp>
        <p:nvSpPr>
          <p:cNvPr id="844406185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421706829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11</a:t>
            </a:r>
            <a:endParaRPr/>
          </a:p>
        </p:txBody>
      </p:sp>
      <p:sp>
        <p:nvSpPr>
          <p:cNvPr id="844745846" name="TextBox 5"/>
          <p:cNvSpPr txBox="1"/>
          <p:nvPr/>
        </p:nvSpPr>
        <p:spPr bwMode="auto">
          <a:xfrm>
            <a:off x="822960" y="155448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Full source audit across the Vue 3 frontend, Express API and MySQL schema — request/response contracts, SQL correctness and router paths checked file by file.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Deployed and tested the frontend, backend, and database successfully.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Live endpoint checks after fixes: login and session flow, donor CRUD and search, camp finance summary and category totals, camp-register lookup, and Excel report export.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Data-integrity check: fresh-install seed data (donors, camps, templates, message logs) loads without foreign-key errors.</a:t>
            </a:r>
            <a:endParaRPr/>
          </a:p>
          <a:p>
            <a:pPr>
              <a:lnSpc>
                <a:spcPct val="110000"/>
              </a:lnSpc>
              <a:spcAft>
                <a:spcPts val="13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Regression check: values written through the fixed endpoints (e.g. new contribution categories) were re-read back correctly, then the test rows were removed — the database ships clean.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050477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11. Deployment</a:t>
            </a:r>
            <a:endParaRPr/>
          </a:p>
        </p:txBody>
      </p:sp>
      <p:sp>
        <p:nvSpPr>
          <p:cNvPr id="417132766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Deployed on standard web hosting.</a:t>
            </a:r>
            <a:endParaRPr/>
          </a:p>
        </p:txBody>
      </p:sp>
      <p:sp>
        <p:nvSpPr>
          <p:cNvPr id="1713272671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07391677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12</a:t>
            </a:r>
            <a:endParaRPr/>
          </a:p>
        </p:txBody>
      </p:sp>
      <p:sp>
        <p:nvSpPr>
          <p:cNvPr id="1840213811" name="TextBox 5"/>
          <p:cNvSpPr txBox="1"/>
          <p:nvPr/>
        </p:nvSpPr>
        <p:spPr bwMode="auto">
          <a:xfrm>
            <a:off x="822960" y="1554480"/>
            <a:ext cx="6035039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/>
            </a:pPr>
            <a:r>
              <a:rPr/>
              <a:t>▪ Deployed online using standard web hosting services.</a:t>
            </a:r>
            <a:endParaRPr/>
          </a:p>
          <a:p>
            <a:pPr>
              <a:defRPr/>
            </a:pPr>
            <a:r>
              <a:rPr/>
              <a:t>▪ Frontend is a Vue 3 Single Page Application.</a:t>
            </a:r>
            <a:endParaRPr/>
          </a:p>
          <a:p>
            <a:pPr>
              <a:defRPr/>
            </a:pPr>
            <a:r>
              <a:rPr/>
              <a:t>▪ Backend is a Node.js REST API.</a:t>
            </a:r>
            <a:endParaRPr/>
          </a:p>
          <a:p>
            <a:pPr>
              <a:defRPr/>
            </a:pPr>
            <a:r>
              <a:rPr/>
              <a:t>▪ Database is MySQL/MariaDB.</a:t>
            </a:r>
            <a:endParaRPr/>
          </a:p>
        </p:txBody>
      </p:sp>
      <p:sp>
        <p:nvSpPr>
          <p:cNvPr id="1030067791" name="Rounded Rectangle 6"/>
          <p:cNvSpPr/>
          <p:nvPr/>
        </p:nvSpPr>
        <p:spPr bwMode="auto">
          <a:xfrm>
            <a:off x="7178039" y="1600200"/>
            <a:ext cx="4206240" cy="3931920"/>
          </a:xfrm>
          <a:prstGeom prst="roundRect">
            <a:avLst>
              <a:gd name="adj" fmla="val 4000"/>
            </a:avLst>
          </a:prstGeom>
          <a:solidFill>
            <a:srgbClr val="2129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571167787" name="TextBox 7"/>
          <p:cNvSpPr txBox="1"/>
          <p:nvPr/>
        </p:nvSpPr>
        <p:spPr bwMode="auto">
          <a:xfrm>
            <a:off x="7498080" y="1874519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300" b="1" i="0">
                <a:solidFill>
                  <a:srgbClr val="E5E7EB"/>
                </a:solidFill>
                <a:latin typeface="Calibri"/>
              </a:rPr>
              <a:t>System Architecture</a:t>
            </a:r>
            <a:endParaRPr/>
          </a:p>
        </p:txBody>
      </p:sp>
      <p:sp>
        <p:nvSpPr>
          <p:cNvPr id="1462342660" name="TextBox 8"/>
          <p:cNvSpPr txBox="1"/>
          <p:nvPr/>
        </p:nvSpPr>
        <p:spPr bwMode="auto">
          <a:xfrm>
            <a:off x="7498080" y="2331720"/>
            <a:ext cx="3612240" cy="823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Frontend: Vue 3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Backend: Node.js / Express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Database: MySQL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055848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12. Benefits &amp; Future Scope</a:t>
            </a:r>
            <a:endParaRPr/>
          </a:p>
        </p:txBody>
      </p:sp>
      <p:sp>
        <p:nvSpPr>
          <p:cNvPr id="1061150838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Impact today, and what's still ahead.</a:t>
            </a:r>
            <a:endParaRPr/>
          </a:p>
        </p:txBody>
      </p:sp>
      <p:sp>
        <p:nvSpPr>
          <p:cNvPr id="1099910191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776097169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13</a:t>
            </a:r>
            <a:endParaRPr/>
          </a:p>
        </p:txBody>
      </p:sp>
      <p:sp>
        <p:nvSpPr>
          <p:cNvPr id="2011752532" name="TextBox 5"/>
          <p:cNvSpPr txBox="1"/>
          <p:nvPr/>
        </p:nvSpPr>
        <p:spPr bwMode="auto">
          <a:xfrm>
            <a:off x="822960" y="155448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One system replaces paper registers, spreadsheets and ad-hoc phone calls for running a camp.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Chunked, deduplicated messaging safely reaches hundreds of donors without double-sending.</a:t>
            </a:r>
            <a:endParaRPr/>
          </a:p>
          <a:p>
            <a:pPr>
              <a:lnSpc>
                <a:spcPct val="110000"/>
              </a:lnSpc>
              <a:spcAft>
                <a:spcPts val="1000"/>
              </a:spcAft>
              <a:defRPr/>
            </a:pPr>
            <a:r>
              <a:rPr sz="1500">
                <a:solidFill>
                  <a:srgbClr val="212938"/>
                </a:solidFill>
                <a:latin typeface="Calibri"/>
              </a:rPr>
              <a:t>▪  Clear separation of cash vs. in-kind donations gives organisers an honest, auditable budget picture.</a:t>
            </a:r>
            <a:endParaRPr/>
          </a:p>
        </p:txBody>
      </p:sp>
      <p:sp>
        <p:nvSpPr>
          <p:cNvPr id="1122586286" name="TextBox 6"/>
          <p:cNvSpPr txBox="1"/>
          <p:nvPr/>
        </p:nvSpPr>
        <p:spPr bwMode="auto">
          <a:xfrm>
            <a:off x="822960" y="3429000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600" b="1" i="0">
                <a:solidFill>
                  <a:srgbClr val="B41E2E"/>
                </a:solidFill>
                <a:latin typeface="Calibri"/>
              </a:rPr>
              <a:t>Outstanding / Roadmap</a:t>
            </a:r>
            <a:endParaRPr/>
          </a:p>
        </p:txBody>
      </p:sp>
      <p:sp>
        <p:nvSpPr>
          <p:cNvPr id="926870955" name="TextBox 7"/>
          <p:cNvSpPr txBox="1"/>
          <p:nvPr/>
        </p:nvSpPr>
        <p:spPr bwMode="auto">
          <a:xfrm>
            <a:off x="822960" y="384048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Get the three WhatsApp templates (camp notice, emergency, general) approved in WhatsApp Manager.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Register the organisation's own WhatsApp number and an 11-character approved SMS sender ID.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Finish transcribing the remaining paper register pages (~19) into the donor database.</a:t>
            </a:r>
            <a:endParaRPr/>
          </a:p>
          <a:p>
            <a:pPr>
              <a:lnSpc>
                <a:spcPct val="110000"/>
              </a:lnSpc>
              <a:spcAft>
                <a:spcPts val="900"/>
              </a:spcAft>
              <a:defRPr/>
            </a:pPr>
            <a:r>
              <a:rPr sz="1400">
                <a:solidFill>
                  <a:srgbClr val="212938"/>
                </a:solidFill>
                <a:latin typeface="Calibri"/>
              </a:rPr>
              <a:t>▪  Admin dashboard widgets for donor-retention trends and per-camp turnout over time.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FFFFF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097321" name="TextBox 1"/>
          <p:cNvSpPr txBox="1"/>
          <p:nvPr/>
        </p:nvSpPr>
        <p:spPr bwMode="auto">
          <a:xfrm>
            <a:off x="0" y="2286000"/>
            <a:ext cx="12191695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4400" b="1" i="0">
                <a:solidFill>
                  <a:srgbClr val="B41E2E"/>
                </a:solidFill>
                <a:latin typeface="Calibri"/>
              </a:rPr>
              <a:t>Thank You</a:t>
            </a:r>
            <a:endParaRPr/>
          </a:p>
        </p:txBody>
      </p:sp>
      <p:sp>
        <p:nvSpPr>
          <p:cNvPr id="137463821" name="TextBox 2"/>
          <p:cNvSpPr txBox="1"/>
          <p:nvPr/>
        </p:nvSpPr>
        <p:spPr bwMode="auto">
          <a:xfrm>
            <a:off x="0" y="3154680"/>
            <a:ext cx="12191695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2200" b="1" i="0">
                <a:solidFill>
                  <a:srgbClr val="212938"/>
                </a:solidFill>
                <a:latin typeface="Calibri"/>
              </a:rPr>
              <a:t>Questions &amp; Answers</a:t>
            </a:r>
            <a:endParaRPr/>
          </a:p>
        </p:txBody>
      </p:sp>
      <p:sp>
        <p:nvSpPr>
          <p:cNvPr id="1851734886" name="TextBox 3"/>
          <p:cNvSpPr txBox="1"/>
          <p:nvPr/>
        </p:nvSpPr>
        <p:spPr bwMode="auto">
          <a:xfrm>
            <a:off x="0" y="4251960"/>
            <a:ext cx="121916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DotLife</a:t>
            </a:r>
            <a:endParaRPr/>
          </a:p>
          <a:p>
            <a:pPr algn="ctr">
              <a:lnSpc>
                <a:spcPct val="130000"/>
              </a:lnSpc>
              <a:defRPr/>
            </a:pPr>
            <a:r>
              <a:rPr sz="1500" b="0" i="0">
                <a:solidFill>
                  <a:srgbClr val="6B7280"/>
                </a:solidFill>
                <a:latin typeface="Calibri"/>
              </a:rPr>
              <a:t>Vue 3  •  Node.js / Express  •  MySQL  •  </a:t>
            </a:r>
            <a:endParaRPr/>
          </a:p>
        </p:txBody>
      </p:sp>
      <p:sp>
        <p:nvSpPr>
          <p:cNvPr id="536770604" name="TextBox 4"/>
          <p:cNvSpPr txBox="1"/>
          <p:nvPr/>
        </p:nvSpPr>
        <p:spPr bwMode="auto">
          <a:xfrm>
            <a:off x="0" y="5349240"/>
            <a:ext cx="121916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600" b="1" i="1">
                <a:solidFill>
                  <a:srgbClr val="B41E2E"/>
                </a:solidFill>
                <a:latin typeface="Calibri"/>
              </a:rPr>
              <a:t>“A small contribution can save a life.”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rgbClr val="F8F9F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25066437" name="TextBox 1"/>
          <p:cNvSpPr txBox="1"/>
          <p:nvPr/>
        </p:nvSpPr>
        <p:spPr bwMode="auto">
          <a:xfrm>
            <a:off x="548640" y="384048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3000" b="1" i="0">
                <a:solidFill>
                  <a:srgbClr val="B41E2E"/>
                </a:solidFill>
                <a:latin typeface="Calibri"/>
              </a:rPr>
              <a:t>9. Application Screens</a:t>
            </a:r>
            <a:endParaRPr/>
          </a:p>
        </p:txBody>
      </p:sp>
      <p:sp>
        <p:nvSpPr>
          <p:cNvPr id="1696572764" name="TextBox 2"/>
          <p:cNvSpPr txBox="1"/>
          <p:nvPr/>
        </p:nvSpPr>
        <p:spPr bwMode="auto">
          <a:xfrm>
            <a:off x="566928" y="9601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1400" b="0" i="0">
                <a:solidFill>
                  <a:srgbClr val="6B7280"/>
                </a:solidFill>
                <a:latin typeface="Calibri"/>
              </a:rPr>
              <a:t>Key screens in the admin console.</a:t>
            </a:r>
            <a:endParaRPr/>
          </a:p>
        </p:txBody>
      </p:sp>
      <p:sp>
        <p:nvSpPr>
          <p:cNvPr id="1616772776" name="TextBox 3"/>
          <p:cNvSpPr txBox="1"/>
          <p:nvPr/>
        </p:nvSpPr>
        <p:spPr bwMode="auto"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DotLife  |  Vue 3 + Node.js + MySQL  |  Project Presentation</a:t>
            </a:r>
            <a:endParaRPr/>
          </a:p>
        </p:txBody>
      </p:sp>
      <p:sp>
        <p:nvSpPr>
          <p:cNvPr id="1595364753" name="TextBox 4"/>
          <p:cNvSpPr txBox="1"/>
          <p:nvPr/>
        </p:nvSpPr>
        <p:spPr bwMode="auto">
          <a:xfrm>
            <a:off x="11338560" y="6473952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defRPr/>
            </a:pPr>
            <a:r>
              <a:rPr sz="900" b="0" i="0">
                <a:solidFill>
                  <a:srgbClr val="9CA3AF"/>
                </a:solidFill>
                <a:latin typeface="Calibri"/>
              </a:rPr>
              <a:t>10</a:t>
            </a:r>
            <a:endParaRPr/>
          </a:p>
        </p:txBody>
      </p:sp>
      <p:sp>
        <p:nvSpPr>
          <p:cNvPr id="940918929" name="Rounded Rectangle 5"/>
          <p:cNvSpPr/>
          <p:nvPr/>
        </p:nvSpPr>
        <p:spPr bwMode="auto">
          <a:xfrm>
            <a:off x="82296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067394318" name="TextBox 6"/>
          <p:cNvSpPr txBox="1"/>
          <p:nvPr/>
        </p:nvSpPr>
        <p:spPr bwMode="auto">
          <a:xfrm>
            <a:off x="82296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042542667" name="TextBox 7"/>
          <p:cNvSpPr txBox="1"/>
          <p:nvPr/>
        </p:nvSpPr>
        <p:spPr bwMode="auto">
          <a:xfrm>
            <a:off x="82296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Dashboard</a:t>
            </a:r>
            <a:endParaRPr/>
          </a:p>
        </p:txBody>
      </p:sp>
      <p:sp>
        <p:nvSpPr>
          <p:cNvPr id="757051006" name="Rounded Rectangle 8"/>
          <p:cNvSpPr/>
          <p:nvPr/>
        </p:nvSpPr>
        <p:spPr bwMode="auto">
          <a:xfrm>
            <a:off x="443484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490840064" name="TextBox 9"/>
          <p:cNvSpPr txBox="1"/>
          <p:nvPr/>
        </p:nvSpPr>
        <p:spPr bwMode="auto">
          <a:xfrm>
            <a:off x="443484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158941709" name="TextBox 10"/>
          <p:cNvSpPr txBox="1"/>
          <p:nvPr/>
        </p:nvSpPr>
        <p:spPr bwMode="auto">
          <a:xfrm>
            <a:off x="443484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Donor Management</a:t>
            </a:r>
            <a:endParaRPr/>
          </a:p>
        </p:txBody>
      </p:sp>
      <p:sp>
        <p:nvSpPr>
          <p:cNvPr id="1206485357" name="Rounded Rectangle 11"/>
          <p:cNvSpPr/>
          <p:nvPr/>
        </p:nvSpPr>
        <p:spPr bwMode="auto">
          <a:xfrm>
            <a:off x="8046720" y="1600200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85087450" name="TextBox 12"/>
          <p:cNvSpPr txBox="1"/>
          <p:nvPr/>
        </p:nvSpPr>
        <p:spPr bwMode="auto">
          <a:xfrm>
            <a:off x="8046720" y="2286000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5518571" name="TextBox 13"/>
          <p:cNvSpPr txBox="1"/>
          <p:nvPr/>
        </p:nvSpPr>
        <p:spPr bwMode="auto">
          <a:xfrm>
            <a:off x="8046720" y="301751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Camp Register</a:t>
            </a:r>
            <a:endParaRPr/>
          </a:p>
        </p:txBody>
      </p:sp>
      <p:sp>
        <p:nvSpPr>
          <p:cNvPr id="1165747536" name="Rounded Rectangle 14"/>
          <p:cNvSpPr/>
          <p:nvPr/>
        </p:nvSpPr>
        <p:spPr bwMode="auto">
          <a:xfrm>
            <a:off x="82296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327466820" name="TextBox 15"/>
          <p:cNvSpPr txBox="1"/>
          <p:nvPr/>
        </p:nvSpPr>
        <p:spPr bwMode="auto">
          <a:xfrm>
            <a:off x="82296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514326289" name="TextBox 16"/>
          <p:cNvSpPr txBox="1"/>
          <p:nvPr/>
        </p:nvSpPr>
        <p:spPr bwMode="auto">
          <a:xfrm>
            <a:off x="82296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Budget &amp; Donations</a:t>
            </a:r>
            <a:endParaRPr/>
          </a:p>
        </p:txBody>
      </p:sp>
      <p:sp>
        <p:nvSpPr>
          <p:cNvPr id="293383281" name="Rounded Rectangle 17"/>
          <p:cNvSpPr/>
          <p:nvPr/>
        </p:nvSpPr>
        <p:spPr bwMode="auto">
          <a:xfrm>
            <a:off x="443484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790250848" name="TextBox 18"/>
          <p:cNvSpPr txBox="1"/>
          <p:nvPr/>
        </p:nvSpPr>
        <p:spPr bwMode="auto">
          <a:xfrm>
            <a:off x="443484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2060479475" name="TextBox 19"/>
          <p:cNvSpPr txBox="1"/>
          <p:nvPr/>
        </p:nvSpPr>
        <p:spPr bwMode="auto">
          <a:xfrm>
            <a:off x="443484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Messaging &amp; Templates</a:t>
            </a:r>
            <a:endParaRPr/>
          </a:p>
        </p:txBody>
      </p:sp>
      <p:sp>
        <p:nvSpPr>
          <p:cNvPr id="222393255" name="Rounded Rectangle 20"/>
          <p:cNvSpPr/>
          <p:nvPr/>
        </p:nvSpPr>
        <p:spPr bwMode="auto">
          <a:xfrm>
            <a:off x="8046720" y="3977639"/>
            <a:ext cx="333756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DC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/>
          </a:p>
        </p:txBody>
      </p:sp>
      <p:sp>
        <p:nvSpPr>
          <p:cNvPr id="1493440994" name="TextBox 21"/>
          <p:cNvSpPr txBox="1"/>
          <p:nvPr/>
        </p:nvSpPr>
        <p:spPr bwMode="auto">
          <a:xfrm>
            <a:off x="8046720" y="466343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9CA3AF"/>
                </a:solidFill>
                <a:latin typeface="Calibri"/>
              </a:rPr>
              <a:t>SCREENSHOT</a:t>
            </a:r>
            <a:endParaRPr/>
          </a:p>
        </p:txBody>
      </p:sp>
      <p:sp>
        <p:nvSpPr>
          <p:cNvPr id="1615226347" name="TextBox 22"/>
          <p:cNvSpPr txBox="1"/>
          <p:nvPr/>
        </p:nvSpPr>
        <p:spPr bwMode="auto">
          <a:xfrm>
            <a:off x="8046720" y="5394959"/>
            <a:ext cx="3337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defRPr/>
            </a:pPr>
            <a:r>
              <a:rPr sz="1500" b="1" i="0">
                <a:solidFill>
                  <a:srgbClr val="B41E2E"/>
                </a:solidFill>
                <a:latin typeface="Calibri"/>
              </a:rPr>
              <a:t>Reports</a:t>
            </a:r>
            <a:endParaRPr/>
          </a:p>
        </p:txBody>
      </p:sp>
      <p:pic>
        <p:nvPicPr>
          <p:cNvPr id="1557652207" name="Picture 23" descr="landin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104528" y="1914106"/>
            <a:ext cx="2774422" cy="1560612"/>
          </a:xfrm>
          <a:prstGeom prst="rect">
            <a:avLst/>
          </a:prstGeom>
        </p:spPr>
      </p:pic>
      <p:pic>
        <p:nvPicPr>
          <p:cNvPr id="185811230" name="Picture 24" descr="login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5806440" y="384048"/>
            <a:ext cx="4064000" cy="2286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4174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Dashboard</a:t>
            </a:r>
            <a:endParaRPr/>
          </a:p>
        </p:txBody>
      </p:sp>
      <p:pic>
        <p:nvPicPr>
          <p:cNvPr id="1945217659" name="Picture 2" descr="Dashboar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09841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Donor Management</a:t>
            </a:r>
            <a:endParaRPr/>
          </a:p>
        </p:txBody>
      </p:sp>
      <p:pic>
        <p:nvPicPr>
          <p:cNvPr id="1458438368" name="Picture 2" descr="Donor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482652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Camp Register</a:t>
            </a:r>
            <a:endParaRPr/>
          </a:p>
        </p:txBody>
      </p:sp>
      <p:pic>
        <p:nvPicPr>
          <p:cNvPr id="1757197186" name="Picture 2" descr="Register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7029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Budget &amp; Donations</a:t>
            </a:r>
            <a:endParaRPr/>
          </a:p>
        </p:txBody>
      </p:sp>
      <p:pic>
        <p:nvPicPr>
          <p:cNvPr id="453444831" name="Picture 2" descr="Budge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107283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Messaging &amp; Templates</a:t>
            </a:r>
            <a:endParaRPr/>
          </a:p>
        </p:txBody>
      </p:sp>
      <p:pic>
        <p:nvPicPr>
          <p:cNvPr id="99165585" name="Picture 2" descr="Message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734568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Application Screens: Reports</a:t>
            </a:r>
            <a:endParaRPr/>
          </a:p>
        </p:txBody>
      </p:sp>
      <p:pic>
        <p:nvPicPr>
          <p:cNvPr id="1997478253" name="Picture 2" descr="Reports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34583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Website: Landing Page</a:t>
            </a:r>
            <a:endParaRPr/>
          </a:p>
        </p:txBody>
      </p:sp>
      <p:pic>
        <p:nvPicPr>
          <p:cNvPr id="70921823" name="Picture 2" descr="Landing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6377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Website: About Us</a:t>
            </a:r>
            <a:endParaRPr/>
          </a:p>
        </p:txBody>
      </p:sp>
      <p:pic>
        <p:nvPicPr>
          <p:cNvPr id="1457839754" name="Picture 2" descr="Abou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44435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Website: Gallery</a:t>
            </a:r>
            <a:endParaRPr/>
          </a:p>
        </p:txBody>
      </p:sp>
      <p:pic>
        <p:nvPicPr>
          <p:cNvPr id="481006908" name="Picture 2" descr="Gallery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09311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Website: Contact</a:t>
            </a:r>
            <a:endParaRPr/>
          </a:p>
        </p:txBody>
      </p:sp>
      <p:pic>
        <p:nvPicPr>
          <p:cNvPr id="2112934907" name="Picture 2" descr="Contac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491245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Website: Login Portal</a:t>
            </a:r>
            <a:endParaRPr/>
          </a:p>
        </p:txBody>
      </p:sp>
      <p:pic>
        <p:nvPicPr>
          <p:cNvPr id="1907385586" name="Picture 2" descr="Logi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815817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User Portal: Dashboard</a:t>
            </a:r>
            <a:endParaRPr/>
          </a:p>
        </p:txBody>
      </p:sp>
      <p:pic>
        <p:nvPicPr>
          <p:cNvPr id="2027004681" name="Picture 2" descr="User_Dashboar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775789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User Portal: Available Blood</a:t>
            </a:r>
            <a:endParaRPr/>
          </a:p>
        </p:txBody>
      </p:sp>
      <p:pic>
        <p:nvPicPr>
          <p:cNvPr id="525573671" name="Picture 2" descr="User_AvailableBloo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851332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User Portal: Camp Registration</a:t>
            </a:r>
            <a:endParaRPr/>
          </a:p>
        </p:txBody>
      </p:sp>
      <p:pic>
        <p:nvPicPr>
          <p:cNvPr id="1126004044" name="Picture 2" descr="User_CampRegistration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74617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User Portal: Blood Request</a:t>
            </a:r>
            <a:endParaRPr/>
          </a:p>
        </p:txBody>
      </p:sp>
      <p:pic>
        <p:nvPicPr>
          <p:cNvPr id="2100707889" name="Picture 2" descr="User_BloodRequest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2318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User Portal: Profile</a:t>
            </a:r>
            <a:endParaRPr/>
          </a:p>
        </p:txBody>
      </p:sp>
      <p:pic>
        <p:nvPicPr>
          <p:cNvPr id="1078194988" name="Picture 2" descr="User_Profile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457200" y="1371600"/>
            <a:ext cx="8229600" cy="37097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">
      <a:majorFont>
        <a:latin typeface="Calibri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ONLYOFFICE/9.4.0.129</Application>
  <PresentationFormat>On-screen Show (4:3)</PresentationFormat>
  <Paragraphs>0</Paragraphs>
  <Slides>30</Slides>
  <Notes>30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1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Manager/>
  <Company/>
  <LinksUpToDate>0</LinksUpToDate>
  <SharedDoc>0</SharedDoc>
  <HyperlinkBase/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4</cp:revision>
  <dcterms:created xsi:type="dcterms:W3CDTF">2013-01-27T09:14:16Z</dcterms:created>
  <dcterms:modified xsi:type="dcterms:W3CDTF">2026-09-18T19:01:17Z</dcterms:modified>
  <cp:category/>
</cp:coreProperties>
</file>