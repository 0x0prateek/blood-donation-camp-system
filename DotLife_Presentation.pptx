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2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tableStyles" Target="tableStyles.xml"/><Relationship Id="rId27" Type="http://schemas.openxmlformats.org/officeDocument/2006/relationships/viewProps" Target="viewProps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207253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646423928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6389707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14052616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502358648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2895922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17459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800723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55501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BDF883A-B640-83F1-3130-8A6C250B348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25264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945932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20003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E014D6-FD41-F37D-6701-9FA474D730A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68519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34202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35692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223B7B6-77AD-E680-6A62-D10E3BC193F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1576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972678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48193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3D7ACF-B8CF-30FA-7D11-5ECADD23DF5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39459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497325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56953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1A6C32C-DA72-C3D8-66AD-B9286F5F48D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80690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72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34854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858B6E-7B79-D92F-79B4-4305FEE480E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94220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766942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42042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A112B19-9514-FD47-4E97-AD307D5AB84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59611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92711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78309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76BD86-8208-4CB3-68DC-0C1F43DA188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14838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84893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35162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1972D63-8647-7FF9-15EB-24D170BF952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54746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372988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48255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B5088D6-B3BB-758E-2801-D78C72E89F7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8969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09418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31735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9439A2-0401-B198-BF02-F4B36083B1D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89471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66175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14356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564C5D-5BF6-1FE4-1B3D-A38DF04886B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642888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74362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56155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E31ABE-29F9-189E-BCEC-2BF023D1688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312328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75885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068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5C4F2D-006B-6C43-1107-5C32D396642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E3EEBC-17A8-3135-E490-541257D6C4C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1D82CB4-9F95-CFA3-7FEC-621DC048B4D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F411A84-E738-F687-EFEF-2F270A01306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746648-14B9-F8E6-0DB6-2267EE64A38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352A4B0-50EB-F4DA-F06E-3FC8766E800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F26B921-D7D3-4FA5-7DA6-4E4C3FBEE0A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7684981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49723942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86817320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86540254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7683872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132851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7787275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5033039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87999814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1069733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3149464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0381553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6242079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8334306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0543086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420453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97477388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916577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715887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61506503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3480837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552343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0987122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1710069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31730692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55833749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14236922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793047251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1827651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27883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46532975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479983463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38666696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4377815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558634055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39359195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3399689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11511197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0158675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6699778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3155017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3029174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8603762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13458918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68954278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8181083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17908621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0322235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195450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77046629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5448668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210528273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473077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204795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42457140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959195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84306868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1284650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9706677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3628069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2095042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2042954348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22629378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media1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8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2860866" name="Rectangle 1"/>
          <p:cNvSpPr/>
          <p:nvPr/>
        </p:nvSpPr>
        <p:spPr bwMode="auto">
          <a:xfrm>
            <a:off x="0" y="0"/>
            <a:ext cx="4206240" cy="6858000"/>
          </a:xfrm>
          <a:prstGeom prst="rect">
            <a:avLst/>
          </a:prstGeom>
          <a:solidFill>
            <a:srgbClr val="B4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48683105" name="TextBox 2"/>
          <p:cNvSpPr txBox="1"/>
          <p:nvPr/>
        </p:nvSpPr>
        <p:spPr bwMode="auto">
          <a:xfrm>
            <a:off x="502920" y="2331720"/>
            <a:ext cx="3386880" cy="21766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defRPr/>
            </a:pPr>
            <a:r>
              <a:rPr sz="3400" b="1" i="0">
                <a:solidFill>
                  <a:srgbClr val="FFFFFF"/>
                </a:solidFill>
                <a:latin typeface="Calibri"/>
              </a:rPr>
              <a:t>DotLife</a:t>
            </a:r>
            <a:endParaRPr/>
          </a:p>
          <a:p>
            <a:pPr algn="l">
              <a:lnSpc>
                <a:spcPct val="105000"/>
              </a:lnSpc>
              <a:defRPr/>
            </a:pPr>
            <a:r>
              <a:rPr sz="3400" b="1" i="0">
                <a:solidFill>
                  <a:srgbClr val="FFFFFF"/>
                </a:solidFill>
                <a:latin typeface="Calibri"/>
              </a:rPr>
              <a:t>BLOOD</a:t>
            </a:r>
            <a:endParaRPr sz="3400" b="1" i="0">
              <a:solidFill>
                <a:srgbClr val="FFFFFF"/>
              </a:solidFill>
              <a:latin typeface="Calibri"/>
            </a:endParaRPr>
          </a:p>
          <a:p>
            <a:pPr algn="l">
              <a:lnSpc>
                <a:spcPct val="105000"/>
              </a:lnSpc>
              <a:defRPr/>
            </a:pPr>
            <a:r>
              <a:rPr sz="3400" b="1" i="0">
                <a:solidFill>
                  <a:srgbClr val="FFFFFF"/>
                </a:solidFill>
                <a:latin typeface="Calibri"/>
              </a:rPr>
              <a:t>DONATION</a:t>
            </a:r>
            <a:endParaRPr/>
          </a:p>
          <a:p>
            <a:pPr algn="l">
              <a:lnSpc>
                <a:spcPct val="105000"/>
              </a:lnSpc>
              <a:defRPr/>
            </a:pPr>
            <a:r>
              <a:rPr sz="3400" b="1" i="0">
                <a:solidFill>
                  <a:srgbClr val="FFFFFF"/>
                </a:solidFill>
                <a:latin typeface="Calibri"/>
              </a:rPr>
              <a:t>CAMP SYSTEM</a:t>
            </a:r>
            <a:endParaRPr/>
          </a:p>
        </p:txBody>
      </p:sp>
      <p:sp>
        <p:nvSpPr>
          <p:cNvPr id="857805057" name="TextBox 3"/>
          <p:cNvSpPr txBox="1"/>
          <p:nvPr/>
        </p:nvSpPr>
        <p:spPr bwMode="auto">
          <a:xfrm>
            <a:off x="457200" y="4508352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500" b="0" i="0">
                <a:solidFill>
                  <a:srgbClr val="F3D2D6"/>
                </a:solidFill>
                <a:latin typeface="Calibri"/>
              </a:rPr>
              <a:t>Full-Stack Web Platform</a:t>
            </a:r>
            <a:endParaRPr/>
          </a:p>
        </p:txBody>
      </p:sp>
      <p:sp>
        <p:nvSpPr>
          <p:cNvPr id="56340838" name="TextBox 4"/>
          <p:cNvSpPr txBox="1"/>
          <p:nvPr/>
        </p:nvSpPr>
        <p:spPr bwMode="auto">
          <a:xfrm>
            <a:off x="4617720" y="1965960"/>
            <a:ext cx="6949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800" b="1" i="0">
                <a:solidFill>
                  <a:srgbClr val="B41E2E"/>
                </a:solidFill>
                <a:latin typeface="Calibri"/>
              </a:rPr>
              <a:t>Vue 3  •  Node.js / Express  •  MySQL  •  </a:t>
            </a:r>
            <a:endParaRPr/>
          </a:p>
        </p:txBody>
      </p:sp>
      <p:sp>
        <p:nvSpPr>
          <p:cNvPr id="874046199" name="TextBox 5"/>
          <p:cNvSpPr txBox="1"/>
          <p:nvPr/>
        </p:nvSpPr>
        <p:spPr bwMode="auto">
          <a:xfrm>
            <a:off x="4617720" y="2514599"/>
            <a:ext cx="6858720" cy="45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500" b="0" i="0">
                <a:solidFill>
                  <a:srgbClr val="212938"/>
                </a:solidFill>
                <a:latin typeface="Calibri"/>
              </a:rPr>
              <a:t>A production-style system for managing blood donors, donation camps, camp finances and multi-channel (WhatsApp/SMS) donor communication</a:t>
            </a:r>
            <a:endParaRPr/>
          </a:p>
        </p:txBody>
      </p:sp>
      <p:sp>
        <p:nvSpPr>
          <p:cNvPr id="1944245544" name="TextBox 6"/>
          <p:cNvSpPr txBox="1"/>
          <p:nvPr/>
        </p:nvSpPr>
        <p:spPr bwMode="auto">
          <a:xfrm>
            <a:off x="4617720" y="5074920"/>
            <a:ext cx="6875639" cy="4956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defRPr/>
            </a:pPr>
            <a:r>
              <a:rPr sz="1250" b="0" i="0">
                <a:solidFill>
                  <a:srgbClr val="6B7280"/>
                </a:solidFill>
                <a:latin typeface="Calibri"/>
              </a:rPr>
              <a:t>Presented by: Shivani P. Vaghela</a:t>
            </a:r>
            <a:endParaRPr/>
          </a:p>
          <a:p>
            <a:pPr algn="l">
              <a:lnSpc>
                <a:spcPct val="130000"/>
              </a:lnSpc>
              <a:defRPr/>
            </a:pPr>
            <a:r>
              <a:rPr sz="1250" b="0" i="0">
                <a:solidFill>
                  <a:srgbClr val="6B7280"/>
                </a:solidFill>
                <a:latin typeface="Calibri"/>
              </a:rPr>
              <a:t>Stack: Vue 3 SPA · Node/Express API · MariaDB </a:t>
            </a:r>
            <a:endParaRPr/>
          </a:p>
        </p:txBody>
      </p:sp>
      <p:pic>
        <p:nvPicPr>
          <p:cNvPr id="1847368664" name=""/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 flipH="0" flipV="0">
            <a:off x="502920" y="870809"/>
            <a:ext cx="1379471" cy="13794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8F9F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5492771" name="TextBox 1"/>
          <p:cNvSpPr txBox="1"/>
          <p:nvPr/>
        </p:nvSpPr>
        <p:spPr bwMode="auto">
          <a:xfrm>
            <a:off x="548640" y="384048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3000" b="1" i="0">
                <a:solidFill>
                  <a:srgbClr val="B41E2E"/>
                </a:solidFill>
                <a:latin typeface="Calibri"/>
              </a:rPr>
              <a:t>1. Project Overview</a:t>
            </a:r>
            <a:endParaRPr/>
          </a:p>
        </p:txBody>
      </p:sp>
      <p:sp>
        <p:nvSpPr>
          <p:cNvPr id="1599202410" name="TextBox 2"/>
          <p:cNvSpPr txBox="1"/>
          <p:nvPr/>
        </p:nvSpPr>
        <p:spPr bwMode="auto">
          <a:xfrm>
            <a:off x="566928" y="9601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400" b="0" i="0">
                <a:solidFill>
                  <a:srgbClr val="6B7280"/>
                </a:solidFill>
                <a:latin typeface="Calibri"/>
              </a:rPr>
              <a:t>A digital platform to organise blood donation camps end-to-end.</a:t>
            </a:r>
            <a:endParaRPr/>
          </a:p>
        </p:txBody>
      </p:sp>
      <p:sp>
        <p:nvSpPr>
          <p:cNvPr id="1699026150" name="TextBox 3"/>
          <p:cNvSpPr txBox="1"/>
          <p:nvPr/>
        </p:nvSpPr>
        <p:spPr bwMode="auto"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900" b="0" i="0">
                <a:solidFill>
                  <a:srgbClr val="9CA3AF"/>
                </a:solidFill>
                <a:latin typeface="Calibri"/>
              </a:rPr>
              <a:t>DotLife  |  Vue 3 + Node.js + MySQL  |  Project Presentation</a:t>
            </a:r>
            <a:endParaRPr/>
          </a:p>
        </p:txBody>
      </p:sp>
      <p:sp>
        <p:nvSpPr>
          <p:cNvPr id="1373080217" name="TextBox 4"/>
          <p:cNvSpPr txBox="1"/>
          <p:nvPr/>
        </p:nvSpPr>
        <p:spPr bwMode="auto"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/>
            </a:pPr>
            <a:r>
              <a:rPr sz="900" b="0" i="0">
                <a:solidFill>
                  <a:srgbClr val="9CA3AF"/>
                </a:solidFill>
                <a:latin typeface="Calibri"/>
              </a:rPr>
              <a:t>2</a:t>
            </a:r>
            <a:endParaRPr/>
          </a:p>
        </p:txBody>
      </p:sp>
      <p:sp>
        <p:nvSpPr>
          <p:cNvPr id="1038475304" name="TextBox 5"/>
          <p:cNvSpPr txBox="1"/>
          <p:nvPr/>
        </p:nvSpPr>
        <p:spPr bwMode="auto">
          <a:xfrm>
            <a:off x="822960" y="155448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400"/>
              </a:spcAft>
              <a:defRPr/>
            </a:pPr>
            <a:r>
              <a:rPr sz="1600">
                <a:solidFill>
                  <a:srgbClr val="212938"/>
                </a:solidFill>
                <a:latin typeface="Calibri"/>
              </a:rPr>
              <a:t>▪  Manages the full lifecycle of a blood donation drive: donors, camps, on-site registration, finances and outreach.</a:t>
            </a:r>
            <a:endParaRPr/>
          </a:p>
          <a:p>
            <a:pPr>
              <a:lnSpc>
                <a:spcPct val="110000"/>
              </a:lnSpc>
              <a:spcAft>
                <a:spcPts val="1400"/>
              </a:spcAft>
              <a:defRPr/>
            </a:pPr>
            <a:r>
              <a:rPr sz="1600">
                <a:solidFill>
                  <a:srgbClr val="212938"/>
                </a:solidFill>
                <a:latin typeface="Calibri"/>
              </a:rPr>
              <a:t>▪  A Vue 3 single-page app talks to a Node.js/Express REST API, backed by a MySQL/MariaDB relational database.</a:t>
            </a:r>
            <a:endParaRPr/>
          </a:p>
          <a:p>
            <a:pPr>
              <a:lnSpc>
                <a:spcPct val="110000"/>
              </a:lnSpc>
              <a:spcAft>
                <a:spcPts val="1400"/>
              </a:spcAft>
              <a:defRPr/>
            </a:pPr>
            <a:r>
              <a:rPr sz="1600">
                <a:solidFill>
                  <a:srgbClr val="212938"/>
                </a:solidFill>
                <a:latin typeface="Calibri"/>
              </a:rPr>
              <a:t>▪  Donor and camp records are normalised, indexed and searchable — built to hold 800+ real donor records.</a:t>
            </a:r>
            <a:endParaRPr/>
          </a:p>
          <a:p>
            <a:pPr>
              <a:lnSpc>
                <a:spcPct val="110000"/>
              </a:lnSpc>
              <a:spcAft>
                <a:spcPts val="1400"/>
              </a:spcAft>
              <a:defRPr/>
            </a:pPr>
            <a:r>
              <a:rPr sz="1600">
                <a:solidFill>
                  <a:srgbClr val="212938"/>
                </a:solidFill>
                <a:latin typeface="Calibri"/>
              </a:rPr>
              <a:t>▪  Multi-channel outreach: bulk WhatsApp (Meta Cloud API) and SMS (Notify.lk / Twilio), in English and Sinhala.</a:t>
            </a:r>
            <a:endParaRPr/>
          </a:p>
          <a:p>
            <a:pPr>
              <a:lnSpc>
                <a:spcPct val="110000"/>
              </a:lnSpc>
              <a:spcAft>
                <a:spcPts val="1400"/>
              </a:spcAft>
              <a:defRPr/>
            </a:pPr>
            <a:r>
              <a:rPr sz="1600">
                <a:solidFill>
                  <a:srgbClr val="212938"/>
                </a:solidFill>
                <a:latin typeface="Calibri"/>
              </a:rPr>
              <a:t>▪  Every write path (auth, CRUD, messaging, imports/exports) is authenticated and input-validated end to end.</a:t>
            </a:r>
            <a:endParaRPr/>
          </a:p>
          <a:p>
            <a:pPr>
              <a:lnSpc>
                <a:spcPct val="110000"/>
              </a:lnSpc>
              <a:spcAft>
                <a:spcPts val="1400"/>
              </a:spcAft>
              <a:defRPr/>
            </a:pPr>
            <a:r>
              <a:rPr sz="1600">
                <a:solidFill>
                  <a:srgbClr val="212938"/>
                </a:solidFill>
                <a:latin typeface="Calibri"/>
              </a:rPr>
              <a:t>▪  Ships fully modern — one command brings up the SPA, API and database together.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8F9F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6107311" name="TextBox 1"/>
          <p:cNvSpPr txBox="1"/>
          <p:nvPr/>
        </p:nvSpPr>
        <p:spPr bwMode="auto">
          <a:xfrm>
            <a:off x="548640" y="384048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3000" b="1" i="0">
                <a:solidFill>
                  <a:srgbClr val="B41E2E"/>
                </a:solidFill>
                <a:latin typeface="Calibri"/>
              </a:rPr>
              <a:t>2. Problem Statement</a:t>
            </a:r>
            <a:endParaRPr/>
          </a:p>
        </p:txBody>
      </p:sp>
      <p:sp>
        <p:nvSpPr>
          <p:cNvPr id="1482776647" name="TextBox 2"/>
          <p:cNvSpPr txBox="1"/>
          <p:nvPr/>
        </p:nvSpPr>
        <p:spPr bwMode="auto">
          <a:xfrm>
            <a:off x="566928" y="9601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400" b="0" i="0">
                <a:solidFill>
                  <a:srgbClr val="6B7280"/>
                </a:solidFill>
                <a:latin typeface="Calibri"/>
              </a:rPr>
              <a:t>What organising a blood camp on paper and spreadsheets looks like.</a:t>
            </a:r>
            <a:endParaRPr/>
          </a:p>
        </p:txBody>
      </p:sp>
      <p:sp>
        <p:nvSpPr>
          <p:cNvPr id="1233032593" name="TextBox 3"/>
          <p:cNvSpPr txBox="1"/>
          <p:nvPr/>
        </p:nvSpPr>
        <p:spPr bwMode="auto"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900" b="0" i="0">
                <a:solidFill>
                  <a:srgbClr val="9CA3AF"/>
                </a:solidFill>
                <a:latin typeface="Calibri"/>
              </a:rPr>
              <a:t>DotLife  |  Vue 3 + Node.js + MySQL  |  Project Presentation</a:t>
            </a:r>
            <a:endParaRPr/>
          </a:p>
        </p:txBody>
      </p:sp>
      <p:sp>
        <p:nvSpPr>
          <p:cNvPr id="1042459054" name="TextBox 4"/>
          <p:cNvSpPr txBox="1"/>
          <p:nvPr/>
        </p:nvSpPr>
        <p:spPr bwMode="auto"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/>
            </a:pPr>
            <a:r>
              <a:rPr sz="900" b="0" i="0">
                <a:solidFill>
                  <a:srgbClr val="9CA3AF"/>
                </a:solidFill>
                <a:latin typeface="Calibri"/>
              </a:rPr>
              <a:t>3</a:t>
            </a:r>
            <a:endParaRPr/>
          </a:p>
        </p:txBody>
      </p:sp>
      <p:sp>
        <p:nvSpPr>
          <p:cNvPr id="96711722" name="TextBox 5"/>
          <p:cNvSpPr txBox="1"/>
          <p:nvPr/>
        </p:nvSpPr>
        <p:spPr bwMode="auto">
          <a:xfrm>
            <a:off x="822960" y="155448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400"/>
              </a:spcAft>
              <a:defRPr/>
            </a:pPr>
            <a:r>
              <a:rPr sz="1600">
                <a:solidFill>
                  <a:srgbClr val="212938"/>
                </a:solidFill>
                <a:latin typeface="Calibri"/>
              </a:rPr>
              <a:t>▪  Donor registers are kept as paper books or scattered spreadsheets, organised by village or camp.</a:t>
            </a:r>
            <a:endParaRPr/>
          </a:p>
          <a:p>
            <a:pPr>
              <a:lnSpc>
                <a:spcPct val="110000"/>
              </a:lnSpc>
              <a:spcAft>
                <a:spcPts val="1400"/>
              </a:spcAft>
              <a:defRPr/>
            </a:pPr>
            <a:r>
              <a:rPr sz="1600">
                <a:solidFill>
                  <a:srgbClr val="212938"/>
                </a:solidFill>
                <a:latin typeface="Calibri"/>
              </a:rPr>
              <a:t>▪  Finding donors of a specific blood group who are due to donate again takes manual cross-checking.</a:t>
            </a:r>
            <a:endParaRPr/>
          </a:p>
          <a:p>
            <a:pPr>
              <a:lnSpc>
                <a:spcPct val="110000"/>
              </a:lnSpc>
              <a:spcAft>
                <a:spcPts val="1400"/>
              </a:spcAft>
              <a:defRPr/>
            </a:pPr>
            <a:r>
              <a:rPr sz="1600">
                <a:solidFill>
                  <a:srgbClr val="212938"/>
                </a:solidFill>
                <a:latin typeface="Calibri"/>
              </a:rPr>
              <a:t>▪  Announcing a camp means calling or messaging donors one by one — slow and easy to under- or over-send.</a:t>
            </a:r>
            <a:endParaRPr/>
          </a:p>
          <a:p>
            <a:pPr>
              <a:lnSpc>
                <a:spcPct val="110000"/>
              </a:lnSpc>
              <a:spcAft>
                <a:spcPts val="1400"/>
              </a:spcAft>
              <a:defRPr/>
            </a:pPr>
            <a:r>
              <a:rPr sz="1600">
                <a:solidFill>
                  <a:srgbClr val="212938"/>
                </a:solidFill>
                <a:latin typeface="Calibri"/>
              </a:rPr>
              <a:t>▪  Camp income (cash and in-kind donations) and expenses are tracked informally, if at all.</a:t>
            </a:r>
            <a:endParaRPr/>
          </a:p>
          <a:p>
            <a:pPr>
              <a:lnSpc>
                <a:spcPct val="110000"/>
              </a:lnSpc>
              <a:spcAft>
                <a:spcPts val="1400"/>
              </a:spcAft>
              <a:defRPr/>
            </a:pPr>
            <a:r>
              <a:rPr sz="1600">
                <a:solidFill>
                  <a:srgbClr val="212938"/>
                </a:solidFill>
                <a:latin typeface="Calibri"/>
              </a:rPr>
              <a:t>▪  No shared, auditable record of who attended a camp, who actually donated, and who was contacted when.</a:t>
            </a:r>
            <a:endParaRPr/>
          </a:p>
          <a:p>
            <a:pPr>
              <a:lnSpc>
                <a:spcPct val="110000"/>
              </a:lnSpc>
              <a:spcAft>
                <a:spcPts val="1400"/>
              </a:spcAft>
              <a:defRPr/>
            </a:pPr>
            <a:r>
              <a:rPr sz="1600">
                <a:solidFill>
                  <a:srgbClr val="212938"/>
                </a:solidFill>
                <a:latin typeface="Calibri"/>
              </a:rPr>
              <a:t>▪  Emergency blood requests have no fast way to reach the right blood group at scale.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8F9F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6359940" name="TextBox 1"/>
          <p:cNvSpPr txBox="1"/>
          <p:nvPr/>
        </p:nvSpPr>
        <p:spPr bwMode="auto">
          <a:xfrm>
            <a:off x="548640" y="384048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3000" b="1" i="0">
                <a:solidFill>
                  <a:srgbClr val="B41E2E"/>
                </a:solidFill>
                <a:latin typeface="Calibri"/>
              </a:rPr>
              <a:t>3. Objectives</a:t>
            </a:r>
            <a:endParaRPr/>
          </a:p>
        </p:txBody>
      </p:sp>
      <p:sp>
        <p:nvSpPr>
          <p:cNvPr id="1892682927" name="TextBox 2"/>
          <p:cNvSpPr txBox="1"/>
          <p:nvPr/>
        </p:nvSpPr>
        <p:spPr bwMode="auto">
          <a:xfrm>
            <a:off x="566928" y="9601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400" b="0" i="0">
                <a:solidFill>
                  <a:srgbClr val="6B7280"/>
                </a:solidFill>
                <a:latin typeface="Calibri"/>
              </a:rPr>
              <a:t>What the system sets out to achieve.</a:t>
            </a:r>
            <a:endParaRPr/>
          </a:p>
        </p:txBody>
      </p:sp>
      <p:sp>
        <p:nvSpPr>
          <p:cNvPr id="437938906" name="TextBox 3"/>
          <p:cNvSpPr txBox="1"/>
          <p:nvPr/>
        </p:nvSpPr>
        <p:spPr bwMode="auto"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900" b="0" i="0">
                <a:solidFill>
                  <a:srgbClr val="9CA3AF"/>
                </a:solidFill>
                <a:latin typeface="Calibri"/>
              </a:rPr>
              <a:t>DotLife  |  Vue 3 + Node.js + MySQL  |  Project Presentation</a:t>
            </a:r>
            <a:endParaRPr/>
          </a:p>
        </p:txBody>
      </p:sp>
      <p:sp>
        <p:nvSpPr>
          <p:cNvPr id="871728652" name="TextBox 4"/>
          <p:cNvSpPr txBox="1"/>
          <p:nvPr/>
        </p:nvSpPr>
        <p:spPr bwMode="auto"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/>
            </a:pPr>
            <a:r>
              <a:rPr sz="900" b="0" i="0">
                <a:solidFill>
                  <a:srgbClr val="9CA3AF"/>
                </a:solidFill>
                <a:latin typeface="Calibri"/>
              </a:rPr>
              <a:t>4</a:t>
            </a:r>
            <a:endParaRPr/>
          </a:p>
        </p:txBody>
      </p:sp>
      <p:sp>
        <p:nvSpPr>
          <p:cNvPr id="2053491936" name="TextBox 5"/>
          <p:cNvSpPr txBox="1"/>
          <p:nvPr/>
        </p:nvSpPr>
        <p:spPr bwMode="auto">
          <a:xfrm>
            <a:off x="822960" y="155448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400"/>
              </a:spcAft>
              <a:defRPr/>
            </a:pPr>
            <a:r>
              <a:rPr sz="1600">
                <a:solidFill>
                  <a:srgbClr val="212938"/>
                </a:solidFill>
                <a:latin typeface="Calibri"/>
              </a:rPr>
              <a:t>▪  Give organisers one system for donors, camps, on-site registration, budgets and messaging.</a:t>
            </a:r>
            <a:endParaRPr/>
          </a:p>
          <a:p>
            <a:pPr>
              <a:lnSpc>
                <a:spcPct val="110000"/>
              </a:lnSpc>
              <a:spcAft>
                <a:spcPts val="1400"/>
              </a:spcAft>
              <a:defRPr/>
            </a:pPr>
            <a:r>
              <a:rPr sz="1600">
                <a:solidFill>
                  <a:srgbClr val="212938"/>
                </a:solidFill>
                <a:latin typeface="Calibri"/>
              </a:rPr>
              <a:t>▪  Digitise the paper camp register while preserving its logic: T.P. (mobile) number as the unique identifier.</a:t>
            </a:r>
            <a:endParaRPr/>
          </a:p>
          <a:p>
            <a:pPr>
              <a:lnSpc>
                <a:spcPct val="110000"/>
              </a:lnSpc>
              <a:spcAft>
                <a:spcPts val="1400"/>
              </a:spcAft>
              <a:defRPr/>
            </a:pPr>
            <a:r>
              <a:rPr sz="1600">
                <a:solidFill>
                  <a:srgbClr val="212938"/>
                </a:solidFill>
                <a:latin typeface="Calibri"/>
              </a:rPr>
              <a:t>▪  Make blood-group and eligibility (4-month) filtering instant instead of manual.</a:t>
            </a:r>
            <a:endParaRPr/>
          </a:p>
          <a:p>
            <a:pPr>
              <a:lnSpc>
                <a:spcPct val="110000"/>
              </a:lnSpc>
              <a:spcAft>
                <a:spcPts val="1400"/>
              </a:spcAft>
              <a:defRPr/>
            </a:pPr>
            <a:r>
              <a:rPr sz="1600">
                <a:solidFill>
                  <a:srgbClr val="212938"/>
                </a:solidFill>
                <a:latin typeface="Calibri"/>
              </a:rPr>
              <a:t>▪  Support bulk, chunked WhatsApp/SMS campaigns that survive timeouts and never double-send.</a:t>
            </a:r>
            <a:endParaRPr/>
          </a:p>
          <a:p>
            <a:pPr>
              <a:lnSpc>
                <a:spcPct val="110000"/>
              </a:lnSpc>
              <a:spcAft>
                <a:spcPts val="1400"/>
              </a:spcAft>
              <a:defRPr/>
            </a:pPr>
            <a:r>
              <a:rPr sz="1600">
                <a:solidFill>
                  <a:srgbClr val="212938"/>
                </a:solidFill>
                <a:latin typeface="Calibri"/>
              </a:rPr>
              <a:t>▪  Track camp finances — cash donations, in-kind goods and expenses — without mixing the two.</a:t>
            </a:r>
            <a:endParaRPr/>
          </a:p>
          <a:p>
            <a:pPr>
              <a:lnSpc>
                <a:spcPct val="110000"/>
              </a:lnSpc>
              <a:spcAft>
                <a:spcPts val="1400"/>
              </a:spcAft>
              <a:defRPr/>
            </a:pPr>
            <a:r>
              <a:rPr sz="1600">
                <a:solidFill>
                  <a:srgbClr val="212938"/>
                </a:solidFill>
                <a:latin typeface="Calibri"/>
              </a:rPr>
              <a:t>▪  Package the whole stack so it can be built and run identically anywhere with one Docker/Podman command.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8F9F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3755219" name="TextBox 1"/>
          <p:cNvSpPr txBox="1"/>
          <p:nvPr/>
        </p:nvSpPr>
        <p:spPr bwMode="auto">
          <a:xfrm>
            <a:off x="548640" y="384048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3000" b="1" i="0">
                <a:solidFill>
                  <a:srgbClr val="B41E2E"/>
                </a:solidFill>
                <a:latin typeface="Calibri"/>
              </a:rPr>
              <a:t>4. Technology Stack</a:t>
            </a:r>
            <a:endParaRPr/>
          </a:p>
        </p:txBody>
      </p:sp>
      <p:sp>
        <p:nvSpPr>
          <p:cNvPr id="1819750120" name="TextBox 2"/>
          <p:cNvSpPr txBox="1"/>
          <p:nvPr/>
        </p:nvSpPr>
        <p:spPr bwMode="auto">
          <a:xfrm>
            <a:off x="566928" y="9601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400" b="0" i="0">
                <a:solidFill>
                  <a:srgbClr val="6B7280"/>
                </a:solidFill>
                <a:latin typeface="Calibri"/>
              </a:rPr>
              <a:t>The concrete stack behind the platform.</a:t>
            </a:r>
            <a:endParaRPr/>
          </a:p>
        </p:txBody>
      </p:sp>
      <p:sp>
        <p:nvSpPr>
          <p:cNvPr id="431370336" name="TextBox 3"/>
          <p:cNvSpPr txBox="1"/>
          <p:nvPr/>
        </p:nvSpPr>
        <p:spPr bwMode="auto"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900" b="0" i="0">
                <a:solidFill>
                  <a:srgbClr val="9CA3AF"/>
                </a:solidFill>
                <a:latin typeface="Calibri"/>
              </a:rPr>
              <a:t>DotLife  |  Vue 3 + Node.js + MySQL  |  Project Presentation</a:t>
            </a:r>
            <a:endParaRPr/>
          </a:p>
        </p:txBody>
      </p:sp>
      <p:sp>
        <p:nvSpPr>
          <p:cNvPr id="976629375" name="TextBox 4"/>
          <p:cNvSpPr txBox="1"/>
          <p:nvPr/>
        </p:nvSpPr>
        <p:spPr bwMode="auto"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/>
            </a:pPr>
            <a:r>
              <a:rPr sz="900" b="0" i="0">
                <a:solidFill>
                  <a:srgbClr val="9CA3AF"/>
                </a:solidFill>
                <a:latin typeface="Calibri"/>
              </a:rPr>
              <a:t>5</a:t>
            </a:r>
            <a:endParaRPr/>
          </a:p>
        </p:txBody>
      </p:sp>
      <p:sp>
        <p:nvSpPr>
          <p:cNvPr id="916793662" name="Rounded Rectangle 5"/>
          <p:cNvSpPr/>
          <p:nvPr/>
        </p:nvSpPr>
        <p:spPr bwMode="auto">
          <a:xfrm>
            <a:off x="822960" y="1600200"/>
            <a:ext cx="507492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09748532" name="TextBox 6"/>
          <p:cNvSpPr txBox="1"/>
          <p:nvPr/>
        </p:nvSpPr>
        <p:spPr bwMode="auto">
          <a:xfrm>
            <a:off x="1143000" y="1856232"/>
            <a:ext cx="4434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2000" b="1" i="0">
                <a:solidFill>
                  <a:srgbClr val="B41E2E"/>
                </a:solidFill>
                <a:latin typeface="Calibri"/>
              </a:rPr>
              <a:t>Frontend</a:t>
            </a:r>
            <a:endParaRPr/>
          </a:p>
        </p:txBody>
      </p:sp>
      <p:sp>
        <p:nvSpPr>
          <p:cNvPr id="227750677" name="TextBox 7"/>
          <p:cNvSpPr txBox="1"/>
          <p:nvPr/>
        </p:nvSpPr>
        <p:spPr bwMode="auto">
          <a:xfrm>
            <a:off x="1143000" y="2423160"/>
            <a:ext cx="44348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defRPr/>
            </a:pPr>
            <a:r>
              <a:rPr sz="1350" b="0" i="0">
                <a:solidFill>
                  <a:srgbClr val="212938"/>
                </a:solidFill>
                <a:latin typeface="Calibri"/>
              </a:rPr>
              <a:t>Vue 3 (Composition API) · Vite · Vue Router 4 · Pinia · Bootstrap 5 · Chart.js · Axios</a:t>
            </a:r>
            <a:endParaRPr/>
          </a:p>
        </p:txBody>
      </p:sp>
      <p:sp>
        <p:nvSpPr>
          <p:cNvPr id="1623992383" name="Rounded Rectangle 8"/>
          <p:cNvSpPr/>
          <p:nvPr/>
        </p:nvSpPr>
        <p:spPr bwMode="auto">
          <a:xfrm>
            <a:off x="6263640" y="1600200"/>
            <a:ext cx="507492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59947346" name="TextBox 9"/>
          <p:cNvSpPr txBox="1"/>
          <p:nvPr/>
        </p:nvSpPr>
        <p:spPr bwMode="auto">
          <a:xfrm>
            <a:off x="6583680" y="1856232"/>
            <a:ext cx="4434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2000" b="1" i="0">
                <a:solidFill>
                  <a:srgbClr val="B41E2E"/>
                </a:solidFill>
                <a:latin typeface="Calibri"/>
              </a:rPr>
              <a:t>Backend API</a:t>
            </a:r>
            <a:endParaRPr/>
          </a:p>
        </p:txBody>
      </p:sp>
      <p:sp>
        <p:nvSpPr>
          <p:cNvPr id="639865258" name="TextBox 10"/>
          <p:cNvSpPr txBox="1"/>
          <p:nvPr/>
        </p:nvSpPr>
        <p:spPr bwMode="auto">
          <a:xfrm>
            <a:off x="6583680" y="2423160"/>
            <a:ext cx="44348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defRPr/>
            </a:pPr>
            <a:r>
              <a:rPr sz="1350" b="0" i="0">
                <a:solidFill>
                  <a:srgbClr val="212938"/>
                </a:solidFill>
                <a:latin typeface="Calibri"/>
              </a:rPr>
              <a:t>Node.js 20 · Express · JWT (httpOnly cookies) · bcrypt · mysql2/promise · ExcelJS</a:t>
            </a:r>
            <a:endParaRPr/>
          </a:p>
        </p:txBody>
      </p:sp>
      <p:sp>
        <p:nvSpPr>
          <p:cNvPr id="1680111889" name="Rounded Rectangle 11"/>
          <p:cNvSpPr/>
          <p:nvPr/>
        </p:nvSpPr>
        <p:spPr bwMode="auto">
          <a:xfrm>
            <a:off x="822960" y="3794760"/>
            <a:ext cx="507492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6436862" name="TextBox 12"/>
          <p:cNvSpPr txBox="1"/>
          <p:nvPr/>
        </p:nvSpPr>
        <p:spPr bwMode="auto">
          <a:xfrm>
            <a:off x="1143000" y="4050792"/>
            <a:ext cx="4434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2000" b="1" i="0">
                <a:solidFill>
                  <a:srgbClr val="B41E2E"/>
                </a:solidFill>
                <a:latin typeface="Calibri"/>
              </a:rPr>
              <a:t>Database</a:t>
            </a:r>
            <a:endParaRPr/>
          </a:p>
        </p:txBody>
      </p:sp>
      <p:sp>
        <p:nvSpPr>
          <p:cNvPr id="102350437" name="TextBox 13"/>
          <p:cNvSpPr txBox="1"/>
          <p:nvPr/>
        </p:nvSpPr>
        <p:spPr bwMode="auto">
          <a:xfrm>
            <a:off x="1143000" y="4617720"/>
            <a:ext cx="44348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defRPr/>
            </a:pPr>
            <a:r>
              <a:rPr sz="1350" b="0" i="0">
                <a:solidFill>
                  <a:srgbClr val="212938"/>
                </a:solidFill>
                <a:latin typeface="Calibri"/>
              </a:rPr>
              <a:t>MySQL / MariaDB 10.11 · 12 tables · foreign keys · indexes · migration ledger</a:t>
            </a:r>
            <a:endParaRPr/>
          </a:p>
        </p:txBody>
      </p:sp>
      <p:sp>
        <p:nvSpPr>
          <p:cNvPr id="2004193533" name="Rounded Rectangle 14"/>
          <p:cNvSpPr/>
          <p:nvPr/>
        </p:nvSpPr>
        <p:spPr bwMode="auto">
          <a:xfrm>
            <a:off x="6263640" y="3794760"/>
            <a:ext cx="507492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12016057" name="TextBox 15"/>
          <p:cNvSpPr txBox="1"/>
          <p:nvPr/>
        </p:nvSpPr>
        <p:spPr bwMode="auto">
          <a:xfrm>
            <a:off x="6583680" y="4050792"/>
            <a:ext cx="4434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2000" b="1" i="0">
                <a:solidFill>
                  <a:srgbClr val="B41E2E"/>
                </a:solidFill>
                <a:latin typeface="Calibri"/>
              </a:rPr>
              <a:t>Infrastructure</a:t>
            </a:r>
            <a:endParaRPr/>
          </a:p>
        </p:txBody>
      </p:sp>
      <p:sp>
        <p:nvSpPr>
          <p:cNvPr id="1896955851" name="TextBox 16"/>
          <p:cNvSpPr txBox="1"/>
          <p:nvPr/>
        </p:nvSpPr>
        <p:spPr bwMode="auto">
          <a:xfrm>
            <a:off x="6583680" y="4617720"/>
            <a:ext cx="44348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defRPr/>
            </a:pPr>
            <a:r>
              <a:rPr sz="1350" b="0" i="0">
                <a:solidFill>
                  <a:srgbClr val="212938"/>
                </a:solidFill>
                <a:latin typeface="Calibri"/>
              </a:rPr>
              <a:t>Standard Web Hosting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8F9F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9633218" name="TextBox 1"/>
          <p:cNvSpPr txBox="1"/>
          <p:nvPr/>
        </p:nvSpPr>
        <p:spPr bwMode="auto">
          <a:xfrm>
            <a:off x="548640" y="384048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3000" b="1" i="0">
                <a:solidFill>
                  <a:srgbClr val="B41E2E"/>
                </a:solidFill>
                <a:latin typeface="Calibri"/>
              </a:rPr>
              <a:t>5. Main Features</a:t>
            </a:r>
            <a:endParaRPr/>
          </a:p>
        </p:txBody>
      </p:sp>
      <p:sp>
        <p:nvSpPr>
          <p:cNvPr id="346964286" name="TextBox 2"/>
          <p:cNvSpPr txBox="1"/>
          <p:nvPr/>
        </p:nvSpPr>
        <p:spPr bwMode="auto">
          <a:xfrm>
            <a:off x="566928" y="9601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400" b="0" i="0">
                <a:solidFill>
                  <a:srgbClr val="6B7280"/>
                </a:solidFill>
                <a:latin typeface="Calibri"/>
              </a:rPr>
              <a:t>Core modules available to an administrator.</a:t>
            </a:r>
            <a:endParaRPr/>
          </a:p>
        </p:txBody>
      </p:sp>
      <p:sp>
        <p:nvSpPr>
          <p:cNvPr id="1392337309" name="TextBox 3"/>
          <p:cNvSpPr txBox="1"/>
          <p:nvPr/>
        </p:nvSpPr>
        <p:spPr bwMode="auto"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900" b="0" i="0">
                <a:solidFill>
                  <a:srgbClr val="9CA3AF"/>
                </a:solidFill>
                <a:latin typeface="Calibri"/>
              </a:rPr>
              <a:t>DotLife  |  Vue 3 + Node.js + MySQL  |  Project Presentation</a:t>
            </a:r>
            <a:endParaRPr/>
          </a:p>
        </p:txBody>
      </p:sp>
      <p:sp>
        <p:nvSpPr>
          <p:cNvPr id="1734367156" name="TextBox 4"/>
          <p:cNvSpPr txBox="1"/>
          <p:nvPr/>
        </p:nvSpPr>
        <p:spPr bwMode="auto"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/>
            </a:pPr>
            <a:r>
              <a:rPr sz="900" b="0" i="0">
                <a:solidFill>
                  <a:srgbClr val="9CA3AF"/>
                </a:solidFill>
                <a:latin typeface="Calibri"/>
              </a:rPr>
              <a:t>6</a:t>
            </a:r>
            <a:endParaRPr/>
          </a:p>
        </p:txBody>
      </p:sp>
      <p:sp>
        <p:nvSpPr>
          <p:cNvPr id="1804415138" name="TextBox 5"/>
          <p:cNvSpPr txBox="1"/>
          <p:nvPr/>
        </p:nvSpPr>
        <p:spPr bwMode="auto">
          <a:xfrm>
            <a:off x="822960" y="1554480"/>
            <a:ext cx="10332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  <a:defRPr/>
            </a:pPr>
            <a:r>
              <a:rPr sz="1450">
                <a:solidFill>
                  <a:srgbClr val="212938"/>
                </a:solidFill>
                <a:latin typeface="Calibri"/>
              </a:rPr>
              <a:t>▪  Donor Management — CRUD, Excel import/export, blood-group and eligibility filtering, duplicate detection.</a:t>
            </a:r>
            <a:endParaRPr/>
          </a:p>
          <a:p>
            <a:pPr>
              <a:lnSpc>
                <a:spcPct val="110000"/>
              </a:lnSpc>
              <a:spcAft>
                <a:spcPts val="900"/>
              </a:spcAft>
              <a:defRPr/>
            </a:pPr>
            <a:r>
              <a:rPr sz="1450">
                <a:solidFill>
                  <a:srgbClr val="212938"/>
                </a:solidFill>
                <a:latin typeface="Calibri"/>
              </a:rPr>
              <a:t>▪  Blood Camps — schedule camps, track status (Upcoming / Completed / Cancelled), planned budget per camp.</a:t>
            </a:r>
            <a:endParaRPr/>
          </a:p>
          <a:p>
            <a:pPr>
              <a:lnSpc>
                <a:spcPct val="110000"/>
              </a:lnSpc>
              <a:spcAft>
                <a:spcPts val="900"/>
              </a:spcAft>
              <a:defRPr/>
            </a:pPr>
            <a:r>
              <a:rPr sz="1450">
                <a:solidFill>
                  <a:srgbClr val="212938"/>
                </a:solidFill>
                <a:latin typeface="Calibri"/>
              </a:rPr>
              <a:t>▪  Camp Register — digital attendance book by T.P. number: known donor, walk-in, or already-registered.</a:t>
            </a:r>
            <a:endParaRPr/>
          </a:p>
          <a:p>
            <a:pPr>
              <a:lnSpc>
                <a:spcPct val="110000"/>
              </a:lnSpc>
              <a:spcAft>
                <a:spcPts val="900"/>
              </a:spcAft>
              <a:defRPr/>
            </a:pPr>
            <a:r>
              <a:rPr sz="1450">
                <a:solidFill>
                  <a:srgbClr val="212938"/>
                </a:solidFill>
                <a:latin typeface="Calibri"/>
              </a:rPr>
              <a:t>▪  Budget &amp; Donations — cash and in-kind contributions tracked separately from spend, with a live balance.</a:t>
            </a:r>
            <a:endParaRPr/>
          </a:p>
          <a:p>
            <a:pPr>
              <a:lnSpc>
                <a:spcPct val="110000"/>
              </a:lnSpc>
              <a:spcAft>
                <a:spcPts val="900"/>
              </a:spcAft>
              <a:defRPr/>
            </a:pPr>
            <a:r>
              <a:rPr sz="1450">
                <a:solidFill>
                  <a:srgbClr val="212938"/>
                </a:solidFill>
                <a:latin typeface="Calibri"/>
              </a:rPr>
              <a:t>▪  Staff — organising-committee directory, reachable through the same messaging pipeline as donors.</a:t>
            </a:r>
            <a:endParaRPr/>
          </a:p>
          <a:p>
            <a:pPr>
              <a:lnSpc>
                <a:spcPct val="110000"/>
              </a:lnSpc>
              <a:spcAft>
                <a:spcPts val="900"/>
              </a:spcAft>
              <a:defRPr/>
            </a:pPr>
            <a:r>
              <a:rPr sz="1450">
                <a:solidFill>
                  <a:srgbClr val="212938"/>
                </a:solidFill>
                <a:latin typeface="Calibri"/>
              </a:rPr>
              <a:t>▪  Messaging — bulk WhatsApp (approved templates) and SMS, chunked sending, campaign de-duplication.</a:t>
            </a:r>
            <a:endParaRPr/>
          </a:p>
          <a:p>
            <a:pPr>
              <a:lnSpc>
                <a:spcPct val="110000"/>
              </a:lnSpc>
              <a:spcAft>
                <a:spcPts val="900"/>
              </a:spcAft>
              <a:defRPr/>
            </a:pPr>
            <a:r>
              <a:rPr sz="1450">
                <a:solidFill>
                  <a:srgbClr val="212938"/>
                </a:solidFill>
                <a:latin typeface="Calibri"/>
              </a:rPr>
              <a:t>▪  Templates — reusable message bodies with Meta template mapping, English and Sinhala.</a:t>
            </a:r>
            <a:endParaRPr/>
          </a:p>
          <a:p>
            <a:pPr>
              <a:lnSpc>
                <a:spcPct val="110000"/>
              </a:lnSpc>
              <a:spcAft>
                <a:spcPts val="900"/>
              </a:spcAft>
              <a:defRPr/>
            </a:pPr>
            <a:r>
              <a:rPr sz="1450">
                <a:solidFill>
                  <a:srgbClr val="212938"/>
                </a:solidFill>
                <a:latin typeface="Calibri"/>
              </a:rPr>
              <a:t>▪  Emergency Alerts — one-click blood-group targeted request to every matching active donor.</a:t>
            </a:r>
            <a:endParaRPr/>
          </a:p>
          <a:p>
            <a:pPr>
              <a:lnSpc>
                <a:spcPct val="110000"/>
              </a:lnSpc>
              <a:spcAft>
                <a:spcPts val="900"/>
              </a:spcAft>
              <a:defRPr/>
            </a:pPr>
            <a:r>
              <a:rPr sz="1450">
                <a:solidFill>
                  <a:srgbClr val="212938"/>
                </a:solidFill>
                <a:latin typeface="Calibri"/>
              </a:rPr>
              <a:t>▪  Reports — date-filtered analytics with Excel export; Settings — app, messaging and account configuration.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8F9F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3098185" name="TextBox 1"/>
          <p:cNvSpPr txBox="1"/>
          <p:nvPr/>
        </p:nvSpPr>
        <p:spPr bwMode="auto">
          <a:xfrm>
            <a:off x="548640" y="384048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3000" b="1" i="0">
                <a:solidFill>
                  <a:srgbClr val="B41E2E"/>
                </a:solidFill>
                <a:latin typeface="Calibri"/>
              </a:rPr>
              <a:t>6. System Architecture</a:t>
            </a:r>
            <a:endParaRPr/>
          </a:p>
        </p:txBody>
      </p:sp>
      <p:sp>
        <p:nvSpPr>
          <p:cNvPr id="1308856013" name="TextBox 2"/>
          <p:cNvSpPr txBox="1"/>
          <p:nvPr/>
        </p:nvSpPr>
        <p:spPr bwMode="auto">
          <a:xfrm>
            <a:off x="566928" y="9601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400" b="0" i="0">
                <a:solidFill>
                  <a:srgbClr val="6B7280"/>
                </a:solidFill>
                <a:latin typeface="Calibri"/>
              </a:rPr>
              <a:t>How a request travels through the stack.</a:t>
            </a:r>
            <a:endParaRPr/>
          </a:p>
        </p:txBody>
      </p:sp>
      <p:sp>
        <p:nvSpPr>
          <p:cNvPr id="2109169003" name="TextBox 3"/>
          <p:cNvSpPr txBox="1"/>
          <p:nvPr/>
        </p:nvSpPr>
        <p:spPr bwMode="auto"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900" b="0" i="0">
                <a:solidFill>
                  <a:srgbClr val="9CA3AF"/>
                </a:solidFill>
                <a:latin typeface="Calibri"/>
              </a:rPr>
              <a:t>DotLife  |  Vue 3 + Node.js + MySQL  |  Project Presentation</a:t>
            </a:r>
            <a:endParaRPr/>
          </a:p>
        </p:txBody>
      </p:sp>
      <p:sp>
        <p:nvSpPr>
          <p:cNvPr id="231445359" name="TextBox 4"/>
          <p:cNvSpPr txBox="1"/>
          <p:nvPr/>
        </p:nvSpPr>
        <p:spPr bwMode="auto"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/>
            </a:pPr>
            <a:r>
              <a:rPr sz="900" b="0" i="0">
                <a:solidFill>
                  <a:srgbClr val="9CA3AF"/>
                </a:solidFill>
                <a:latin typeface="Calibri"/>
              </a:rPr>
              <a:t>7</a:t>
            </a:r>
            <a:endParaRPr/>
          </a:p>
        </p:txBody>
      </p:sp>
      <p:sp>
        <p:nvSpPr>
          <p:cNvPr id="731870033" name="Oval 5"/>
          <p:cNvSpPr/>
          <p:nvPr/>
        </p:nvSpPr>
        <p:spPr bwMode="auto">
          <a:xfrm>
            <a:off x="777240" y="2148840"/>
            <a:ext cx="1051560" cy="1051560"/>
          </a:xfrm>
          <a:prstGeom prst="ellipse">
            <a:avLst/>
          </a:prstGeom>
          <a:solidFill>
            <a:srgbClr val="B4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/>
            </a:pPr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  <a:endParaRPr/>
          </a:p>
        </p:txBody>
      </p:sp>
      <p:sp>
        <p:nvSpPr>
          <p:cNvPr id="422005819" name="TextBox 6"/>
          <p:cNvSpPr txBox="1"/>
          <p:nvPr/>
        </p:nvSpPr>
        <p:spPr bwMode="auto">
          <a:xfrm>
            <a:off x="274320" y="3337560"/>
            <a:ext cx="2057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/>
            </a:pPr>
            <a:r>
              <a:rPr sz="1250" b="1" i="0">
                <a:solidFill>
                  <a:srgbClr val="212938"/>
                </a:solidFill>
                <a:latin typeface="Calibri"/>
              </a:rPr>
              <a:t>Browser</a:t>
            </a:r>
            <a:endParaRPr/>
          </a:p>
          <a:p>
            <a:pPr algn="ctr">
              <a:defRPr/>
            </a:pPr>
            <a:r>
              <a:rPr sz="1250" b="1" i="0">
                <a:solidFill>
                  <a:srgbClr val="212938"/>
                </a:solidFill>
                <a:latin typeface="Calibri"/>
              </a:rPr>
              <a:t>(Vue 3 SPA)</a:t>
            </a:r>
            <a:endParaRPr/>
          </a:p>
        </p:txBody>
      </p:sp>
      <p:sp>
        <p:nvSpPr>
          <p:cNvPr id="1617073867" name="Right Arrow 7"/>
          <p:cNvSpPr/>
          <p:nvPr/>
        </p:nvSpPr>
        <p:spPr bwMode="auto">
          <a:xfrm>
            <a:off x="1828800" y="2619756"/>
            <a:ext cx="1337310" cy="10972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475391" name="Oval 8"/>
          <p:cNvSpPr/>
          <p:nvPr/>
        </p:nvSpPr>
        <p:spPr bwMode="auto">
          <a:xfrm>
            <a:off x="3166110" y="2148840"/>
            <a:ext cx="1051560" cy="1051560"/>
          </a:xfrm>
          <a:prstGeom prst="ellipse">
            <a:avLst/>
          </a:prstGeom>
          <a:solidFill>
            <a:srgbClr val="B4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/>
            </a:pPr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  <a:endParaRPr/>
          </a:p>
        </p:txBody>
      </p:sp>
      <p:sp>
        <p:nvSpPr>
          <p:cNvPr id="720335493" name="TextBox 9"/>
          <p:cNvSpPr txBox="1"/>
          <p:nvPr/>
        </p:nvSpPr>
        <p:spPr bwMode="auto">
          <a:xfrm>
            <a:off x="2663190" y="3337560"/>
            <a:ext cx="2057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/>
            </a:pPr>
            <a:r>
              <a:rPr sz="1250" b="1" i="0">
                <a:solidFill>
                  <a:srgbClr val="212938"/>
                </a:solidFill>
                <a:latin typeface="Calibri"/>
              </a:rPr>
              <a:t>Web Server</a:t>
            </a:r>
            <a:endParaRPr/>
          </a:p>
          <a:p>
            <a:pPr algn="ctr">
              <a:defRPr/>
            </a:pPr>
            <a:r>
              <a:rPr sz="1250" b="1" i="0">
                <a:solidFill>
                  <a:srgbClr val="212938"/>
                </a:solidFill>
                <a:latin typeface="Calibri"/>
              </a:rPr>
              <a:t>(static + proxy)</a:t>
            </a:r>
            <a:endParaRPr/>
          </a:p>
        </p:txBody>
      </p:sp>
      <p:sp>
        <p:nvSpPr>
          <p:cNvPr id="1613627105" name="Right Arrow 10"/>
          <p:cNvSpPr/>
          <p:nvPr/>
        </p:nvSpPr>
        <p:spPr bwMode="auto">
          <a:xfrm>
            <a:off x="4217670" y="2619756"/>
            <a:ext cx="1337310" cy="10972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76942285" name="Oval 11"/>
          <p:cNvSpPr/>
          <p:nvPr/>
        </p:nvSpPr>
        <p:spPr bwMode="auto">
          <a:xfrm>
            <a:off x="5554980" y="2148840"/>
            <a:ext cx="1051560" cy="1051560"/>
          </a:xfrm>
          <a:prstGeom prst="ellipse">
            <a:avLst/>
          </a:prstGeom>
          <a:solidFill>
            <a:srgbClr val="B4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/>
            </a:pPr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  <a:endParaRPr/>
          </a:p>
        </p:txBody>
      </p:sp>
      <p:sp>
        <p:nvSpPr>
          <p:cNvPr id="58352197" name="TextBox 12"/>
          <p:cNvSpPr txBox="1"/>
          <p:nvPr/>
        </p:nvSpPr>
        <p:spPr bwMode="auto">
          <a:xfrm>
            <a:off x="5052060" y="3337560"/>
            <a:ext cx="2057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/>
            </a:pPr>
            <a:r>
              <a:rPr sz="1250" b="1" i="0">
                <a:solidFill>
                  <a:srgbClr val="212938"/>
                </a:solidFill>
                <a:latin typeface="Calibri"/>
              </a:rPr>
              <a:t>Express</a:t>
            </a:r>
            <a:endParaRPr/>
          </a:p>
          <a:p>
            <a:pPr algn="ctr">
              <a:defRPr/>
            </a:pPr>
            <a:r>
              <a:rPr sz="1250" b="1" i="0">
                <a:solidFill>
                  <a:srgbClr val="212938"/>
                </a:solidFill>
                <a:latin typeface="Calibri"/>
              </a:rPr>
              <a:t>REST API</a:t>
            </a:r>
            <a:endParaRPr/>
          </a:p>
        </p:txBody>
      </p:sp>
      <p:sp>
        <p:nvSpPr>
          <p:cNvPr id="1597009914" name="Right Arrow 13"/>
          <p:cNvSpPr/>
          <p:nvPr/>
        </p:nvSpPr>
        <p:spPr bwMode="auto">
          <a:xfrm>
            <a:off x="6606539" y="2619756"/>
            <a:ext cx="1337310" cy="10972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7845263" name="Oval 14"/>
          <p:cNvSpPr/>
          <p:nvPr/>
        </p:nvSpPr>
        <p:spPr bwMode="auto">
          <a:xfrm>
            <a:off x="7943850" y="2148840"/>
            <a:ext cx="1051560" cy="1051560"/>
          </a:xfrm>
          <a:prstGeom prst="ellipse">
            <a:avLst/>
          </a:prstGeom>
          <a:solidFill>
            <a:srgbClr val="B4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/>
            </a:pPr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  <a:endParaRPr/>
          </a:p>
        </p:txBody>
      </p:sp>
      <p:sp>
        <p:nvSpPr>
          <p:cNvPr id="1043488281" name="TextBox 15"/>
          <p:cNvSpPr txBox="1"/>
          <p:nvPr/>
        </p:nvSpPr>
        <p:spPr bwMode="auto">
          <a:xfrm>
            <a:off x="7440930" y="3337560"/>
            <a:ext cx="2057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/>
            </a:pPr>
            <a:r>
              <a:rPr sz="1250" b="1" i="0">
                <a:solidFill>
                  <a:srgbClr val="212938"/>
                </a:solidFill>
                <a:latin typeface="Calibri"/>
              </a:rPr>
              <a:t>MariaDB</a:t>
            </a:r>
            <a:endParaRPr/>
          </a:p>
          <a:p>
            <a:pPr algn="ctr">
              <a:defRPr/>
            </a:pPr>
            <a:r>
              <a:rPr sz="1250" b="1" i="0">
                <a:solidFill>
                  <a:srgbClr val="212938"/>
                </a:solidFill>
                <a:latin typeface="Calibri"/>
              </a:rPr>
              <a:t>(data)</a:t>
            </a:r>
            <a:endParaRPr/>
          </a:p>
        </p:txBody>
      </p:sp>
      <p:sp>
        <p:nvSpPr>
          <p:cNvPr id="1763937383" name="Right Arrow 16"/>
          <p:cNvSpPr/>
          <p:nvPr/>
        </p:nvSpPr>
        <p:spPr bwMode="auto">
          <a:xfrm>
            <a:off x="8995410" y="2619756"/>
            <a:ext cx="1337310" cy="10972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5188823" name="Oval 17"/>
          <p:cNvSpPr/>
          <p:nvPr/>
        </p:nvSpPr>
        <p:spPr bwMode="auto">
          <a:xfrm>
            <a:off x="10332720" y="2148840"/>
            <a:ext cx="1051560" cy="1051560"/>
          </a:xfrm>
          <a:prstGeom prst="ellipse">
            <a:avLst/>
          </a:prstGeom>
          <a:solidFill>
            <a:srgbClr val="B4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/>
            </a:pPr>
            <a:r>
              <a:rPr sz="2200" b="1">
                <a:solidFill>
                  <a:srgbClr val="FFFFFF"/>
                </a:solidFill>
                <a:latin typeface="Calibri"/>
              </a:rPr>
              <a:t>5</a:t>
            </a:r>
            <a:endParaRPr/>
          </a:p>
        </p:txBody>
      </p:sp>
      <p:sp>
        <p:nvSpPr>
          <p:cNvPr id="1132582274" name="TextBox 18"/>
          <p:cNvSpPr txBox="1"/>
          <p:nvPr/>
        </p:nvSpPr>
        <p:spPr bwMode="auto">
          <a:xfrm>
            <a:off x="9829800" y="3337560"/>
            <a:ext cx="2057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/>
            </a:pPr>
            <a:r>
              <a:rPr sz="1250" b="1" i="0">
                <a:solidFill>
                  <a:srgbClr val="212938"/>
                </a:solidFill>
                <a:latin typeface="Calibri"/>
              </a:rPr>
              <a:t>WhatsApp / SMS</a:t>
            </a:r>
            <a:endParaRPr/>
          </a:p>
          <a:p>
            <a:pPr algn="ctr">
              <a:defRPr/>
            </a:pPr>
            <a:r>
              <a:rPr sz="1250" b="1" i="0">
                <a:solidFill>
                  <a:srgbClr val="212938"/>
                </a:solidFill>
                <a:latin typeface="Calibri"/>
              </a:rPr>
              <a:t>(Meta, Notify.lk)</a:t>
            </a:r>
            <a:endParaRPr/>
          </a:p>
        </p:txBody>
      </p:sp>
      <p:sp>
        <p:nvSpPr>
          <p:cNvPr id="570731285" name="TextBox 19"/>
          <p:cNvSpPr txBox="1"/>
          <p:nvPr/>
        </p:nvSpPr>
        <p:spPr bwMode="auto">
          <a:xfrm>
            <a:off x="822960" y="443484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/>
            </a:pPr>
            <a:r>
              <a:rPr sz="1500" b="1" i="0">
                <a:solidFill>
                  <a:srgbClr val="B41E2E"/>
                </a:solidFill>
                <a:latin typeface="Calibri"/>
              </a:rPr>
              <a:t>Auth via JWT in an httpOnly cookie  •  All queries parameterised  •  CORS locked to the frontend origin</a:t>
            </a:r>
            <a:endParaRPr/>
          </a:p>
        </p:txBody>
      </p:sp>
      <p:sp>
        <p:nvSpPr>
          <p:cNvPr id="1115638324" name="TextBox 20"/>
          <p:cNvSpPr txBox="1"/>
          <p:nvPr/>
        </p:nvSpPr>
        <p:spPr bwMode="auto">
          <a:xfrm>
            <a:off x="822960" y="5029200"/>
            <a:ext cx="103327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defRPr/>
            </a:pPr>
            <a:r>
              <a:rPr/>
              <a:t>The frontend is built with Vue 3 and communicates with the Node.js backend API, which connects to the MySQL database.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8F9F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3771668" name="TextBox 1"/>
          <p:cNvSpPr txBox="1"/>
          <p:nvPr/>
        </p:nvSpPr>
        <p:spPr bwMode="auto">
          <a:xfrm>
            <a:off x="548640" y="384048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3000" b="1" i="0">
                <a:solidFill>
                  <a:srgbClr val="B41E2E"/>
                </a:solidFill>
                <a:latin typeface="Calibri"/>
              </a:rPr>
              <a:t>7. Database Design</a:t>
            </a:r>
            <a:endParaRPr/>
          </a:p>
        </p:txBody>
      </p:sp>
      <p:sp>
        <p:nvSpPr>
          <p:cNvPr id="124986452" name="TextBox 2"/>
          <p:cNvSpPr txBox="1"/>
          <p:nvPr/>
        </p:nvSpPr>
        <p:spPr bwMode="auto">
          <a:xfrm>
            <a:off x="566928" y="9601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400" b="0" i="0">
                <a:solidFill>
                  <a:srgbClr val="6B7280"/>
                </a:solidFill>
                <a:latin typeface="Calibri"/>
              </a:rPr>
              <a:t>Core MySQL/MariaDB tables (of 12 total).</a:t>
            </a:r>
            <a:endParaRPr/>
          </a:p>
        </p:txBody>
      </p:sp>
      <p:sp>
        <p:nvSpPr>
          <p:cNvPr id="542501554" name="TextBox 3"/>
          <p:cNvSpPr txBox="1"/>
          <p:nvPr/>
        </p:nvSpPr>
        <p:spPr bwMode="auto"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900" b="0" i="0">
                <a:solidFill>
                  <a:srgbClr val="9CA3AF"/>
                </a:solidFill>
                <a:latin typeface="Calibri"/>
              </a:rPr>
              <a:t>DotLife  |  Vue 3 + Node.js + MySQL  |  Project Presentation</a:t>
            </a:r>
            <a:endParaRPr/>
          </a:p>
        </p:txBody>
      </p:sp>
      <p:sp>
        <p:nvSpPr>
          <p:cNvPr id="122911309" name="TextBox 4"/>
          <p:cNvSpPr txBox="1"/>
          <p:nvPr/>
        </p:nvSpPr>
        <p:spPr bwMode="auto"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/>
            </a:pPr>
            <a:r>
              <a:rPr sz="900" b="0" i="0">
                <a:solidFill>
                  <a:srgbClr val="9CA3AF"/>
                </a:solidFill>
                <a:latin typeface="Calibri"/>
              </a:rPr>
              <a:t>8</a:t>
            </a:r>
            <a:endParaRPr/>
          </a:p>
        </p:txBody>
      </p:sp>
      <p:sp>
        <p:nvSpPr>
          <p:cNvPr id="194897987" name="Rectangle 5"/>
          <p:cNvSpPr/>
          <p:nvPr/>
        </p:nvSpPr>
        <p:spPr bwMode="auto">
          <a:xfrm>
            <a:off x="548640" y="1508759"/>
            <a:ext cx="2286000" cy="457200"/>
          </a:xfrm>
          <a:prstGeom prst="rect">
            <a:avLst/>
          </a:prstGeom>
          <a:solidFill>
            <a:srgbClr val="B4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85081424" name="TextBox 6"/>
          <p:cNvSpPr txBox="1"/>
          <p:nvPr/>
        </p:nvSpPr>
        <p:spPr bwMode="auto">
          <a:xfrm>
            <a:off x="685800" y="1508759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1400" b="1" i="0">
                <a:solidFill>
                  <a:srgbClr val="FFFFFF"/>
                </a:solidFill>
                <a:latin typeface="Calibri"/>
              </a:rPr>
              <a:t>Table</a:t>
            </a:r>
            <a:endParaRPr/>
          </a:p>
        </p:txBody>
      </p:sp>
      <p:sp>
        <p:nvSpPr>
          <p:cNvPr id="656152501" name="Rectangle 7"/>
          <p:cNvSpPr/>
          <p:nvPr/>
        </p:nvSpPr>
        <p:spPr bwMode="auto">
          <a:xfrm>
            <a:off x="2834640" y="1508759"/>
            <a:ext cx="4206240" cy="457200"/>
          </a:xfrm>
          <a:prstGeom prst="rect">
            <a:avLst/>
          </a:prstGeom>
          <a:solidFill>
            <a:srgbClr val="B4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963045" name="TextBox 8"/>
          <p:cNvSpPr txBox="1"/>
          <p:nvPr/>
        </p:nvSpPr>
        <p:spPr bwMode="auto">
          <a:xfrm>
            <a:off x="2971800" y="1508759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1400" b="1" i="0">
                <a:solidFill>
                  <a:srgbClr val="FFFFFF"/>
                </a:solidFill>
                <a:latin typeface="Calibri"/>
              </a:rPr>
              <a:t>Key Fields</a:t>
            </a:r>
            <a:endParaRPr/>
          </a:p>
        </p:txBody>
      </p:sp>
      <p:sp>
        <p:nvSpPr>
          <p:cNvPr id="1663664152" name="Rectangle 9"/>
          <p:cNvSpPr/>
          <p:nvPr/>
        </p:nvSpPr>
        <p:spPr bwMode="auto">
          <a:xfrm>
            <a:off x="7040880" y="1508759"/>
            <a:ext cx="4572000" cy="457200"/>
          </a:xfrm>
          <a:prstGeom prst="rect">
            <a:avLst/>
          </a:prstGeom>
          <a:solidFill>
            <a:srgbClr val="B4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22803773" name="TextBox 10"/>
          <p:cNvSpPr txBox="1"/>
          <p:nvPr/>
        </p:nvSpPr>
        <p:spPr bwMode="auto">
          <a:xfrm>
            <a:off x="7178039" y="1508759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1400" b="1" i="0">
                <a:solidFill>
                  <a:srgbClr val="FFFFFF"/>
                </a:solidFill>
                <a:latin typeface="Calibri"/>
              </a:rPr>
              <a:t>Purpose</a:t>
            </a:r>
            <a:endParaRPr/>
          </a:p>
        </p:txBody>
      </p:sp>
      <p:sp>
        <p:nvSpPr>
          <p:cNvPr id="1223390117" name="Rectangle 11"/>
          <p:cNvSpPr/>
          <p:nvPr/>
        </p:nvSpPr>
        <p:spPr bwMode="auto">
          <a:xfrm>
            <a:off x="548640" y="1965960"/>
            <a:ext cx="228600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9474377" name="TextBox 12"/>
          <p:cNvSpPr txBox="1"/>
          <p:nvPr/>
        </p:nvSpPr>
        <p:spPr bwMode="auto">
          <a:xfrm>
            <a:off x="685800" y="1965960"/>
            <a:ext cx="201168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defRPr/>
            </a:pPr>
            <a:r>
              <a:rPr sz="1150" b="1" i="0">
                <a:solidFill>
                  <a:srgbClr val="212938"/>
                </a:solidFill>
                <a:latin typeface="Calibri"/>
              </a:rPr>
              <a:t>donors</a:t>
            </a:r>
            <a:endParaRPr/>
          </a:p>
        </p:txBody>
      </p:sp>
      <p:sp>
        <p:nvSpPr>
          <p:cNvPr id="2137192366" name="Rectangle 13"/>
          <p:cNvSpPr/>
          <p:nvPr/>
        </p:nvSpPr>
        <p:spPr bwMode="auto">
          <a:xfrm>
            <a:off x="2834640" y="1965960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98129224" name="TextBox 14"/>
          <p:cNvSpPr txBox="1"/>
          <p:nvPr/>
        </p:nvSpPr>
        <p:spPr bwMode="auto">
          <a:xfrm>
            <a:off x="2971800" y="1965960"/>
            <a:ext cx="393192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defRPr/>
            </a:pPr>
            <a:r>
              <a:rPr sz="1150" b="0" i="0">
                <a:solidFill>
                  <a:srgbClr val="212938"/>
                </a:solidFill>
                <a:latin typeface="Calibri"/>
              </a:rPr>
              <a:t>id, donor_name, mobile (unique), blood_group, status, last_donation_date</a:t>
            </a:r>
            <a:endParaRPr/>
          </a:p>
        </p:txBody>
      </p:sp>
      <p:sp>
        <p:nvSpPr>
          <p:cNvPr id="384782813" name="Rectangle 15"/>
          <p:cNvSpPr/>
          <p:nvPr/>
        </p:nvSpPr>
        <p:spPr bwMode="auto">
          <a:xfrm>
            <a:off x="7040880" y="1965960"/>
            <a:ext cx="457200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59244299" name="TextBox 16"/>
          <p:cNvSpPr txBox="1"/>
          <p:nvPr/>
        </p:nvSpPr>
        <p:spPr bwMode="auto">
          <a:xfrm>
            <a:off x="7178039" y="1965960"/>
            <a:ext cx="429768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defRPr/>
            </a:pPr>
            <a:r>
              <a:rPr sz="1150" b="0" i="0">
                <a:solidFill>
                  <a:srgbClr val="212938"/>
                </a:solidFill>
                <a:latin typeface="Calibri"/>
              </a:rPr>
              <a:t>The donor roll — mobile is the durable identity</a:t>
            </a:r>
            <a:endParaRPr/>
          </a:p>
        </p:txBody>
      </p:sp>
      <p:sp>
        <p:nvSpPr>
          <p:cNvPr id="906729194" name="Rectangle 17"/>
          <p:cNvSpPr/>
          <p:nvPr/>
        </p:nvSpPr>
        <p:spPr bwMode="auto">
          <a:xfrm>
            <a:off x="548640" y="2715768"/>
            <a:ext cx="2286000" cy="749808"/>
          </a:xfrm>
          <a:prstGeom prst="rect">
            <a:avLst/>
          </a:prstGeom>
          <a:solidFill>
            <a:srgbClr val="F3F4F6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26448407" name="TextBox 18"/>
          <p:cNvSpPr txBox="1"/>
          <p:nvPr/>
        </p:nvSpPr>
        <p:spPr bwMode="auto">
          <a:xfrm>
            <a:off x="685800" y="2715768"/>
            <a:ext cx="201168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defRPr/>
            </a:pPr>
            <a:r>
              <a:rPr sz="1150" b="1" i="0">
                <a:solidFill>
                  <a:srgbClr val="212938"/>
                </a:solidFill>
                <a:latin typeface="Calibri"/>
              </a:rPr>
              <a:t>blood_camps</a:t>
            </a:r>
            <a:endParaRPr/>
          </a:p>
        </p:txBody>
      </p:sp>
      <p:sp>
        <p:nvSpPr>
          <p:cNvPr id="509036650" name="Rectangle 19"/>
          <p:cNvSpPr/>
          <p:nvPr/>
        </p:nvSpPr>
        <p:spPr bwMode="auto">
          <a:xfrm>
            <a:off x="2834640" y="2715768"/>
            <a:ext cx="4206240" cy="749808"/>
          </a:xfrm>
          <a:prstGeom prst="rect">
            <a:avLst/>
          </a:prstGeom>
          <a:solidFill>
            <a:srgbClr val="F3F4F6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49557939" name="TextBox 20"/>
          <p:cNvSpPr txBox="1"/>
          <p:nvPr/>
        </p:nvSpPr>
        <p:spPr bwMode="auto">
          <a:xfrm>
            <a:off x="2971800" y="2715768"/>
            <a:ext cx="393192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defRPr/>
            </a:pPr>
            <a:r>
              <a:rPr sz="1150" b="0" i="0">
                <a:solidFill>
                  <a:srgbClr val="212938"/>
                </a:solidFill>
                <a:latin typeface="Calibri"/>
              </a:rPr>
              <a:t>id, title, camp_date, location, status, budget_amount</a:t>
            </a:r>
            <a:endParaRPr/>
          </a:p>
        </p:txBody>
      </p:sp>
      <p:sp>
        <p:nvSpPr>
          <p:cNvPr id="927951609" name="Rectangle 21"/>
          <p:cNvSpPr/>
          <p:nvPr/>
        </p:nvSpPr>
        <p:spPr bwMode="auto">
          <a:xfrm>
            <a:off x="7040880" y="2715768"/>
            <a:ext cx="4572000" cy="749808"/>
          </a:xfrm>
          <a:prstGeom prst="rect">
            <a:avLst/>
          </a:prstGeom>
          <a:solidFill>
            <a:srgbClr val="F3F4F6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71883440" name="TextBox 22"/>
          <p:cNvSpPr txBox="1"/>
          <p:nvPr/>
        </p:nvSpPr>
        <p:spPr bwMode="auto">
          <a:xfrm>
            <a:off x="7178039" y="2715768"/>
            <a:ext cx="429768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defRPr/>
            </a:pPr>
            <a:r>
              <a:rPr sz="1150" b="0" i="0">
                <a:solidFill>
                  <a:srgbClr val="212938"/>
                </a:solidFill>
                <a:latin typeface="Calibri"/>
              </a:rPr>
              <a:t>Scheduled camps and their planned budget</a:t>
            </a:r>
            <a:endParaRPr/>
          </a:p>
        </p:txBody>
      </p:sp>
      <p:sp>
        <p:nvSpPr>
          <p:cNvPr id="1163812513" name="Rectangle 23"/>
          <p:cNvSpPr/>
          <p:nvPr/>
        </p:nvSpPr>
        <p:spPr bwMode="auto">
          <a:xfrm>
            <a:off x="548640" y="3465576"/>
            <a:ext cx="228600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44877043" name="TextBox 24"/>
          <p:cNvSpPr txBox="1"/>
          <p:nvPr/>
        </p:nvSpPr>
        <p:spPr bwMode="auto">
          <a:xfrm>
            <a:off x="685800" y="3465576"/>
            <a:ext cx="201168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defRPr/>
            </a:pPr>
            <a:r>
              <a:rPr sz="1150" b="1" i="0">
                <a:solidFill>
                  <a:srgbClr val="212938"/>
                </a:solidFill>
                <a:latin typeface="Calibri"/>
              </a:rPr>
              <a:t>camp_registrations</a:t>
            </a:r>
            <a:endParaRPr/>
          </a:p>
        </p:txBody>
      </p:sp>
      <p:sp>
        <p:nvSpPr>
          <p:cNvPr id="988142884" name="Rectangle 25"/>
          <p:cNvSpPr/>
          <p:nvPr/>
        </p:nvSpPr>
        <p:spPr bwMode="auto">
          <a:xfrm>
            <a:off x="2834640" y="3465576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91113683" name="TextBox 26"/>
          <p:cNvSpPr txBox="1"/>
          <p:nvPr/>
        </p:nvSpPr>
        <p:spPr bwMode="auto">
          <a:xfrm>
            <a:off x="2971800" y="3465576"/>
            <a:ext cx="393192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defRPr/>
            </a:pPr>
            <a:r>
              <a:rPr sz="1150" b="0" i="0">
                <a:solidFill>
                  <a:srgbClr val="212938"/>
                </a:solidFill>
                <a:latin typeface="Calibri"/>
              </a:rPr>
              <a:t>id, camp_id, donor_id, serial_no, status</a:t>
            </a:r>
            <a:endParaRPr/>
          </a:p>
        </p:txBody>
      </p:sp>
      <p:sp>
        <p:nvSpPr>
          <p:cNvPr id="860741548" name="Rectangle 27"/>
          <p:cNvSpPr/>
          <p:nvPr/>
        </p:nvSpPr>
        <p:spPr bwMode="auto">
          <a:xfrm>
            <a:off x="7040880" y="3465576"/>
            <a:ext cx="457200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27706793" name="TextBox 28"/>
          <p:cNvSpPr txBox="1"/>
          <p:nvPr/>
        </p:nvSpPr>
        <p:spPr bwMode="auto">
          <a:xfrm>
            <a:off x="7178039" y="3465576"/>
            <a:ext cx="429768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defRPr/>
            </a:pPr>
            <a:r>
              <a:rPr sz="1150" b="0" i="0">
                <a:solidFill>
                  <a:srgbClr val="212938"/>
                </a:solidFill>
                <a:latin typeface="Calibri"/>
              </a:rPr>
              <a:t>The digital attendance register per camp</a:t>
            </a:r>
            <a:endParaRPr/>
          </a:p>
        </p:txBody>
      </p:sp>
      <p:sp>
        <p:nvSpPr>
          <p:cNvPr id="580270771" name="Rectangle 29"/>
          <p:cNvSpPr/>
          <p:nvPr/>
        </p:nvSpPr>
        <p:spPr bwMode="auto">
          <a:xfrm>
            <a:off x="548640" y="4215384"/>
            <a:ext cx="2286000" cy="749808"/>
          </a:xfrm>
          <a:prstGeom prst="rect">
            <a:avLst/>
          </a:prstGeom>
          <a:solidFill>
            <a:srgbClr val="F3F4F6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78839919" name="TextBox 30"/>
          <p:cNvSpPr txBox="1"/>
          <p:nvPr/>
        </p:nvSpPr>
        <p:spPr bwMode="auto">
          <a:xfrm>
            <a:off x="685800" y="4215384"/>
            <a:ext cx="201168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defRPr/>
            </a:pPr>
            <a:r>
              <a:rPr sz="1150" b="1" i="0">
                <a:solidFill>
                  <a:srgbClr val="212938"/>
                </a:solidFill>
                <a:latin typeface="Calibri"/>
              </a:rPr>
              <a:t>camp_contributions /</a:t>
            </a:r>
            <a:endParaRPr/>
          </a:p>
          <a:p>
            <a:pPr algn="l">
              <a:lnSpc>
                <a:spcPct val="105000"/>
              </a:lnSpc>
              <a:defRPr/>
            </a:pPr>
            <a:r>
              <a:rPr sz="1150" b="1" i="0">
                <a:solidFill>
                  <a:srgbClr val="212938"/>
                </a:solidFill>
                <a:latin typeface="Calibri"/>
              </a:rPr>
              <a:t>camp_expenses</a:t>
            </a:r>
            <a:endParaRPr/>
          </a:p>
        </p:txBody>
      </p:sp>
      <p:sp>
        <p:nvSpPr>
          <p:cNvPr id="1873285355" name="Rectangle 31"/>
          <p:cNvSpPr/>
          <p:nvPr/>
        </p:nvSpPr>
        <p:spPr bwMode="auto">
          <a:xfrm>
            <a:off x="2834640" y="4215384"/>
            <a:ext cx="4206240" cy="749808"/>
          </a:xfrm>
          <a:prstGeom prst="rect">
            <a:avLst/>
          </a:prstGeom>
          <a:solidFill>
            <a:srgbClr val="F3F4F6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80329120" name="TextBox 32"/>
          <p:cNvSpPr txBox="1"/>
          <p:nvPr/>
        </p:nvSpPr>
        <p:spPr bwMode="auto">
          <a:xfrm>
            <a:off x="2971800" y="4215384"/>
            <a:ext cx="393192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defRPr/>
            </a:pPr>
            <a:r>
              <a:rPr sz="1150" b="0" i="0">
                <a:solidFill>
                  <a:srgbClr val="212938"/>
                </a:solidFill>
                <a:latin typeface="Calibri"/>
              </a:rPr>
              <a:t>camp_id, category, amount, status</a:t>
            </a:r>
            <a:endParaRPr/>
          </a:p>
        </p:txBody>
      </p:sp>
      <p:sp>
        <p:nvSpPr>
          <p:cNvPr id="1262370641" name="Rectangle 33"/>
          <p:cNvSpPr/>
          <p:nvPr/>
        </p:nvSpPr>
        <p:spPr bwMode="auto">
          <a:xfrm>
            <a:off x="7040880" y="4215384"/>
            <a:ext cx="4572000" cy="749808"/>
          </a:xfrm>
          <a:prstGeom prst="rect">
            <a:avLst/>
          </a:prstGeom>
          <a:solidFill>
            <a:srgbClr val="F3F4F6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9507756" name="TextBox 34"/>
          <p:cNvSpPr txBox="1"/>
          <p:nvPr/>
        </p:nvSpPr>
        <p:spPr bwMode="auto">
          <a:xfrm>
            <a:off x="7178039" y="4215384"/>
            <a:ext cx="429768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defRPr/>
            </a:pPr>
            <a:r>
              <a:rPr sz="1150" b="0" i="0">
                <a:solidFill>
                  <a:srgbClr val="212938"/>
                </a:solidFill>
                <a:latin typeface="Calibri"/>
              </a:rPr>
              <a:t>Money and goods in vs. money spent, kept apart</a:t>
            </a:r>
            <a:endParaRPr/>
          </a:p>
        </p:txBody>
      </p:sp>
      <p:sp>
        <p:nvSpPr>
          <p:cNvPr id="1973659854" name="Rectangle 35"/>
          <p:cNvSpPr/>
          <p:nvPr/>
        </p:nvSpPr>
        <p:spPr bwMode="auto">
          <a:xfrm>
            <a:off x="548640" y="4965192"/>
            <a:ext cx="228600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60229611" name="TextBox 36"/>
          <p:cNvSpPr txBox="1"/>
          <p:nvPr/>
        </p:nvSpPr>
        <p:spPr bwMode="auto">
          <a:xfrm>
            <a:off x="685800" y="4965192"/>
            <a:ext cx="201168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defRPr/>
            </a:pPr>
            <a:r>
              <a:rPr sz="1150" b="1" i="0">
                <a:solidFill>
                  <a:srgbClr val="212938"/>
                </a:solidFill>
                <a:latin typeface="Calibri"/>
              </a:rPr>
              <a:t>message_logs</a:t>
            </a:r>
            <a:endParaRPr/>
          </a:p>
        </p:txBody>
      </p:sp>
      <p:sp>
        <p:nvSpPr>
          <p:cNvPr id="1633915885" name="Rectangle 37"/>
          <p:cNvSpPr/>
          <p:nvPr/>
        </p:nvSpPr>
        <p:spPr bwMode="auto">
          <a:xfrm>
            <a:off x="2834640" y="4965192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11347389" name="TextBox 38"/>
          <p:cNvSpPr txBox="1"/>
          <p:nvPr/>
        </p:nvSpPr>
        <p:spPr bwMode="auto">
          <a:xfrm>
            <a:off x="2971800" y="4965192"/>
            <a:ext cx="393192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defRPr/>
            </a:pPr>
            <a:r>
              <a:rPr sz="1150" b="0" i="0">
                <a:solidFill>
                  <a:srgbClr val="212938"/>
                </a:solidFill>
                <a:latin typeface="Calibri"/>
              </a:rPr>
              <a:t>donor_id / staff_id, campaign_id, status, sent_at</a:t>
            </a:r>
            <a:endParaRPr/>
          </a:p>
        </p:txBody>
      </p:sp>
      <p:sp>
        <p:nvSpPr>
          <p:cNvPr id="943212536" name="Rectangle 39"/>
          <p:cNvSpPr/>
          <p:nvPr/>
        </p:nvSpPr>
        <p:spPr bwMode="auto">
          <a:xfrm>
            <a:off x="7040880" y="4965192"/>
            <a:ext cx="457200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12562622" name="TextBox 40"/>
          <p:cNvSpPr txBox="1"/>
          <p:nvPr/>
        </p:nvSpPr>
        <p:spPr bwMode="auto">
          <a:xfrm>
            <a:off x="7178039" y="4965192"/>
            <a:ext cx="429768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defRPr/>
            </a:pPr>
            <a:r>
              <a:rPr sz="1150" b="0" i="0">
                <a:solidFill>
                  <a:srgbClr val="212938"/>
                </a:solidFill>
                <a:latin typeface="Calibri"/>
              </a:rPr>
              <a:t>Full audit trail of every WhatsApp/SMS sent</a:t>
            </a:r>
            <a:endParaRPr/>
          </a:p>
        </p:txBody>
      </p:sp>
      <p:sp>
        <p:nvSpPr>
          <p:cNvPr id="1248343127" name="Rectangle 41"/>
          <p:cNvSpPr/>
          <p:nvPr/>
        </p:nvSpPr>
        <p:spPr bwMode="auto">
          <a:xfrm>
            <a:off x="548640" y="5715000"/>
            <a:ext cx="2286000" cy="749808"/>
          </a:xfrm>
          <a:prstGeom prst="rect">
            <a:avLst/>
          </a:prstGeom>
          <a:solidFill>
            <a:srgbClr val="F3F4F6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42698938" name="TextBox 42"/>
          <p:cNvSpPr txBox="1"/>
          <p:nvPr/>
        </p:nvSpPr>
        <p:spPr bwMode="auto">
          <a:xfrm>
            <a:off x="685800" y="5715000"/>
            <a:ext cx="201168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defRPr/>
            </a:pPr>
            <a:r>
              <a:rPr sz="1150" b="1" i="0">
                <a:solidFill>
                  <a:srgbClr val="212938"/>
                </a:solidFill>
                <a:latin typeface="Calibri"/>
              </a:rPr>
              <a:t>admins, staff,</a:t>
            </a:r>
            <a:endParaRPr/>
          </a:p>
          <a:p>
            <a:pPr algn="l">
              <a:lnSpc>
                <a:spcPct val="105000"/>
              </a:lnSpc>
              <a:defRPr/>
            </a:pPr>
            <a:r>
              <a:rPr sz="1150" b="1" i="0">
                <a:solidFill>
                  <a:srgbClr val="212938"/>
                </a:solidFill>
                <a:latin typeface="Calibri"/>
              </a:rPr>
              <a:t>login_attempts</a:t>
            </a:r>
            <a:endParaRPr/>
          </a:p>
        </p:txBody>
      </p:sp>
      <p:sp>
        <p:nvSpPr>
          <p:cNvPr id="1471383362" name="Rectangle 43"/>
          <p:cNvSpPr/>
          <p:nvPr/>
        </p:nvSpPr>
        <p:spPr bwMode="auto">
          <a:xfrm>
            <a:off x="2834640" y="5715000"/>
            <a:ext cx="4206240" cy="749808"/>
          </a:xfrm>
          <a:prstGeom prst="rect">
            <a:avLst/>
          </a:prstGeom>
          <a:solidFill>
            <a:srgbClr val="F3F4F6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46123703" name="TextBox 44"/>
          <p:cNvSpPr txBox="1"/>
          <p:nvPr/>
        </p:nvSpPr>
        <p:spPr bwMode="auto">
          <a:xfrm>
            <a:off x="2971800" y="5715000"/>
            <a:ext cx="393192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defRPr/>
            </a:pPr>
            <a:r>
              <a:rPr sz="1150" b="0" i="0">
                <a:solidFill>
                  <a:srgbClr val="212938"/>
                </a:solidFill>
                <a:latin typeface="Calibri"/>
              </a:rPr>
              <a:t>email/password, name/mobile, ip_address</a:t>
            </a:r>
            <a:endParaRPr/>
          </a:p>
        </p:txBody>
      </p:sp>
      <p:sp>
        <p:nvSpPr>
          <p:cNvPr id="1596853695" name="Rectangle 45"/>
          <p:cNvSpPr/>
          <p:nvPr/>
        </p:nvSpPr>
        <p:spPr bwMode="auto">
          <a:xfrm>
            <a:off x="7040880" y="5715000"/>
            <a:ext cx="4572000" cy="749808"/>
          </a:xfrm>
          <a:prstGeom prst="rect">
            <a:avLst/>
          </a:prstGeom>
          <a:solidFill>
            <a:srgbClr val="F3F4F6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27720355" name="TextBox 46"/>
          <p:cNvSpPr txBox="1"/>
          <p:nvPr/>
        </p:nvSpPr>
        <p:spPr bwMode="auto">
          <a:xfrm>
            <a:off x="7178039" y="5715000"/>
            <a:ext cx="429768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defRPr/>
            </a:pPr>
            <a:r>
              <a:rPr sz="1150" b="0" i="0">
                <a:solidFill>
                  <a:srgbClr val="212938"/>
                </a:solidFill>
                <a:latin typeface="Calibri"/>
              </a:rPr>
              <a:t>Accounts, committee members, brute-force throttling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8F9F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1481230" name="TextBox 1"/>
          <p:cNvSpPr txBox="1"/>
          <p:nvPr/>
        </p:nvSpPr>
        <p:spPr bwMode="auto">
          <a:xfrm>
            <a:off x="548640" y="384048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3000" b="1" i="0">
                <a:solidFill>
                  <a:srgbClr val="B41E2E"/>
                </a:solidFill>
                <a:latin typeface="Calibri"/>
              </a:rPr>
              <a:t>8. Security &amp; Reliability</a:t>
            </a:r>
            <a:endParaRPr/>
          </a:p>
        </p:txBody>
      </p:sp>
      <p:sp>
        <p:nvSpPr>
          <p:cNvPr id="1054775670" name="TextBox 2"/>
          <p:cNvSpPr txBox="1"/>
          <p:nvPr/>
        </p:nvSpPr>
        <p:spPr bwMode="auto">
          <a:xfrm>
            <a:off x="566928" y="9601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400" b="0" i="0">
                <a:solidFill>
                  <a:srgbClr val="6B7280"/>
                </a:solidFill>
                <a:latin typeface="Calibri"/>
              </a:rPr>
              <a:t>Hardening applied on top of the base CRUD app.</a:t>
            </a:r>
            <a:endParaRPr/>
          </a:p>
        </p:txBody>
      </p:sp>
      <p:sp>
        <p:nvSpPr>
          <p:cNvPr id="340641525" name="TextBox 3"/>
          <p:cNvSpPr txBox="1"/>
          <p:nvPr/>
        </p:nvSpPr>
        <p:spPr bwMode="auto"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900" b="0" i="0">
                <a:solidFill>
                  <a:srgbClr val="9CA3AF"/>
                </a:solidFill>
                <a:latin typeface="Calibri"/>
              </a:rPr>
              <a:t>DotLife  |  Vue 3 + Node.js + MySQL  |  Project Presentation</a:t>
            </a:r>
            <a:endParaRPr/>
          </a:p>
        </p:txBody>
      </p:sp>
      <p:sp>
        <p:nvSpPr>
          <p:cNvPr id="1191807462" name="TextBox 4"/>
          <p:cNvSpPr txBox="1"/>
          <p:nvPr/>
        </p:nvSpPr>
        <p:spPr bwMode="auto"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/>
            </a:pPr>
            <a:r>
              <a:rPr sz="900" b="0" i="0">
                <a:solidFill>
                  <a:srgbClr val="9CA3AF"/>
                </a:solidFill>
                <a:latin typeface="Calibri"/>
              </a:rPr>
              <a:t>9</a:t>
            </a:r>
            <a:endParaRPr/>
          </a:p>
        </p:txBody>
      </p:sp>
      <p:sp>
        <p:nvSpPr>
          <p:cNvPr id="1250052463" name="TextBox 5"/>
          <p:cNvSpPr txBox="1"/>
          <p:nvPr/>
        </p:nvSpPr>
        <p:spPr bwMode="auto">
          <a:xfrm>
            <a:off x="822960" y="1554480"/>
            <a:ext cx="10332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100"/>
              </a:spcAft>
              <a:defRPr/>
            </a:pPr>
            <a:r>
              <a:rPr sz="1500">
                <a:solidFill>
                  <a:srgbClr val="212938"/>
                </a:solidFill>
                <a:latin typeface="Calibri"/>
              </a:rPr>
              <a:t>▪  Authentication — JWT in an httpOnly cookie (XSS-resistant), bcrypt-hashed passwords, session-aware CORS.</a:t>
            </a:r>
            <a:endParaRPr/>
          </a:p>
          <a:p>
            <a:pPr>
              <a:lnSpc>
                <a:spcPct val="110000"/>
              </a:lnSpc>
              <a:spcAft>
                <a:spcPts val="1100"/>
              </a:spcAft>
              <a:defRPr/>
            </a:pPr>
            <a:r>
              <a:rPr sz="1500">
                <a:solidFill>
                  <a:srgbClr val="212938"/>
                </a:solidFill>
                <a:latin typeface="Calibri"/>
              </a:rPr>
              <a:t>▪  Brute-force throttling — login_attempts table caps failures per email and per IP within a rolling window.</a:t>
            </a:r>
            <a:endParaRPr/>
          </a:p>
          <a:p>
            <a:pPr>
              <a:lnSpc>
                <a:spcPct val="110000"/>
              </a:lnSpc>
              <a:spcAft>
                <a:spcPts val="1100"/>
              </a:spcAft>
              <a:defRPr/>
            </a:pPr>
            <a:r>
              <a:rPr sz="1500">
                <a:solidFill>
                  <a:srgbClr val="212938"/>
                </a:solidFill>
                <a:latin typeface="Calibri"/>
              </a:rPr>
              <a:t>▪  SQL injection — every query goes through mysql2's parameterised placeholders; no string concatenation.</a:t>
            </a:r>
            <a:endParaRPr/>
          </a:p>
          <a:p>
            <a:pPr>
              <a:lnSpc>
                <a:spcPct val="110000"/>
              </a:lnSpc>
              <a:spcAft>
                <a:spcPts val="1100"/>
              </a:spcAft>
              <a:defRPr/>
            </a:pPr>
            <a:r>
              <a:rPr sz="1500">
                <a:solidFill>
                  <a:srgbClr val="212938"/>
                </a:solidFill>
                <a:latin typeface="Calibri"/>
              </a:rPr>
              <a:t>▪  Account changes — changing name, email or password requires re-entering the current password.</a:t>
            </a:r>
            <a:endParaRPr/>
          </a:p>
          <a:p>
            <a:pPr>
              <a:lnSpc>
                <a:spcPct val="110000"/>
              </a:lnSpc>
              <a:spcAft>
                <a:spcPts val="1100"/>
              </a:spcAft>
              <a:defRPr/>
            </a:pPr>
            <a:r>
              <a:rPr sz="1500">
                <a:solidFill>
                  <a:srgbClr val="212938"/>
                </a:solidFill>
                <a:latin typeface="Calibri"/>
              </a:rPr>
              <a:t>▪  Fail closed — a global error handler returns a generic message instead of leaking stack traces to clients.</a:t>
            </a:r>
            <a:endParaRPr/>
          </a:p>
          <a:p>
            <a:pPr>
              <a:lnSpc>
                <a:spcPct val="110000"/>
              </a:lnSpc>
              <a:spcAft>
                <a:spcPts val="1100"/>
              </a:spcAft>
              <a:defRPr/>
            </a:pPr>
            <a:r>
              <a:rPr sz="1500">
                <a:solidFill>
                  <a:srgbClr val="212938"/>
                </a:solidFill>
                <a:latin typeface="Calibri"/>
              </a:rPr>
              <a:t>▪  Data integrity — foreign keys with explicit ON DELETE rules; a schema_migrations ledger tracks what ran.</a:t>
            </a:r>
            <a:endParaRPr/>
          </a:p>
          <a:p>
            <a:pPr>
              <a:lnSpc>
                <a:spcPct val="110000"/>
              </a:lnSpc>
              <a:spcAft>
                <a:spcPts val="1100"/>
              </a:spcAft>
              <a:defRPr/>
            </a:pPr>
            <a:r>
              <a:rPr sz="1500">
                <a:solidFill>
                  <a:srgbClr val="212938"/>
                </a:solidFill>
                <a:latin typeface="Calibri"/>
              </a:rPr>
              <a:t>▪  Excel import/export — size-capped uploads, mobile-number normalisation, garbled-CSV detection.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8F9F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6075" name="TextBox 1"/>
          <p:cNvSpPr txBox="1"/>
          <p:nvPr/>
        </p:nvSpPr>
        <p:spPr bwMode="auto">
          <a:xfrm>
            <a:off x="548640" y="384048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3000" b="1" i="0">
                <a:solidFill>
                  <a:srgbClr val="B41E2E"/>
                </a:solidFill>
                <a:latin typeface="Calibri"/>
              </a:rPr>
              <a:t>9. Application Screens</a:t>
            </a:r>
            <a:endParaRPr/>
          </a:p>
        </p:txBody>
      </p:sp>
      <p:sp>
        <p:nvSpPr>
          <p:cNvPr id="248661361" name="TextBox 2"/>
          <p:cNvSpPr txBox="1"/>
          <p:nvPr/>
        </p:nvSpPr>
        <p:spPr bwMode="auto">
          <a:xfrm>
            <a:off x="566928" y="9601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400" b="0" i="0">
                <a:solidFill>
                  <a:srgbClr val="6B7280"/>
                </a:solidFill>
                <a:latin typeface="Calibri"/>
              </a:rPr>
              <a:t>Key screens in the admin console.</a:t>
            </a:r>
            <a:endParaRPr/>
          </a:p>
        </p:txBody>
      </p:sp>
      <p:sp>
        <p:nvSpPr>
          <p:cNvPr id="552271362" name="TextBox 3"/>
          <p:cNvSpPr txBox="1"/>
          <p:nvPr/>
        </p:nvSpPr>
        <p:spPr bwMode="auto"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900" b="0" i="0">
                <a:solidFill>
                  <a:srgbClr val="9CA3AF"/>
                </a:solidFill>
                <a:latin typeface="Calibri"/>
              </a:rPr>
              <a:t>DotLife  |  Vue 3 + Node.js + MySQL  |  Project Presentation</a:t>
            </a:r>
            <a:endParaRPr/>
          </a:p>
        </p:txBody>
      </p:sp>
      <p:sp>
        <p:nvSpPr>
          <p:cNvPr id="652432296" name="TextBox 4"/>
          <p:cNvSpPr txBox="1"/>
          <p:nvPr/>
        </p:nvSpPr>
        <p:spPr bwMode="auto"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/>
            </a:pPr>
            <a:r>
              <a:rPr sz="900" b="0" i="0">
                <a:solidFill>
                  <a:srgbClr val="9CA3AF"/>
                </a:solidFill>
                <a:latin typeface="Calibri"/>
              </a:rPr>
              <a:t>10</a:t>
            </a:r>
            <a:endParaRPr/>
          </a:p>
        </p:txBody>
      </p:sp>
      <p:sp>
        <p:nvSpPr>
          <p:cNvPr id="445318125" name="Rounded Rectangle 5"/>
          <p:cNvSpPr/>
          <p:nvPr/>
        </p:nvSpPr>
        <p:spPr bwMode="auto">
          <a:xfrm>
            <a:off x="822960" y="1600200"/>
            <a:ext cx="3337560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06054698" name="TextBox 6"/>
          <p:cNvSpPr txBox="1"/>
          <p:nvPr/>
        </p:nvSpPr>
        <p:spPr bwMode="auto">
          <a:xfrm>
            <a:off x="822960" y="2286000"/>
            <a:ext cx="3337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/>
            </a:pPr>
            <a:r>
              <a:rPr sz="1500" b="1" i="0">
                <a:solidFill>
                  <a:srgbClr val="9CA3AF"/>
                </a:solidFill>
                <a:latin typeface="Calibri"/>
              </a:rPr>
              <a:t>SCREENSHOT</a:t>
            </a:r>
            <a:endParaRPr/>
          </a:p>
        </p:txBody>
      </p:sp>
      <p:sp>
        <p:nvSpPr>
          <p:cNvPr id="1725607929" name="TextBox 7"/>
          <p:cNvSpPr txBox="1"/>
          <p:nvPr/>
        </p:nvSpPr>
        <p:spPr bwMode="auto">
          <a:xfrm>
            <a:off x="822960" y="3017519"/>
            <a:ext cx="3337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/>
            </a:pPr>
            <a:r>
              <a:rPr sz="1500" b="1" i="0">
                <a:solidFill>
                  <a:srgbClr val="B41E2E"/>
                </a:solidFill>
                <a:latin typeface="Calibri"/>
              </a:rPr>
              <a:t>Dashboard</a:t>
            </a:r>
            <a:endParaRPr/>
          </a:p>
        </p:txBody>
      </p:sp>
      <p:sp>
        <p:nvSpPr>
          <p:cNvPr id="58896913" name="Rounded Rectangle 8"/>
          <p:cNvSpPr/>
          <p:nvPr/>
        </p:nvSpPr>
        <p:spPr bwMode="auto">
          <a:xfrm>
            <a:off x="4434840" y="1600200"/>
            <a:ext cx="3337560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47933433" name="TextBox 9"/>
          <p:cNvSpPr txBox="1"/>
          <p:nvPr/>
        </p:nvSpPr>
        <p:spPr bwMode="auto">
          <a:xfrm>
            <a:off x="4434840" y="2286000"/>
            <a:ext cx="3337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/>
            </a:pPr>
            <a:r>
              <a:rPr sz="1500" b="1" i="0">
                <a:solidFill>
                  <a:srgbClr val="9CA3AF"/>
                </a:solidFill>
                <a:latin typeface="Calibri"/>
              </a:rPr>
              <a:t>SCREENSHOT</a:t>
            </a:r>
            <a:endParaRPr/>
          </a:p>
        </p:txBody>
      </p:sp>
      <p:sp>
        <p:nvSpPr>
          <p:cNvPr id="1775878615" name="TextBox 10"/>
          <p:cNvSpPr txBox="1"/>
          <p:nvPr/>
        </p:nvSpPr>
        <p:spPr bwMode="auto">
          <a:xfrm>
            <a:off x="4434840" y="3017519"/>
            <a:ext cx="3337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/>
            </a:pPr>
            <a:r>
              <a:rPr sz="1500" b="1" i="0">
                <a:solidFill>
                  <a:srgbClr val="B41E2E"/>
                </a:solidFill>
                <a:latin typeface="Calibri"/>
              </a:rPr>
              <a:t>Donor Management</a:t>
            </a:r>
            <a:endParaRPr/>
          </a:p>
        </p:txBody>
      </p:sp>
      <p:sp>
        <p:nvSpPr>
          <p:cNvPr id="1411016306" name="Rounded Rectangle 11"/>
          <p:cNvSpPr/>
          <p:nvPr/>
        </p:nvSpPr>
        <p:spPr bwMode="auto">
          <a:xfrm>
            <a:off x="8046720" y="1600200"/>
            <a:ext cx="3337560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9647099" name="TextBox 12"/>
          <p:cNvSpPr txBox="1"/>
          <p:nvPr/>
        </p:nvSpPr>
        <p:spPr bwMode="auto">
          <a:xfrm>
            <a:off x="8046720" y="2286000"/>
            <a:ext cx="3337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/>
            </a:pPr>
            <a:r>
              <a:rPr sz="1500" b="1" i="0">
                <a:solidFill>
                  <a:srgbClr val="9CA3AF"/>
                </a:solidFill>
                <a:latin typeface="Calibri"/>
              </a:rPr>
              <a:t>SCREENSHOT</a:t>
            </a:r>
            <a:endParaRPr/>
          </a:p>
        </p:txBody>
      </p:sp>
      <p:sp>
        <p:nvSpPr>
          <p:cNvPr id="792195968" name="TextBox 13"/>
          <p:cNvSpPr txBox="1"/>
          <p:nvPr/>
        </p:nvSpPr>
        <p:spPr bwMode="auto">
          <a:xfrm>
            <a:off x="8046720" y="3017519"/>
            <a:ext cx="3337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/>
            </a:pPr>
            <a:r>
              <a:rPr sz="1500" b="1" i="0">
                <a:solidFill>
                  <a:srgbClr val="B41E2E"/>
                </a:solidFill>
                <a:latin typeface="Calibri"/>
              </a:rPr>
              <a:t>Camp Register</a:t>
            </a:r>
            <a:endParaRPr/>
          </a:p>
        </p:txBody>
      </p:sp>
      <p:sp>
        <p:nvSpPr>
          <p:cNvPr id="1563950887" name="Rounded Rectangle 14"/>
          <p:cNvSpPr/>
          <p:nvPr/>
        </p:nvSpPr>
        <p:spPr bwMode="auto">
          <a:xfrm>
            <a:off x="822960" y="3977639"/>
            <a:ext cx="3337560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44473996" name="TextBox 15"/>
          <p:cNvSpPr txBox="1"/>
          <p:nvPr/>
        </p:nvSpPr>
        <p:spPr bwMode="auto">
          <a:xfrm>
            <a:off x="822960" y="4663439"/>
            <a:ext cx="3337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/>
            </a:pPr>
            <a:r>
              <a:rPr sz="1500" b="1" i="0">
                <a:solidFill>
                  <a:srgbClr val="9CA3AF"/>
                </a:solidFill>
                <a:latin typeface="Calibri"/>
              </a:rPr>
              <a:t>SCREENSHOT</a:t>
            </a:r>
            <a:endParaRPr/>
          </a:p>
        </p:txBody>
      </p:sp>
      <p:sp>
        <p:nvSpPr>
          <p:cNvPr id="1289936245" name="TextBox 16"/>
          <p:cNvSpPr txBox="1"/>
          <p:nvPr/>
        </p:nvSpPr>
        <p:spPr bwMode="auto">
          <a:xfrm>
            <a:off x="822960" y="5394959"/>
            <a:ext cx="3337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/>
            </a:pPr>
            <a:r>
              <a:rPr sz="1500" b="1" i="0">
                <a:solidFill>
                  <a:srgbClr val="B41E2E"/>
                </a:solidFill>
                <a:latin typeface="Calibri"/>
              </a:rPr>
              <a:t>Budget &amp; Donations</a:t>
            </a:r>
            <a:endParaRPr/>
          </a:p>
        </p:txBody>
      </p:sp>
      <p:sp>
        <p:nvSpPr>
          <p:cNvPr id="788874249" name="Rounded Rectangle 17"/>
          <p:cNvSpPr/>
          <p:nvPr/>
        </p:nvSpPr>
        <p:spPr bwMode="auto">
          <a:xfrm>
            <a:off x="4434840" y="3977639"/>
            <a:ext cx="3337560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63243330" name="TextBox 18"/>
          <p:cNvSpPr txBox="1"/>
          <p:nvPr/>
        </p:nvSpPr>
        <p:spPr bwMode="auto">
          <a:xfrm>
            <a:off x="4434840" y="4663439"/>
            <a:ext cx="3337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/>
            </a:pPr>
            <a:r>
              <a:rPr sz="1500" b="1" i="0">
                <a:solidFill>
                  <a:srgbClr val="9CA3AF"/>
                </a:solidFill>
                <a:latin typeface="Calibri"/>
              </a:rPr>
              <a:t>SCREENSHOT</a:t>
            </a:r>
            <a:endParaRPr/>
          </a:p>
        </p:txBody>
      </p:sp>
      <p:sp>
        <p:nvSpPr>
          <p:cNvPr id="2036463337" name="TextBox 19"/>
          <p:cNvSpPr txBox="1"/>
          <p:nvPr/>
        </p:nvSpPr>
        <p:spPr bwMode="auto">
          <a:xfrm>
            <a:off x="4434840" y="5394959"/>
            <a:ext cx="3337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/>
            </a:pPr>
            <a:r>
              <a:rPr sz="1500" b="1" i="0">
                <a:solidFill>
                  <a:srgbClr val="B41E2E"/>
                </a:solidFill>
                <a:latin typeface="Calibri"/>
              </a:rPr>
              <a:t>Messaging &amp; Templates</a:t>
            </a:r>
            <a:endParaRPr/>
          </a:p>
        </p:txBody>
      </p:sp>
      <p:sp>
        <p:nvSpPr>
          <p:cNvPr id="1719467178" name="Rounded Rectangle 20"/>
          <p:cNvSpPr/>
          <p:nvPr/>
        </p:nvSpPr>
        <p:spPr bwMode="auto">
          <a:xfrm>
            <a:off x="8046720" y="3977639"/>
            <a:ext cx="3337560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29687362" name="TextBox 21"/>
          <p:cNvSpPr txBox="1"/>
          <p:nvPr/>
        </p:nvSpPr>
        <p:spPr bwMode="auto">
          <a:xfrm>
            <a:off x="8046720" y="4663439"/>
            <a:ext cx="3337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/>
            </a:pPr>
            <a:r>
              <a:rPr sz="1500" b="1" i="0">
                <a:solidFill>
                  <a:srgbClr val="9CA3AF"/>
                </a:solidFill>
                <a:latin typeface="Calibri"/>
              </a:rPr>
              <a:t>SCREENSHOT</a:t>
            </a:r>
            <a:endParaRPr/>
          </a:p>
        </p:txBody>
      </p:sp>
      <p:sp>
        <p:nvSpPr>
          <p:cNvPr id="2095672876" name="TextBox 22"/>
          <p:cNvSpPr txBox="1"/>
          <p:nvPr/>
        </p:nvSpPr>
        <p:spPr bwMode="auto">
          <a:xfrm>
            <a:off x="8046720" y="5394959"/>
            <a:ext cx="3337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/>
            </a:pPr>
            <a:r>
              <a:rPr sz="1500" b="1" i="0">
                <a:solidFill>
                  <a:srgbClr val="B41E2E"/>
                </a:solidFill>
                <a:latin typeface="Calibri"/>
              </a:rPr>
              <a:t>Reports</a:t>
            </a:r>
            <a:endParaRPr/>
          </a:p>
        </p:txBody>
      </p:sp>
      <p:pic>
        <p:nvPicPr>
          <p:cNvPr id="1973243935" name="Picture 23" descr="landing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57200" y="1828800"/>
            <a:ext cx="4064000" cy="2286000"/>
          </a:xfrm>
          <a:prstGeom prst="rect">
            <a:avLst/>
          </a:prstGeom>
        </p:spPr>
      </p:pic>
      <p:pic>
        <p:nvPicPr>
          <p:cNvPr id="415845152" name="Picture 24" descr="login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029200" y="1828800"/>
            <a:ext cx="4064000" cy="2286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8F9F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5366527" name="TextBox 1"/>
          <p:cNvSpPr txBox="1"/>
          <p:nvPr/>
        </p:nvSpPr>
        <p:spPr bwMode="auto">
          <a:xfrm>
            <a:off x="548640" y="384048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3000" b="1" i="0">
                <a:solidFill>
                  <a:srgbClr val="B41E2E"/>
                </a:solidFill>
                <a:latin typeface="Calibri"/>
              </a:rPr>
              <a:t>10. Testing &amp; Verification</a:t>
            </a:r>
            <a:endParaRPr/>
          </a:p>
        </p:txBody>
      </p:sp>
      <p:sp>
        <p:nvSpPr>
          <p:cNvPr id="1106543943" name="TextBox 2"/>
          <p:cNvSpPr txBox="1"/>
          <p:nvPr/>
        </p:nvSpPr>
        <p:spPr bwMode="auto">
          <a:xfrm>
            <a:off x="566928" y="9601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400" b="0" i="0">
                <a:solidFill>
                  <a:srgbClr val="6B7280"/>
                </a:solidFill>
                <a:latin typeface="Calibri"/>
              </a:rPr>
              <a:t>How the fixed system was verified before this presentation.</a:t>
            </a:r>
            <a:endParaRPr/>
          </a:p>
        </p:txBody>
      </p:sp>
      <p:sp>
        <p:nvSpPr>
          <p:cNvPr id="846972696" name="TextBox 3"/>
          <p:cNvSpPr txBox="1"/>
          <p:nvPr/>
        </p:nvSpPr>
        <p:spPr bwMode="auto"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900" b="0" i="0">
                <a:solidFill>
                  <a:srgbClr val="9CA3AF"/>
                </a:solidFill>
                <a:latin typeface="Calibri"/>
              </a:rPr>
              <a:t>DotLife  |  Vue 3 + Node.js + MySQL  |  Project Presentation</a:t>
            </a:r>
            <a:endParaRPr/>
          </a:p>
        </p:txBody>
      </p:sp>
      <p:sp>
        <p:nvSpPr>
          <p:cNvPr id="1673379529" name="TextBox 4"/>
          <p:cNvSpPr txBox="1"/>
          <p:nvPr/>
        </p:nvSpPr>
        <p:spPr bwMode="auto"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/>
            </a:pPr>
            <a:r>
              <a:rPr sz="900" b="0" i="0">
                <a:solidFill>
                  <a:srgbClr val="9CA3AF"/>
                </a:solidFill>
                <a:latin typeface="Calibri"/>
              </a:rPr>
              <a:t>11</a:t>
            </a:r>
            <a:endParaRPr/>
          </a:p>
        </p:txBody>
      </p:sp>
      <p:sp>
        <p:nvSpPr>
          <p:cNvPr id="1386090609" name="TextBox 5"/>
          <p:cNvSpPr txBox="1"/>
          <p:nvPr/>
        </p:nvSpPr>
        <p:spPr bwMode="auto">
          <a:xfrm>
            <a:off x="822960" y="1554480"/>
            <a:ext cx="10332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300"/>
              </a:spcAft>
              <a:defRPr/>
            </a:pPr>
            <a:r>
              <a:rPr sz="1500">
                <a:solidFill>
                  <a:srgbClr val="212938"/>
                </a:solidFill>
                <a:latin typeface="Calibri"/>
              </a:rPr>
              <a:t>▪  Full source audit across the Vue 3 frontend, Express API and MySQL schema — request/response contracts, SQL correctness and router paths checked file by file.</a:t>
            </a:r>
            <a:endParaRPr/>
          </a:p>
          <a:p>
            <a:pPr>
              <a:lnSpc>
                <a:spcPct val="110000"/>
              </a:lnSpc>
              <a:spcAft>
                <a:spcPts val="1300"/>
              </a:spcAft>
              <a:defRPr/>
            </a:pPr>
            <a:r>
              <a:rPr sz="1500">
                <a:solidFill>
                  <a:srgbClr val="212938"/>
                </a:solidFill>
                <a:latin typeface="Calibri"/>
              </a:rPr>
              <a:t>▪  Deployed and tested the frontend, backend, and database successfully.</a:t>
            </a:r>
            <a:endParaRPr/>
          </a:p>
          <a:p>
            <a:pPr>
              <a:lnSpc>
                <a:spcPct val="110000"/>
              </a:lnSpc>
              <a:spcAft>
                <a:spcPts val="1300"/>
              </a:spcAft>
              <a:defRPr/>
            </a:pPr>
            <a:r>
              <a:rPr sz="1500">
                <a:solidFill>
                  <a:srgbClr val="212938"/>
                </a:solidFill>
                <a:latin typeface="Calibri"/>
              </a:rPr>
              <a:t>▪  Live endpoint checks after fixes: login and session flow, donor CRUD and search, camp finance summary and category totals, camp-register lookup, and Excel report export.</a:t>
            </a:r>
            <a:endParaRPr/>
          </a:p>
          <a:p>
            <a:pPr>
              <a:lnSpc>
                <a:spcPct val="110000"/>
              </a:lnSpc>
              <a:spcAft>
                <a:spcPts val="1300"/>
              </a:spcAft>
              <a:defRPr/>
            </a:pPr>
            <a:r>
              <a:rPr sz="1500">
                <a:solidFill>
                  <a:srgbClr val="212938"/>
                </a:solidFill>
                <a:latin typeface="Calibri"/>
              </a:rPr>
              <a:t>▪  Data-integrity check: fresh-install seed data (donors, camps, templates, message logs) loads without foreign-key errors.</a:t>
            </a:r>
            <a:endParaRPr/>
          </a:p>
          <a:p>
            <a:pPr>
              <a:lnSpc>
                <a:spcPct val="110000"/>
              </a:lnSpc>
              <a:spcAft>
                <a:spcPts val="1300"/>
              </a:spcAft>
              <a:defRPr/>
            </a:pPr>
            <a:r>
              <a:rPr sz="1500">
                <a:solidFill>
                  <a:srgbClr val="212938"/>
                </a:solidFill>
                <a:latin typeface="Calibri"/>
              </a:rPr>
              <a:t>▪  Regression check: values written through the fixed endpoints (e.g. new contribution categories) were re-read back correctly, then the test rows were removed — the database ships clean.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8F9F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5418387" name="TextBox 1"/>
          <p:cNvSpPr txBox="1"/>
          <p:nvPr/>
        </p:nvSpPr>
        <p:spPr bwMode="auto">
          <a:xfrm>
            <a:off x="548640" y="384048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3000" b="1" i="0">
                <a:solidFill>
                  <a:srgbClr val="B41E2E"/>
                </a:solidFill>
                <a:latin typeface="Calibri"/>
              </a:rPr>
              <a:t>11. Deployment</a:t>
            </a:r>
            <a:endParaRPr/>
          </a:p>
        </p:txBody>
      </p:sp>
      <p:sp>
        <p:nvSpPr>
          <p:cNvPr id="1005764441" name="TextBox 2"/>
          <p:cNvSpPr txBox="1"/>
          <p:nvPr/>
        </p:nvSpPr>
        <p:spPr bwMode="auto">
          <a:xfrm>
            <a:off x="566928" y="9601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400" b="0" i="0">
                <a:solidFill>
                  <a:srgbClr val="6B7280"/>
                </a:solidFill>
                <a:latin typeface="Calibri"/>
              </a:rPr>
              <a:t>Deployed on standard web hosting.</a:t>
            </a:r>
            <a:endParaRPr/>
          </a:p>
        </p:txBody>
      </p:sp>
      <p:sp>
        <p:nvSpPr>
          <p:cNvPr id="117800038" name="TextBox 3"/>
          <p:cNvSpPr txBox="1"/>
          <p:nvPr/>
        </p:nvSpPr>
        <p:spPr bwMode="auto"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900" b="0" i="0">
                <a:solidFill>
                  <a:srgbClr val="9CA3AF"/>
                </a:solidFill>
                <a:latin typeface="Calibri"/>
              </a:rPr>
              <a:t>DotLife  |  Vue 3 + Node.js + MySQL  |  Project Presentation</a:t>
            </a:r>
            <a:endParaRPr/>
          </a:p>
        </p:txBody>
      </p:sp>
      <p:sp>
        <p:nvSpPr>
          <p:cNvPr id="2061623090" name="TextBox 4"/>
          <p:cNvSpPr txBox="1"/>
          <p:nvPr/>
        </p:nvSpPr>
        <p:spPr bwMode="auto"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/>
            </a:pPr>
            <a:r>
              <a:rPr sz="900" b="0" i="0">
                <a:solidFill>
                  <a:srgbClr val="9CA3AF"/>
                </a:solidFill>
                <a:latin typeface="Calibri"/>
              </a:rPr>
              <a:t>12</a:t>
            </a:r>
            <a:endParaRPr/>
          </a:p>
        </p:txBody>
      </p:sp>
      <p:sp>
        <p:nvSpPr>
          <p:cNvPr id="1397790584" name="TextBox 5"/>
          <p:cNvSpPr txBox="1"/>
          <p:nvPr/>
        </p:nvSpPr>
        <p:spPr bwMode="auto">
          <a:xfrm>
            <a:off x="822960" y="1554480"/>
            <a:ext cx="603503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/>
              <a:t>▪ Deployed online using standard web hosting services.</a:t>
            </a:r>
            <a:endParaRPr/>
          </a:p>
          <a:p>
            <a:pPr>
              <a:defRPr/>
            </a:pPr>
            <a:r>
              <a:rPr/>
              <a:t>▪ Frontend is a Vue 3 Single Page Application.</a:t>
            </a:r>
            <a:endParaRPr/>
          </a:p>
          <a:p>
            <a:pPr>
              <a:defRPr/>
            </a:pPr>
            <a:r>
              <a:rPr/>
              <a:t>▪ Backend is a Node.js REST API.</a:t>
            </a:r>
            <a:endParaRPr/>
          </a:p>
          <a:p>
            <a:pPr>
              <a:defRPr/>
            </a:pPr>
            <a:r>
              <a:rPr/>
              <a:t>▪ Database is MySQL/MariaDB.</a:t>
            </a:r>
            <a:endParaRPr/>
          </a:p>
        </p:txBody>
      </p:sp>
      <p:sp>
        <p:nvSpPr>
          <p:cNvPr id="697152595" name="Rounded Rectangle 6"/>
          <p:cNvSpPr/>
          <p:nvPr/>
        </p:nvSpPr>
        <p:spPr bwMode="auto">
          <a:xfrm>
            <a:off x="7178039" y="1600200"/>
            <a:ext cx="4206240" cy="3931920"/>
          </a:xfrm>
          <a:prstGeom prst="roundRect">
            <a:avLst>
              <a:gd name="adj" fmla="val 4000"/>
            </a:avLst>
          </a:prstGeom>
          <a:solidFill>
            <a:srgbClr val="2129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05118944" name="TextBox 7"/>
          <p:cNvSpPr txBox="1"/>
          <p:nvPr/>
        </p:nvSpPr>
        <p:spPr bwMode="auto">
          <a:xfrm>
            <a:off x="7498080" y="1874519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300" b="1" i="0">
                <a:solidFill>
                  <a:srgbClr val="E5E7EB"/>
                </a:solidFill>
                <a:latin typeface="Calibri"/>
              </a:rPr>
              <a:t>System Architecture</a:t>
            </a:r>
            <a:endParaRPr/>
          </a:p>
        </p:txBody>
      </p:sp>
      <p:sp>
        <p:nvSpPr>
          <p:cNvPr id="846801291" name="TextBox 8"/>
          <p:cNvSpPr txBox="1"/>
          <p:nvPr/>
        </p:nvSpPr>
        <p:spPr bwMode="auto">
          <a:xfrm>
            <a:off x="7498080" y="2331720"/>
            <a:ext cx="3612240" cy="823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/>
            </a:pPr>
            <a:r>
              <a:rPr>
                <a:solidFill>
                  <a:schemeClr val="bg1"/>
                </a:solidFill>
              </a:rPr>
              <a:t>Frontend: Vue 3</a:t>
            </a:r>
            <a:endParaRPr>
              <a:solidFill>
                <a:schemeClr val="bg1"/>
              </a:solidFill>
            </a:endParaRPr>
          </a:p>
          <a:p>
            <a:pPr>
              <a:defRPr/>
            </a:pPr>
            <a:r>
              <a:rPr>
                <a:solidFill>
                  <a:schemeClr val="bg1"/>
                </a:solidFill>
              </a:rPr>
              <a:t>Backend: Node.js / Express</a:t>
            </a:r>
            <a:endParaRPr>
              <a:solidFill>
                <a:schemeClr val="bg1"/>
              </a:solidFill>
            </a:endParaRPr>
          </a:p>
          <a:p>
            <a:pPr>
              <a:defRPr/>
            </a:pPr>
            <a:r>
              <a:rPr>
                <a:solidFill>
                  <a:schemeClr val="bg1"/>
                </a:solidFill>
              </a:rPr>
              <a:t>Database: MySQL</a:t>
            </a:r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8F9F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2834265" name="TextBox 1"/>
          <p:cNvSpPr txBox="1"/>
          <p:nvPr/>
        </p:nvSpPr>
        <p:spPr bwMode="auto">
          <a:xfrm>
            <a:off x="548640" y="384048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3000" b="1" i="0">
                <a:solidFill>
                  <a:srgbClr val="B41E2E"/>
                </a:solidFill>
                <a:latin typeface="Calibri"/>
              </a:rPr>
              <a:t>12. Benefits &amp; Future Scope</a:t>
            </a:r>
            <a:endParaRPr/>
          </a:p>
        </p:txBody>
      </p:sp>
      <p:sp>
        <p:nvSpPr>
          <p:cNvPr id="850317392" name="TextBox 2"/>
          <p:cNvSpPr txBox="1"/>
          <p:nvPr/>
        </p:nvSpPr>
        <p:spPr bwMode="auto">
          <a:xfrm>
            <a:off x="566928" y="9601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400" b="0" i="0">
                <a:solidFill>
                  <a:srgbClr val="6B7280"/>
                </a:solidFill>
                <a:latin typeface="Calibri"/>
              </a:rPr>
              <a:t>Impact today, and what's still ahead.</a:t>
            </a:r>
            <a:endParaRPr/>
          </a:p>
        </p:txBody>
      </p:sp>
      <p:sp>
        <p:nvSpPr>
          <p:cNvPr id="1684288658" name="TextBox 3"/>
          <p:cNvSpPr txBox="1"/>
          <p:nvPr/>
        </p:nvSpPr>
        <p:spPr bwMode="auto"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900" b="0" i="0">
                <a:solidFill>
                  <a:srgbClr val="9CA3AF"/>
                </a:solidFill>
                <a:latin typeface="Calibri"/>
              </a:rPr>
              <a:t>DotLife  |  Vue 3 + Node.js + MySQL  |  Project Presentation</a:t>
            </a:r>
            <a:endParaRPr/>
          </a:p>
        </p:txBody>
      </p:sp>
      <p:sp>
        <p:nvSpPr>
          <p:cNvPr id="1846422224" name="TextBox 4"/>
          <p:cNvSpPr txBox="1"/>
          <p:nvPr/>
        </p:nvSpPr>
        <p:spPr bwMode="auto"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/>
            </a:pPr>
            <a:r>
              <a:rPr sz="900" b="0" i="0">
                <a:solidFill>
                  <a:srgbClr val="9CA3AF"/>
                </a:solidFill>
                <a:latin typeface="Calibri"/>
              </a:rPr>
              <a:t>13</a:t>
            </a:r>
            <a:endParaRPr/>
          </a:p>
        </p:txBody>
      </p:sp>
      <p:sp>
        <p:nvSpPr>
          <p:cNvPr id="650091951" name="TextBox 5"/>
          <p:cNvSpPr txBox="1"/>
          <p:nvPr/>
        </p:nvSpPr>
        <p:spPr bwMode="auto">
          <a:xfrm>
            <a:off x="822960" y="155448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  <a:defRPr/>
            </a:pPr>
            <a:r>
              <a:rPr sz="1500">
                <a:solidFill>
                  <a:srgbClr val="212938"/>
                </a:solidFill>
                <a:latin typeface="Calibri"/>
              </a:rPr>
              <a:t>▪  One system replaces paper registers, spreadsheets and ad-hoc phone calls for running a camp.</a:t>
            </a:r>
            <a:endParaRPr/>
          </a:p>
          <a:p>
            <a:pPr>
              <a:lnSpc>
                <a:spcPct val="110000"/>
              </a:lnSpc>
              <a:spcAft>
                <a:spcPts val="1000"/>
              </a:spcAft>
              <a:defRPr/>
            </a:pPr>
            <a:r>
              <a:rPr sz="1500">
                <a:solidFill>
                  <a:srgbClr val="212938"/>
                </a:solidFill>
                <a:latin typeface="Calibri"/>
              </a:rPr>
              <a:t>▪  Chunked, deduplicated messaging safely reaches hundreds of donors without double-sending.</a:t>
            </a:r>
            <a:endParaRPr/>
          </a:p>
          <a:p>
            <a:pPr>
              <a:lnSpc>
                <a:spcPct val="110000"/>
              </a:lnSpc>
              <a:spcAft>
                <a:spcPts val="1000"/>
              </a:spcAft>
              <a:defRPr/>
            </a:pPr>
            <a:r>
              <a:rPr sz="1500">
                <a:solidFill>
                  <a:srgbClr val="212938"/>
                </a:solidFill>
                <a:latin typeface="Calibri"/>
              </a:rPr>
              <a:t>▪  Clear separation of cash vs. in-kind donations gives organisers an honest, auditable budget picture.</a:t>
            </a:r>
            <a:endParaRPr/>
          </a:p>
        </p:txBody>
      </p:sp>
      <p:sp>
        <p:nvSpPr>
          <p:cNvPr id="1426403560" name="TextBox 6"/>
          <p:cNvSpPr txBox="1"/>
          <p:nvPr/>
        </p:nvSpPr>
        <p:spPr bwMode="auto">
          <a:xfrm>
            <a:off x="822960" y="34290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600" b="1" i="0">
                <a:solidFill>
                  <a:srgbClr val="B41E2E"/>
                </a:solidFill>
                <a:latin typeface="Calibri"/>
              </a:rPr>
              <a:t>Outstanding / Roadmap</a:t>
            </a:r>
            <a:endParaRPr/>
          </a:p>
        </p:txBody>
      </p:sp>
      <p:sp>
        <p:nvSpPr>
          <p:cNvPr id="1966362420" name="TextBox 7"/>
          <p:cNvSpPr txBox="1"/>
          <p:nvPr/>
        </p:nvSpPr>
        <p:spPr bwMode="auto">
          <a:xfrm>
            <a:off x="822960" y="3840480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  <a:defRPr/>
            </a:pPr>
            <a:r>
              <a:rPr sz="1400">
                <a:solidFill>
                  <a:srgbClr val="212938"/>
                </a:solidFill>
                <a:latin typeface="Calibri"/>
              </a:rPr>
              <a:t>▪  Get the three WhatsApp templates (camp notice, emergency, general) approved in WhatsApp Manager.</a:t>
            </a:r>
            <a:endParaRPr/>
          </a:p>
          <a:p>
            <a:pPr>
              <a:lnSpc>
                <a:spcPct val="110000"/>
              </a:lnSpc>
              <a:spcAft>
                <a:spcPts val="900"/>
              </a:spcAft>
              <a:defRPr/>
            </a:pPr>
            <a:r>
              <a:rPr sz="1400">
                <a:solidFill>
                  <a:srgbClr val="212938"/>
                </a:solidFill>
                <a:latin typeface="Calibri"/>
              </a:rPr>
              <a:t>▪  Register the organisation's own WhatsApp number and an 11-character approved SMS sender ID.</a:t>
            </a:r>
            <a:endParaRPr/>
          </a:p>
          <a:p>
            <a:pPr>
              <a:lnSpc>
                <a:spcPct val="110000"/>
              </a:lnSpc>
              <a:spcAft>
                <a:spcPts val="900"/>
              </a:spcAft>
              <a:defRPr/>
            </a:pPr>
            <a:r>
              <a:rPr sz="1400">
                <a:solidFill>
                  <a:srgbClr val="212938"/>
                </a:solidFill>
                <a:latin typeface="Calibri"/>
              </a:rPr>
              <a:t>▪  Finish transcribing the remaining paper register pages (~19) into the donor database.</a:t>
            </a:r>
            <a:endParaRPr/>
          </a:p>
          <a:p>
            <a:pPr>
              <a:lnSpc>
                <a:spcPct val="110000"/>
              </a:lnSpc>
              <a:spcAft>
                <a:spcPts val="900"/>
              </a:spcAft>
              <a:defRPr/>
            </a:pPr>
            <a:r>
              <a:rPr sz="1400">
                <a:solidFill>
                  <a:srgbClr val="212938"/>
                </a:solidFill>
                <a:latin typeface="Calibri"/>
              </a:rPr>
              <a:t>▪  Admin dashboard widgets for donor-retention trends and per-camp turnout over time.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0519196" name="TextBox 1"/>
          <p:cNvSpPr txBox="1"/>
          <p:nvPr/>
        </p:nvSpPr>
        <p:spPr bwMode="auto">
          <a:xfrm>
            <a:off x="0" y="2286000"/>
            <a:ext cx="1219169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/>
            </a:pPr>
            <a:r>
              <a:rPr sz="4400" b="1" i="0">
                <a:solidFill>
                  <a:srgbClr val="B41E2E"/>
                </a:solidFill>
                <a:latin typeface="Calibri"/>
              </a:rPr>
              <a:t>Thank You</a:t>
            </a:r>
            <a:endParaRPr/>
          </a:p>
        </p:txBody>
      </p:sp>
      <p:sp>
        <p:nvSpPr>
          <p:cNvPr id="2000160254" name="TextBox 2"/>
          <p:cNvSpPr txBox="1"/>
          <p:nvPr/>
        </p:nvSpPr>
        <p:spPr bwMode="auto">
          <a:xfrm>
            <a:off x="0" y="3154680"/>
            <a:ext cx="1219169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/>
            </a:pPr>
            <a:r>
              <a:rPr sz="2200" b="1" i="0">
                <a:solidFill>
                  <a:srgbClr val="212938"/>
                </a:solidFill>
                <a:latin typeface="Calibri"/>
              </a:rPr>
              <a:t>Questions &amp; Answers</a:t>
            </a:r>
            <a:endParaRPr/>
          </a:p>
        </p:txBody>
      </p:sp>
      <p:sp>
        <p:nvSpPr>
          <p:cNvPr id="897463498" name="TextBox 3"/>
          <p:cNvSpPr txBox="1"/>
          <p:nvPr/>
        </p:nvSpPr>
        <p:spPr bwMode="auto">
          <a:xfrm>
            <a:off x="0" y="4251960"/>
            <a:ext cx="1219169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defRPr/>
            </a:pPr>
            <a:r>
              <a:rPr sz="1500" b="0" i="0">
                <a:solidFill>
                  <a:srgbClr val="6B7280"/>
                </a:solidFill>
                <a:latin typeface="Calibri"/>
              </a:rPr>
              <a:t>DotLife</a:t>
            </a:r>
            <a:endParaRPr/>
          </a:p>
          <a:p>
            <a:pPr algn="ctr">
              <a:lnSpc>
                <a:spcPct val="130000"/>
              </a:lnSpc>
              <a:defRPr/>
            </a:pPr>
            <a:r>
              <a:rPr sz="1500" b="0" i="0">
                <a:solidFill>
                  <a:srgbClr val="6B7280"/>
                </a:solidFill>
                <a:latin typeface="Calibri"/>
              </a:rPr>
              <a:t>Vue 3  •  Node.js / Express  •  MySQL  •  </a:t>
            </a:r>
            <a:endParaRPr/>
          </a:p>
        </p:txBody>
      </p:sp>
      <p:sp>
        <p:nvSpPr>
          <p:cNvPr id="621370184" name="TextBox 4"/>
          <p:cNvSpPr txBox="1"/>
          <p:nvPr/>
        </p:nvSpPr>
        <p:spPr bwMode="auto">
          <a:xfrm>
            <a:off x="0" y="5349240"/>
            <a:ext cx="121916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/>
            </a:pPr>
            <a:r>
              <a:rPr sz="1600" b="1" i="1">
                <a:solidFill>
                  <a:srgbClr val="B41E2E"/>
                </a:solidFill>
                <a:latin typeface="Calibri"/>
              </a:rPr>
              <a:t>“A small contribution can save a life.”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082296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Application Screens: Dashboard</a:t>
            </a:r>
            <a:endParaRPr/>
          </a:p>
        </p:txBody>
      </p:sp>
      <p:pic>
        <p:nvPicPr>
          <p:cNvPr id="1929778622" name="Picture 2" descr="Dashboar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57200" y="1371600"/>
            <a:ext cx="8229600" cy="37097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965183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Application Screens: Donor Management</a:t>
            </a:r>
            <a:endParaRPr/>
          </a:p>
        </p:txBody>
      </p:sp>
      <p:pic>
        <p:nvPicPr>
          <p:cNvPr id="842267478" name="Picture 2" descr="Donors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57200" y="1371600"/>
            <a:ext cx="8229600" cy="37097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768107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Application Screens: Camp Register</a:t>
            </a:r>
            <a:endParaRPr/>
          </a:p>
        </p:txBody>
      </p:sp>
      <p:pic>
        <p:nvPicPr>
          <p:cNvPr id="1000429511" name="Picture 2" descr="Register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57200" y="1371600"/>
            <a:ext cx="8229600" cy="37097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226264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Application Screens: Budget &amp; Donations</a:t>
            </a:r>
            <a:endParaRPr/>
          </a:p>
        </p:txBody>
      </p:sp>
      <p:pic>
        <p:nvPicPr>
          <p:cNvPr id="1153507404" name="Picture 2" descr="Budget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57200" y="1371600"/>
            <a:ext cx="8229600" cy="37097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200071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Application Screens: Messaging &amp; Templates</a:t>
            </a:r>
            <a:endParaRPr/>
          </a:p>
        </p:txBody>
      </p:sp>
      <p:pic>
        <p:nvPicPr>
          <p:cNvPr id="2138997253" name="Picture 2" descr="Messages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57200" y="1371600"/>
            <a:ext cx="8229600" cy="37097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18076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Application Screens: Reports</a:t>
            </a:r>
            <a:endParaRPr/>
          </a:p>
        </p:txBody>
      </p:sp>
      <p:pic>
        <p:nvPicPr>
          <p:cNvPr id="178692976" name="Picture 2" descr="Reports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57200" y="1371600"/>
            <a:ext cx="8229600" cy="37097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Website: Landing Page</a:t>
            </a:r>
          </a:p>
        </p:txBody>
      </p:sp>
      <p:pic>
        <p:nvPicPr>
          <p:cNvPr id="3" name="Picture 2" descr="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370974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Website: About Us</a:t>
            </a:r>
          </a:p>
        </p:txBody>
      </p:sp>
      <p:pic>
        <p:nvPicPr>
          <p:cNvPr id="3" name="Picture 2" descr="Ab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370974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Website: Gallery</a:t>
            </a:r>
          </a:p>
        </p:txBody>
      </p:sp>
      <p:pic>
        <p:nvPicPr>
          <p:cNvPr id="3" name="Picture 2" descr="Gall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370974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Website: Contact</a:t>
            </a:r>
          </a:p>
        </p:txBody>
      </p:sp>
      <p:pic>
        <p:nvPicPr>
          <p:cNvPr id="3" name="Picture 2" descr="Cont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3709749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Website: Login Portal</a:t>
            </a:r>
          </a:p>
        </p:txBody>
      </p:sp>
      <p:pic>
        <p:nvPicPr>
          <p:cNvPr id="3" name="Picture 2" descr="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3709749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Portal: Dashboard</a:t>
            </a:r>
          </a:p>
        </p:txBody>
      </p:sp>
      <p:pic>
        <p:nvPicPr>
          <p:cNvPr id="3" name="Picture 2" descr="User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3709749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Portal: Available Blood</a:t>
            </a:r>
          </a:p>
        </p:txBody>
      </p:sp>
      <p:pic>
        <p:nvPicPr>
          <p:cNvPr id="3" name="Picture 2" descr="User_AvailableBlo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3709749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Portal: Camp Registration</a:t>
            </a:r>
          </a:p>
        </p:txBody>
      </p:sp>
      <p:pic>
        <p:nvPicPr>
          <p:cNvPr id="3" name="Picture 2" descr="User_CampRegist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3709749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Portal: Blood Request</a:t>
            </a:r>
          </a:p>
        </p:txBody>
      </p:sp>
      <p:pic>
        <p:nvPicPr>
          <p:cNvPr id="3" name="Picture 2" descr="User_BloodRequ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3709749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Portal: Profile</a:t>
            </a:r>
          </a:p>
        </p:txBody>
      </p:sp>
      <p:pic>
        <p:nvPicPr>
          <p:cNvPr id="3" name="Picture 2" descr="User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370974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20</Slides>
  <Notes>20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3</cp:revision>
  <dcterms:created xsi:type="dcterms:W3CDTF">2013-01-27T09:14:16Z</dcterms:created>
  <dcterms:modified xsi:type="dcterms:W3CDTF">2026-09-18T18:56:46Z</dcterms:modified>
  <cp:category/>
</cp:coreProperties>
</file>