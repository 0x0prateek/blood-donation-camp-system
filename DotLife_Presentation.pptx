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tableStyles" Target="tableStyles.xml"/><Relationship Id="rId21" Type="http://schemas.openxmlformats.org/officeDocument/2006/relationships/viewProps" Target="viewProps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DF883A-B640-83F1-3130-8A6C250B34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E014D6-FD41-F37D-6701-9FA474D730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23B7B6-77AD-E680-6A62-D10E3BC193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3D7ACF-B8CF-30FA-7D11-5ECADD23DF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6C32C-DA72-C3D8-66AD-B9286F5F48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858B6E-7B79-D92F-79B4-4305FEE480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112B19-9514-FD47-4E97-AD307D5AB8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76BD86-8208-4CB3-68DC-0C1F43DA18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972D63-8647-7FF9-15EB-24D170BF95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5088D6-B3BB-758E-2801-D78C72E89F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9439A2-0401-B198-BF02-F4B36083B1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564C5D-5BF6-1FE4-1B3D-A38DF04886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E31ABE-29F9-189E-BCEC-2BF023D168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5C4F2D-006B-6C43-1107-5C32D39664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8527070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599266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6886021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909585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16229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34435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6722658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941182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967388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70735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8288163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702365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845095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77537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9537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892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6869080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1212700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310918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728293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43526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5016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70994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8794877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548722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771784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850765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03454930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852682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51092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0173575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6647142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748300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459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2610897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710840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131017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562158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10166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181783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554517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640958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86480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4263997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12165766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0709237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996458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34757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8868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5348563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56968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854558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296027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23661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2476312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32760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0608185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97416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37973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48700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7303207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0769476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811234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91890" name="Rectangle 1"/>
          <p:cNvSpPr/>
          <p:nvPr/>
        </p:nvSpPr>
        <p:spPr bwMode="auto">
          <a:xfrm>
            <a:off x="0" y="0"/>
            <a:ext cx="4206240" cy="68580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728246" name="TextBox 2"/>
          <p:cNvSpPr txBox="1"/>
          <p:nvPr/>
        </p:nvSpPr>
        <p:spPr bwMode="auto">
          <a:xfrm>
            <a:off x="502920" y="2331720"/>
            <a:ext cx="3386880" cy="2176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DotLife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BLOOD</a:t>
            </a:r>
            <a:endParaRPr sz="3400" b="1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DONATION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CAMP SYSTEM</a:t>
            </a:r>
            <a:endParaRPr/>
          </a:p>
        </p:txBody>
      </p:sp>
      <p:sp>
        <p:nvSpPr>
          <p:cNvPr id="1546599979" name="TextBox 3"/>
          <p:cNvSpPr txBox="1"/>
          <p:nvPr/>
        </p:nvSpPr>
        <p:spPr bwMode="auto">
          <a:xfrm>
            <a:off x="457200" y="450835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F3D2D6"/>
                </a:solidFill>
                <a:latin typeface="Calibri"/>
              </a:rPr>
              <a:t>Full-Stack Web Platform</a:t>
            </a:r>
            <a:endParaRPr/>
          </a:p>
        </p:txBody>
      </p:sp>
      <p:sp>
        <p:nvSpPr>
          <p:cNvPr id="1022608161" name="TextBox 4"/>
          <p:cNvSpPr txBox="1"/>
          <p:nvPr/>
        </p:nvSpPr>
        <p:spPr bwMode="auto">
          <a:xfrm>
            <a:off x="4617720" y="196596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800" b="1" i="0">
                <a:solidFill>
                  <a:srgbClr val="B41E2E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923934031" name="TextBox 5"/>
          <p:cNvSpPr txBox="1"/>
          <p:nvPr/>
        </p:nvSpPr>
        <p:spPr bwMode="auto">
          <a:xfrm>
            <a:off x="4617720" y="2514599"/>
            <a:ext cx="6858720" cy="45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212938"/>
                </a:solidFill>
                <a:latin typeface="Calibri"/>
              </a:rPr>
              <a:t>A production-style system for managing blood donors, donation camps, camp finances and multi-channel (WhatsApp/SMS) donor communication</a:t>
            </a:r>
            <a:endParaRPr/>
          </a:p>
        </p:txBody>
      </p:sp>
      <p:sp>
        <p:nvSpPr>
          <p:cNvPr id="1531429106" name="TextBox 6"/>
          <p:cNvSpPr txBox="1"/>
          <p:nvPr/>
        </p:nvSpPr>
        <p:spPr bwMode="auto">
          <a:xfrm>
            <a:off x="4617720" y="5074920"/>
            <a:ext cx="6875639" cy="495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Presented by: Shivani P. Vaghela</a:t>
            </a:r>
            <a:endParaRPr/>
          </a:p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Stack: Vue 3 SPA · Node/Express API · MariaDB </a:t>
            </a:r>
            <a:endParaRPr/>
          </a:p>
        </p:txBody>
      </p:sp>
      <p:pic>
        <p:nvPicPr>
          <p:cNvPr id="2112976049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920" y="870809"/>
            <a:ext cx="1379471" cy="1379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7918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1. Project Overview</a:t>
            </a:r>
            <a:endParaRPr/>
          </a:p>
        </p:txBody>
      </p:sp>
      <p:sp>
        <p:nvSpPr>
          <p:cNvPr id="67980623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A digital platform to organise blood donation camps end-to-end.</a:t>
            </a:r>
            <a:endParaRPr/>
          </a:p>
        </p:txBody>
      </p:sp>
      <p:sp>
        <p:nvSpPr>
          <p:cNvPr id="1018459780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49433485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1690669087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Manages the full lifecycle of a blood donation drive: donors, camps, on-site registration, finances and outreach.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 Vue 3 single-page app talks to a Node.js/Express REST API, backed by a MySQL/MariaDB relational database.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and camp records are normalised, indexed and searchable — built to hold 800+ real donor records.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Multi-channel outreach: bulk WhatsApp (Meta Cloud API) and SMS (Notify.lk / Twilio), in English and Sinhala.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Every write path (auth, CRUD, messaging, imports/exports) is authenticated and input-validated end to 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Ships fully modern — one command brings up the SPA, API and database together.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72350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2. Problem Statement</a:t>
            </a:r>
            <a:endParaRPr/>
          </a:p>
        </p:txBody>
      </p:sp>
      <p:sp>
        <p:nvSpPr>
          <p:cNvPr id="1177944485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organising a blood camp on paper and spreadsheets looks like.</a:t>
            </a:r>
            <a:endParaRPr/>
          </a:p>
        </p:txBody>
      </p:sp>
      <p:sp>
        <p:nvSpPr>
          <p:cNvPr id="870228741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73315891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225297964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registers are kept as paper books or scattered spreadsheets, organised by village or camp.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Finding donors of a specific blood group who are due to donate again takes manual cross-checking.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Announcing a camp means calling or messaging donors one by one — slow and easy to under- or over-send.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Camp income (cash and in-kind donations) and expenses are tracked informally, if at all.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No shared, auditable record of who attended a camp, who actually donated, and who was contacted when.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Emergency blood requests have no fast way to reach the right blood group at scale.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8797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3. Objectives</a:t>
            </a:r>
            <a:endParaRPr/>
          </a:p>
        </p:txBody>
      </p:sp>
      <p:sp>
        <p:nvSpPr>
          <p:cNvPr id="34462843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the system sets out to achieve.</a:t>
            </a:r>
            <a:endParaRPr/>
          </a:p>
        </p:txBody>
      </p:sp>
      <p:sp>
        <p:nvSpPr>
          <p:cNvPr id="1472804122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2036874404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1406749565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Give organisers one system for donors, camps, on-site registration, budgets and messaging.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Digitise the paper camp register while preserving its logic: T.P. (mobile) number as the unique identifier.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Make blood-group and eligibility (4-month) filtering instant instead of manual.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Support bulk, chunked WhatsApp/SMS campaigns that survive timeouts and never double-send.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Track camp finances — cash donations, in-kind goods and expenses — without mixing the two.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Package the whole stack so it can be built and run identically anywhere with one Docker/Podman command.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068083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4. Technology Stack</a:t>
            </a:r>
            <a:endParaRPr/>
          </a:p>
        </p:txBody>
      </p:sp>
      <p:sp>
        <p:nvSpPr>
          <p:cNvPr id="1247528034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The concrete stack behind the platform.</a:t>
            </a:r>
            <a:endParaRPr/>
          </a:p>
        </p:txBody>
      </p:sp>
      <p:sp>
        <p:nvSpPr>
          <p:cNvPr id="111869454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648474633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670198622" name="Rounded Rectangle 5"/>
          <p:cNvSpPr/>
          <p:nvPr/>
        </p:nvSpPr>
        <p:spPr bwMode="auto">
          <a:xfrm>
            <a:off x="82296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8140952" name="TextBox 6"/>
          <p:cNvSpPr txBox="1"/>
          <p:nvPr/>
        </p:nvSpPr>
        <p:spPr bwMode="auto">
          <a:xfrm>
            <a:off x="114300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Frontend</a:t>
            </a:r>
            <a:endParaRPr/>
          </a:p>
        </p:txBody>
      </p:sp>
      <p:sp>
        <p:nvSpPr>
          <p:cNvPr id="1942162719" name="TextBox 7"/>
          <p:cNvSpPr txBox="1"/>
          <p:nvPr/>
        </p:nvSpPr>
        <p:spPr bwMode="auto">
          <a:xfrm>
            <a:off x="114300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Vue 3 (Composition API) · Vite · Vue Router 4 · Pinia · Bootstrap 5 · Chart.js · Axios</a:t>
            </a:r>
            <a:endParaRPr/>
          </a:p>
        </p:txBody>
      </p:sp>
      <p:sp>
        <p:nvSpPr>
          <p:cNvPr id="1991645523" name="Rounded Rectangle 8"/>
          <p:cNvSpPr/>
          <p:nvPr/>
        </p:nvSpPr>
        <p:spPr bwMode="auto">
          <a:xfrm>
            <a:off x="626364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5419944" name="TextBox 9"/>
          <p:cNvSpPr txBox="1"/>
          <p:nvPr/>
        </p:nvSpPr>
        <p:spPr bwMode="auto">
          <a:xfrm>
            <a:off x="658368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Backend API</a:t>
            </a:r>
            <a:endParaRPr/>
          </a:p>
        </p:txBody>
      </p:sp>
      <p:sp>
        <p:nvSpPr>
          <p:cNvPr id="1873276016" name="TextBox 10"/>
          <p:cNvSpPr txBox="1"/>
          <p:nvPr/>
        </p:nvSpPr>
        <p:spPr bwMode="auto">
          <a:xfrm>
            <a:off x="658368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Node.js 20 · Express · JWT (httpOnly cookies) · bcrypt · mysql2/promise · ExcelJS</a:t>
            </a:r>
            <a:endParaRPr/>
          </a:p>
        </p:txBody>
      </p:sp>
      <p:sp>
        <p:nvSpPr>
          <p:cNvPr id="1301628288" name="Rounded Rectangle 11"/>
          <p:cNvSpPr/>
          <p:nvPr/>
        </p:nvSpPr>
        <p:spPr bwMode="auto">
          <a:xfrm>
            <a:off x="82296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14597158" name="TextBox 12"/>
          <p:cNvSpPr txBox="1"/>
          <p:nvPr/>
        </p:nvSpPr>
        <p:spPr bwMode="auto">
          <a:xfrm>
            <a:off x="114300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Database</a:t>
            </a:r>
            <a:endParaRPr/>
          </a:p>
        </p:txBody>
      </p:sp>
      <p:sp>
        <p:nvSpPr>
          <p:cNvPr id="942678034" name="TextBox 13"/>
          <p:cNvSpPr txBox="1"/>
          <p:nvPr/>
        </p:nvSpPr>
        <p:spPr bwMode="auto">
          <a:xfrm>
            <a:off x="114300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MySQL / MariaDB 10.11 · 12 tables · foreign keys · indexes · migration ledger</a:t>
            </a:r>
            <a:endParaRPr/>
          </a:p>
        </p:txBody>
      </p:sp>
      <p:sp>
        <p:nvSpPr>
          <p:cNvPr id="1412583388" name="Rounded Rectangle 14"/>
          <p:cNvSpPr/>
          <p:nvPr/>
        </p:nvSpPr>
        <p:spPr bwMode="auto">
          <a:xfrm>
            <a:off x="626364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72892702" name="TextBox 15"/>
          <p:cNvSpPr txBox="1"/>
          <p:nvPr/>
        </p:nvSpPr>
        <p:spPr bwMode="auto">
          <a:xfrm>
            <a:off x="658368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Infrastructure</a:t>
            </a:r>
            <a:endParaRPr/>
          </a:p>
        </p:txBody>
      </p:sp>
      <p:sp>
        <p:nvSpPr>
          <p:cNvPr id="1805888342" name="TextBox 16"/>
          <p:cNvSpPr txBox="1"/>
          <p:nvPr/>
        </p:nvSpPr>
        <p:spPr bwMode="auto">
          <a:xfrm>
            <a:off x="658368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Standard Web Hosting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151888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5. Main Features</a:t>
            </a:r>
            <a:endParaRPr/>
          </a:p>
        </p:txBody>
      </p:sp>
      <p:sp>
        <p:nvSpPr>
          <p:cNvPr id="77303805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modules available to an administrator.</a:t>
            </a:r>
            <a:endParaRPr/>
          </a:p>
        </p:txBody>
      </p:sp>
      <p:sp>
        <p:nvSpPr>
          <p:cNvPr id="131881867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013023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6</a:t>
            </a:r>
            <a:endParaRPr/>
          </a:p>
        </p:txBody>
      </p:sp>
      <p:sp>
        <p:nvSpPr>
          <p:cNvPr id="873397771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Donor Management — CRUD, Excel import/export, blood-group and eligibility filtering, duplicate detection.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Blood Camps — schedule camps, track status (Upcoming / Completed / Cancelled), planned budget per camp.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Camp Register — digital attendance book by T.P. number: known donor, walk-in, or already-registered.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Budget &amp; Donations — cash and in-kind contributions tracked separately from spend, with a live balance.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Staff — organising-committee directory, reachable through the same messaging pipeline as donors.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Messaging — bulk WhatsApp (approved templates) and SMS, chunked sending, campaign de-duplication.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Templates — reusable message bodies with Meta template mapping, English and Sinhala.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Emergency Alerts — one-click blood-group targeted request to every matching active donor.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Reports — date-filtered analytics with Excel export; Settings — app, messaging and account configuration.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74216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6. System Architecture</a:t>
            </a:r>
            <a:endParaRPr/>
          </a:p>
        </p:txBody>
      </p:sp>
      <p:sp>
        <p:nvSpPr>
          <p:cNvPr id="107090647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a request travels through the stack.</a:t>
            </a:r>
            <a:endParaRPr/>
          </a:p>
        </p:txBody>
      </p:sp>
      <p:sp>
        <p:nvSpPr>
          <p:cNvPr id="409777487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891943562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7</a:t>
            </a:r>
            <a:endParaRPr/>
          </a:p>
        </p:txBody>
      </p:sp>
      <p:sp>
        <p:nvSpPr>
          <p:cNvPr id="1360107663" name="Oval 5"/>
          <p:cNvSpPr/>
          <p:nvPr/>
        </p:nvSpPr>
        <p:spPr bwMode="auto">
          <a:xfrm>
            <a:off x="77724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  <a:endParaRPr/>
          </a:p>
        </p:txBody>
      </p:sp>
      <p:sp>
        <p:nvSpPr>
          <p:cNvPr id="1158473135" name="TextBox 6"/>
          <p:cNvSpPr txBox="1"/>
          <p:nvPr/>
        </p:nvSpPr>
        <p:spPr bwMode="auto">
          <a:xfrm>
            <a:off x="27432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Browser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(Vue 3 SPA)</a:t>
            </a:r>
            <a:endParaRPr/>
          </a:p>
        </p:txBody>
      </p:sp>
      <p:sp>
        <p:nvSpPr>
          <p:cNvPr id="679539598" name="Right Arrow 7"/>
          <p:cNvSpPr/>
          <p:nvPr/>
        </p:nvSpPr>
        <p:spPr bwMode="auto">
          <a:xfrm>
            <a:off x="182880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5053436" name="Oval 8"/>
          <p:cNvSpPr/>
          <p:nvPr/>
        </p:nvSpPr>
        <p:spPr bwMode="auto">
          <a:xfrm>
            <a:off x="316611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979514543" name="TextBox 9"/>
          <p:cNvSpPr txBox="1"/>
          <p:nvPr/>
        </p:nvSpPr>
        <p:spPr bwMode="auto">
          <a:xfrm>
            <a:off x="266319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Web Server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(static + proxy)</a:t>
            </a:r>
            <a:endParaRPr/>
          </a:p>
        </p:txBody>
      </p:sp>
      <p:sp>
        <p:nvSpPr>
          <p:cNvPr id="898973861" name="Right Arrow 10"/>
          <p:cNvSpPr/>
          <p:nvPr/>
        </p:nvSpPr>
        <p:spPr bwMode="auto">
          <a:xfrm>
            <a:off x="421767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3221679" name="Oval 11"/>
          <p:cNvSpPr/>
          <p:nvPr/>
        </p:nvSpPr>
        <p:spPr bwMode="auto">
          <a:xfrm>
            <a:off x="555498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2026600899" name="TextBox 12"/>
          <p:cNvSpPr txBox="1"/>
          <p:nvPr/>
        </p:nvSpPr>
        <p:spPr bwMode="auto">
          <a:xfrm>
            <a:off x="505206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Express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REST API</a:t>
            </a:r>
            <a:endParaRPr/>
          </a:p>
        </p:txBody>
      </p:sp>
      <p:sp>
        <p:nvSpPr>
          <p:cNvPr id="42959554" name="Right Arrow 13"/>
          <p:cNvSpPr/>
          <p:nvPr/>
        </p:nvSpPr>
        <p:spPr bwMode="auto">
          <a:xfrm>
            <a:off x="6606539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31860040" name="Oval 14"/>
          <p:cNvSpPr/>
          <p:nvPr/>
        </p:nvSpPr>
        <p:spPr bwMode="auto">
          <a:xfrm>
            <a:off x="794385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342611484" name="TextBox 15"/>
          <p:cNvSpPr txBox="1"/>
          <p:nvPr/>
        </p:nvSpPr>
        <p:spPr bwMode="auto">
          <a:xfrm>
            <a:off x="744093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MariaDB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(data)</a:t>
            </a:r>
            <a:endParaRPr/>
          </a:p>
        </p:txBody>
      </p:sp>
      <p:sp>
        <p:nvSpPr>
          <p:cNvPr id="657121080" name="Right Arrow 16"/>
          <p:cNvSpPr/>
          <p:nvPr/>
        </p:nvSpPr>
        <p:spPr bwMode="auto">
          <a:xfrm>
            <a:off x="899541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50182206" name="Oval 17"/>
          <p:cNvSpPr/>
          <p:nvPr/>
        </p:nvSpPr>
        <p:spPr bwMode="auto">
          <a:xfrm>
            <a:off x="1033272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585453503" name="TextBox 18"/>
          <p:cNvSpPr txBox="1"/>
          <p:nvPr/>
        </p:nvSpPr>
        <p:spPr bwMode="auto">
          <a:xfrm>
            <a:off x="982980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WhatsApp / SMS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(Meta, Notify.lk)</a:t>
            </a:r>
            <a:endParaRPr/>
          </a:p>
        </p:txBody>
      </p:sp>
      <p:sp>
        <p:nvSpPr>
          <p:cNvPr id="2010442695" name="TextBox 19"/>
          <p:cNvSpPr txBox="1"/>
          <p:nvPr/>
        </p:nvSpPr>
        <p:spPr bwMode="auto">
          <a:xfrm>
            <a:off x="822960" y="443484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Auth via JWT in an httpOnly cookie  •  All queries parameterised  •  CORS locked to the frontend origin</a:t>
            </a:r>
            <a:endParaRPr/>
          </a:p>
        </p:txBody>
      </p:sp>
      <p:sp>
        <p:nvSpPr>
          <p:cNvPr id="1983936062" name="TextBox 20"/>
          <p:cNvSpPr txBox="1"/>
          <p:nvPr/>
        </p:nvSpPr>
        <p:spPr bwMode="auto">
          <a:xfrm>
            <a:off x="822960" y="502920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defRPr/>
            </a:pPr>
            <a:r>
              <a:t>The frontend is built with Vue 3 and communicates with the Node.js backend API, which connects to the MySQL database.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98388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7. Database Design</a:t>
            </a:r>
            <a:endParaRPr/>
          </a:p>
        </p:txBody>
      </p:sp>
      <p:sp>
        <p:nvSpPr>
          <p:cNvPr id="135101558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MySQL/MariaDB tables (of 12 total).</a:t>
            </a:r>
            <a:endParaRPr/>
          </a:p>
        </p:txBody>
      </p:sp>
      <p:sp>
        <p:nvSpPr>
          <p:cNvPr id="1593673463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687537019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8</a:t>
            </a:r>
            <a:endParaRPr/>
          </a:p>
        </p:txBody>
      </p:sp>
      <p:sp>
        <p:nvSpPr>
          <p:cNvPr id="1421669245" name="Rectangle 5"/>
          <p:cNvSpPr/>
          <p:nvPr/>
        </p:nvSpPr>
        <p:spPr bwMode="auto">
          <a:xfrm>
            <a:off x="548640" y="1508759"/>
            <a:ext cx="2286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6106069" name="TextBox 6"/>
          <p:cNvSpPr txBox="1"/>
          <p:nvPr/>
        </p:nvSpPr>
        <p:spPr bwMode="auto">
          <a:xfrm>
            <a:off x="685800" y="150875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Table</a:t>
            </a:r>
            <a:endParaRPr/>
          </a:p>
        </p:txBody>
      </p:sp>
      <p:sp>
        <p:nvSpPr>
          <p:cNvPr id="1959387855" name="Rectangle 7"/>
          <p:cNvSpPr/>
          <p:nvPr/>
        </p:nvSpPr>
        <p:spPr bwMode="auto">
          <a:xfrm>
            <a:off x="2834640" y="1508759"/>
            <a:ext cx="420624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1045361" name="TextBox 8"/>
          <p:cNvSpPr txBox="1"/>
          <p:nvPr/>
        </p:nvSpPr>
        <p:spPr bwMode="auto">
          <a:xfrm>
            <a:off x="2971800" y="1508759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Key Fields</a:t>
            </a:r>
            <a:endParaRPr/>
          </a:p>
        </p:txBody>
      </p:sp>
      <p:sp>
        <p:nvSpPr>
          <p:cNvPr id="39000758" name="Rectangle 9"/>
          <p:cNvSpPr/>
          <p:nvPr/>
        </p:nvSpPr>
        <p:spPr bwMode="auto">
          <a:xfrm>
            <a:off x="7040880" y="1508759"/>
            <a:ext cx="4572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1597905" name="TextBox 10"/>
          <p:cNvSpPr txBox="1"/>
          <p:nvPr/>
        </p:nvSpPr>
        <p:spPr bwMode="auto">
          <a:xfrm>
            <a:off x="7178039" y="1508759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Purpose</a:t>
            </a:r>
            <a:endParaRPr/>
          </a:p>
        </p:txBody>
      </p:sp>
      <p:sp>
        <p:nvSpPr>
          <p:cNvPr id="1388657915" name="Rectangle 11"/>
          <p:cNvSpPr/>
          <p:nvPr/>
        </p:nvSpPr>
        <p:spPr bwMode="auto">
          <a:xfrm>
            <a:off x="548640" y="1965960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203603" name="TextBox 12"/>
          <p:cNvSpPr txBox="1"/>
          <p:nvPr/>
        </p:nvSpPr>
        <p:spPr bwMode="auto">
          <a:xfrm>
            <a:off x="685800" y="196596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donors</a:t>
            </a:r>
            <a:endParaRPr/>
          </a:p>
        </p:txBody>
      </p:sp>
      <p:sp>
        <p:nvSpPr>
          <p:cNvPr id="1638561092" name="Rectangle 13"/>
          <p:cNvSpPr/>
          <p:nvPr/>
        </p:nvSpPr>
        <p:spPr bwMode="auto">
          <a:xfrm>
            <a:off x="2834640" y="1965960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9500138" name="TextBox 14"/>
          <p:cNvSpPr txBox="1"/>
          <p:nvPr/>
        </p:nvSpPr>
        <p:spPr bwMode="auto">
          <a:xfrm>
            <a:off x="2971800" y="196596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donor_name, mobile (unique), blood_group, status, last_donation_date</a:t>
            </a:r>
            <a:endParaRPr/>
          </a:p>
        </p:txBody>
      </p:sp>
      <p:sp>
        <p:nvSpPr>
          <p:cNvPr id="7433371" name="Rectangle 15"/>
          <p:cNvSpPr/>
          <p:nvPr/>
        </p:nvSpPr>
        <p:spPr bwMode="auto">
          <a:xfrm>
            <a:off x="7040880" y="1965960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6263871" name="TextBox 16"/>
          <p:cNvSpPr txBox="1"/>
          <p:nvPr/>
        </p:nvSpPr>
        <p:spPr bwMode="auto">
          <a:xfrm>
            <a:off x="7178039" y="196596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donor roll — mobile is the durable identity</a:t>
            </a:r>
            <a:endParaRPr/>
          </a:p>
        </p:txBody>
      </p:sp>
      <p:sp>
        <p:nvSpPr>
          <p:cNvPr id="469096265" name="Rectangle 17"/>
          <p:cNvSpPr/>
          <p:nvPr/>
        </p:nvSpPr>
        <p:spPr bwMode="auto">
          <a:xfrm>
            <a:off x="548640" y="2715768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24737243" name="TextBox 18"/>
          <p:cNvSpPr txBox="1"/>
          <p:nvPr/>
        </p:nvSpPr>
        <p:spPr bwMode="auto">
          <a:xfrm>
            <a:off x="685800" y="2715768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blood_camps</a:t>
            </a:r>
            <a:endParaRPr/>
          </a:p>
        </p:txBody>
      </p:sp>
      <p:sp>
        <p:nvSpPr>
          <p:cNvPr id="821977690" name="Rectangle 19"/>
          <p:cNvSpPr/>
          <p:nvPr/>
        </p:nvSpPr>
        <p:spPr bwMode="auto">
          <a:xfrm>
            <a:off x="2834640" y="2715768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06674566" name="TextBox 20"/>
          <p:cNvSpPr txBox="1"/>
          <p:nvPr/>
        </p:nvSpPr>
        <p:spPr bwMode="auto">
          <a:xfrm>
            <a:off x="2971800" y="2715768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title, camp_date, location, status, budget_amount</a:t>
            </a:r>
            <a:endParaRPr/>
          </a:p>
        </p:txBody>
      </p:sp>
      <p:sp>
        <p:nvSpPr>
          <p:cNvPr id="1285241972" name="Rectangle 21"/>
          <p:cNvSpPr/>
          <p:nvPr/>
        </p:nvSpPr>
        <p:spPr bwMode="auto">
          <a:xfrm>
            <a:off x="7040880" y="2715768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63640159" name="TextBox 22"/>
          <p:cNvSpPr txBox="1"/>
          <p:nvPr/>
        </p:nvSpPr>
        <p:spPr bwMode="auto">
          <a:xfrm>
            <a:off x="7178039" y="2715768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Scheduled camps and their planned budget</a:t>
            </a:r>
            <a:endParaRPr/>
          </a:p>
        </p:txBody>
      </p:sp>
      <p:sp>
        <p:nvSpPr>
          <p:cNvPr id="1252377568" name="Rectangle 23"/>
          <p:cNvSpPr/>
          <p:nvPr/>
        </p:nvSpPr>
        <p:spPr bwMode="auto">
          <a:xfrm>
            <a:off x="548640" y="3465576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73740736" name="TextBox 24"/>
          <p:cNvSpPr txBox="1"/>
          <p:nvPr/>
        </p:nvSpPr>
        <p:spPr bwMode="auto">
          <a:xfrm>
            <a:off x="685800" y="3465576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camp_registrations</a:t>
            </a:r>
            <a:endParaRPr/>
          </a:p>
        </p:txBody>
      </p:sp>
      <p:sp>
        <p:nvSpPr>
          <p:cNvPr id="2273393" name="Rectangle 25"/>
          <p:cNvSpPr/>
          <p:nvPr/>
        </p:nvSpPr>
        <p:spPr bwMode="auto">
          <a:xfrm>
            <a:off x="2834640" y="34655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3157356" name="TextBox 26"/>
          <p:cNvSpPr txBox="1"/>
          <p:nvPr/>
        </p:nvSpPr>
        <p:spPr bwMode="auto">
          <a:xfrm>
            <a:off x="2971800" y="3465576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camp_id, donor_id, serial_no, status</a:t>
            </a:r>
            <a:endParaRPr/>
          </a:p>
        </p:txBody>
      </p:sp>
      <p:sp>
        <p:nvSpPr>
          <p:cNvPr id="1960809381" name="Rectangle 27"/>
          <p:cNvSpPr/>
          <p:nvPr/>
        </p:nvSpPr>
        <p:spPr bwMode="auto">
          <a:xfrm>
            <a:off x="7040880" y="3465576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7372952" name="TextBox 28"/>
          <p:cNvSpPr txBox="1"/>
          <p:nvPr/>
        </p:nvSpPr>
        <p:spPr bwMode="auto">
          <a:xfrm>
            <a:off x="7178039" y="3465576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digital attendance register per camp</a:t>
            </a:r>
            <a:endParaRPr/>
          </a:p>
        </p:txBody>
      </p:sp>
      <p:sp>
        <p:nvSpPr>
          <p:cNvPr id="861356189" name="Rectangle 29"/>
          <p:cNvSpPr/>
          <p:nvPr/>
        </p:nvSpPr>
        <p:spPr bwMode="auto">
          <a:xfrm>
            <a:off x="548640" y="4215384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34980557" name="TextBox 30"/>
          <p:cNvSpPr txBox="1"/>
          <p:nvPr/>
        </p:nvSpPr>
        <p:spPr bwMode="auto">
          <a:xfrm>
            <a:off x="685800" y="4215384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camp_contributions /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camp_expenses</a:t>
            </a:r>
            <a:endParaRPr/>
          </a:p>
        </p:txBody>
      </p:sp>
      <p:sp>
        <p:nvSpPr>
          <p:cNvPr id="2036858021" name="Rectangle 31"/>
          <p:cNvSpPr/>
          <p:nvPr/>
        </p:nvSpPr>
        <p:spPr bwMode="auto">
          <a:xfrm>
            <a:off x="2834640" y="4215384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0214411" name="TextBox 32"/>
          <p:cNvSpPr txBox="1"/>
          <p:nvPr/>
        </p:nvSpPr>
        <p:spPr bwMode="auto">
          <a:xfrm>
            <a:off x="2971800" y="4215384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camp_id, category, amount, status</a:t>
            </a:r>
            <a:endParaRPr/>
          </a:p>
        </p:txBody>
      </p:sp>
      <p:sp>
        <p:nvSpPr>
          <p:cNvPr id="2042524643" name="Rectangle 33"/>
          <p:cNvSpPr/>
          <p:nvPr/>
        </p:nvSpPr>
        <p:spPr bwMode="auto">
          <a:xfrm>
            <a:off x="7040880" y="4215384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37560089" name="TextBox 34"/>
          <p:cNvSpPr txBox="1"/>
          <p:nvPr/>
        </p:nvSpPr>
        <p:spPr bwMode="auto">
          <a:xfrm>
            <a:off x="7178039" y="4215384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Money and goods in vs. money spent, kept apart</a:t>
            </a:r>
            <a:endParaRPr/>
          </a:p>
        </p:txBody>
      </p:sp>
      <p:sp>
        <p:nvSpPr>
          <p:cNvPr id="1098120062" name="Rectangle 35"/>
          <p:cNvSpPr/>
          <p:nvPr/>
        </p:nvSpPr>
        <p:spPr bwMode="auto">
          <a:xfrm>
            <a:off x="548640" y="4965192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6765375" name="TextBox 36"/>
          <p:cNvSpPr txBox="1"/>
          <p:nvPr/>
        </p:nvSpPr>
        <p:spPr bwMode="auto">
          <a:xfrm>
            <a:off x="685800" y="4965192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message_logs</a:t>
            </a:r>
            <a:endParaRPr/>
          </a:p>
        </p:txBody>
      </p:sp>
      <p:sp>
        <p:nvSpPr>
          <p:cNvPr id="594000968" name="Rectangle 37"/>
          <p:cNvSpPr/>
          <p:nvPr/>
        </p:nvSpPr>
        <p:spPr bwMode="auto">
          <a:xfrm>
            <a:off x="2834640" y="4965192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3953347" name="TextBox 38"/>
          <p:cNvSpPr txBox="1"/>
          <p:nvPr/>
        </p:nvSpPr>
        <p:spPr bwMode="auto">
          <a:xfrm>
            <a:off x="2971800" y="4965192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donor_id / staff_id, campaign_id, status, sent_at</a:t>
            </a:r>
            <a:endParaRPr/>
          </a:p>
        </p:txBody>
      </p:sp>
      <p:sp>
        <p:nvSpPr>
          <p:cNvPr id="369821602" name="Rectangle 39"/>
          <p:cNvSpPr/>
          <p:nvPr/>
        </p:nvSpPr>
        <p:spPr bwMode="auto">
          <a:xfrm>
            <a:off x="7040880" y="4965192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72007653" name="TextBox 40"/>
          <p:cNvSpPr txBox="1"/>
          <p:nvPr/>
        </p:nvSpPr>
        <p:spPr bwMode="auto">
          <a:xfrm>
            <a:off x="7178039" y="4965192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Full audit trail of every WhatsApp/SMS sent</a:t>
            </a:r>
            <a:endParaRPr/>
          </a:p>
        </p:txBody>
      </p:sp>
      <p:sp>
        <p:nvSpPr>
          <p:cNvPr id="1302611456" name="Rectangle 41"/>
          <p:cNvSpPr/>
          <p:nvPr/>
        </p:nvSpPr>
        <p:spPr bwMode="auto">
          <a:xfrm>
            <a:off x="548640" y="5715000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946692" name="TextBox 42"/>
          <p:cNvSpPr txBox="1"/>
          <p:nvPr/>
        </p:nvSpPr>
        <p:spPr bwMode="auto">
          <a:xfrm>
            <a:off x="685800" y="571500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admins, staff,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login_attempts</a:t>
            </a:r>
            <a:endParaRPr/>
          </a:p>
        </p:txBody>
      </p:sp>
      <p:sp>
        <p:nvSpPr>
          <p:cNvPr id="1595656082" name="Rectangle 43"/>
          <p:cNvSpPr/>
          <p:nvPr/>
        </p:nvSpPr>
        <p:spPr bwMode="auto">
          <a:xfrm>
            <a:off x="2834640" y="5715000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7711240" name="TextBox 44"/>
          <p:cNvSpPr txBox="1"/>
          <p:nvPr/>
        </p:nvSpPr>
        <p:spPr bwMode="auto">
          <a:xfrm>
            <a:off x="2971800" y="571500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email/password, name/mobile, ip_address</a:t>
            </a:r>
            <a:endParaRPr/>
          </a:p>
        </p:txBody>
      </p:sp>
      <p:sp>
        <p:nvSpPr>
          <p:cNvPr id="339497964" name="Rectangle 45"/>
          <p:cNvSpPr/>
          <p:nvPr/>
        </p:nvSpPr>
        <p:spPr bwMode="auto">
          <a:xfrm>
            <a:off x="7040880" y="5715000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98540148" name="TextBox 46"/>
          <p:cNvSpPr txBox="1"/>
          <p:nvPr/>
        </p:nvSpPr>
        <p:spPr bwMode="auto">
          <a:xfrm>
            <a:off x="7178039" y="571500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Accounts, committee members, brute-force throttling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271090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8. Security &amp; Reliability</a:t>
            </a:r>
            <a:endParaRPr/>
          </a:p>
        </p:txBody>
      </p:sp>
      <p:sp>
        <p:nvSpPr>
          <p:cNvPr id="1983280638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Hardening applied on top of the base CRUD app.</a:t>
            </a:r>
            <a:endParaRPr/>
          </a:p>
        </p:txBody>
      </p:sp>
      <p:sp>
        <p:nvSpPr>
          <p:cNvPr id="22627115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95437982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9</a:t>
            </a:r>
            <a:endParaRPr/>
          </a:p>
        </p:txBody>
      </p:sp>
      <p:sp>
        <p:nvSpPr>
          <p:cNvPr id="281839516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Authentication — JWT in an httpOnly cookie (XSS-resistant), bcrypt-hashed passwords, session-aware CORS.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Brute-force throttling — login_attempts table caps failures per email and per IP within a rolling window.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SQL injection — every query goes through mysql2's parameterised placeholders; no string concatenation.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Account changes — changing name, email or password requires re-entering the current password.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Fail closed — a global error handler returns a generic message instead of leaking stack traces to clients.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 integrity — foreign keys with explicit ON DELETE rules; a schema_migrations ledger tracks what ran.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Excel import/export — size-capped uploads, mobile-number normalisation, garbled-CSV detection.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348642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9. Application Screens</a:t>
            </a:r>
            <a:endParaRPr/>
          </a:p>
        </p:txBody>
      </p:sp>
      <p:sp>
        <p:nvSpPr>
          <p:cNvPr id="131124714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Key screens in the admin console.</a:t>
            </a:r>
            <a:endParaRPr/>
          </a:p>
        </p:txBody>
      </p:sp>
      <p:sp>
        <p:nvSpPr>
          <p:cNvPr id="717219720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336203887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10</a:t>
            </a:r>
            <a:endParaRPr/>
          </a:p>
        </p:txBody>
      </p:sp>
      <p:sp>
        <p:nvSpPr>
          <p:cNvPr id="904040634" name="Rounded Rectangle 5"/>
          <p:cNvSpPr/>
          <p:nvPr/>
        </p:nvSpPr>
        <p:spPr bwMode="auto">
          <a:xfrm>
            <a:off x="82296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01842993" name="TextBox 6"/>
          <p:cNvSpPr txBox="1"/>
          <p:nvPr/>
        </p:nvSpPr>
        <p:spPr bwMode="auto">
          <a:xfrm>
            <a:off x="82296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46023655" name="TextBox 7"/>
          <p:cNvSpPr txBox="1"/>
          <p:nvPr/>
        </p:nvSpPr>
        <p:spPr bwMode="auto">
          <a:xfrm>
            <a:off x="82296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Dashboard</a:t>
            </a:r>
            <a:endParaRPr/>
          </a:p>
        </p:txBody>
      </p:sp>
      <p:sp>
        <p:nvSpPr>
          <p:cNvPr id="111230504" name="Rounded Rectangle 8"/>
          <p:cNvSpPr/>
          <p:nvPr/>
        </p:nvSpPr>
        <p:spPr bwMode="auto">
          <a:xfrm>
            <a:off x="443484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199827" name="TextBox 9"/>
          <p:cNvSpPr txBox="1"/>
          <p:nvPr/>
        </p:nvSpPr>
        <p:spPr bwMode="auto">
          <a:xfrm>
            <a:off x="443484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041506874" name="TextBox 10"/>
          <p:cNvSpPr txBox="1"/>
          <p:nvPr/>
        </p:nvSpPr>
        <p:spPr bwMode="auto">
          <a:xfrm>
            <a:off x="443484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Donor Management</a:t>
            </a:r>
            <a:endParaRPr/>
          </a:p>
        </p:txBody>
      </p:sp>
      <p:sp>
        <p:nvSpPr>
          <p:cNvPr id="278203836" name="Rounded Rectangle 11"/>
          <p:cNvSpPr/>
          <p:nvPr/>
        </p:nvSpPr>
        <p:spPr bwMode="auto">
          <a:xfrm>
            <a:off x="804672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2123176" name="TextBox 12"/>
          <p:cNvSpPr txBox="1"/>
          <p:nvPr/>
        </p:nvSpPr>
        <p:spPr bwMode="auto">
          <a:xfrm>
            <a:off x="804672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694675171" name="TextBox 13"/>
          <p:cNvSpPr txBox="1"/>
          <p:nvPr/>
        </p:nvSpPr>
        <p:spPr bwMode="auto">
          <a:xfrm>
            <a:off x="804672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Camp Register</a:t>
            </a:r>
            <a:endParaRPr/>
          </a:p>
        </p:txBody>
      </p:sp>
      <p:sp>
        <p:nvSpPr>
          <p:cNvPr id="494969632" name="Rounded Rectangle 14"/>
          <p:cNvSpPr/>
          <p:nvPr/>
        </p:nvSpPr>
        <p:spPr bwMode="auto">
          <a:xfrm>
            <a:off x="82296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8067999" name="TextBox 15"/>
          <p:cNvSpPr txBox="1"/>
          <p:nvPr/>
        </p:nvSpPr>
        <p:spPr bwMode="auto">
          <a:xfrm>
            <a:off x="82296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977251672" name="TextBox 16"/>
          <p:cNvSpPr txBox="1"/>
          <p:nvPr/>
        </p:nvSpPr>
        <p:spPr bwMode="auto">
          <a:xfrm>
            <a:off x="82296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Budget &amp; Donations</a:t>
            </a:r>
            <a:endParaRPr/>
          </a:p>
        </p:txBody>
      </p:sp>
      <p:sp>
        <p:nvSpPr>
          <p:cNvPr id="377716283" name="Rounded Rectangle 17"/>
          <p:cNvSpPr/>
          <p:nvPr/>
        </p:nvSpPr>
        <p:spPr bwMode="auto">
          <a:xfrm>
            <a:off x="443484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8053415" name="TextBox 18"/>
          <p:cNvSpPr txBox="1"/>
          <p:nvPr/>
        </p:nvSpPr>
        <p:spPr bwMode="auto">
          <a:xfrm>
            <a:off x="443484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937679787" name="TextBox 19"/>
          <p:cNvSpPr txBox="1"/>
          <p:nvPr/>
        </p:nvSpPr>
        <p:spPr bwMode="auto">
          <a:xfrm>
            <a:off x="443484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Messaging &amp; Templates</a:t>
            </a:r>
            <a:endParaRPr/>
          </a:p>
        </p:txBody>
      </p:sp>
      <p:sp>
        <p:nvSpPr>
          <p:cNvPr id="880843390" name="Rounded Rectangle 20"/>
          <p:cNvSpPr/>
          <p:nvPr/>
        </p:nvSpPr>
        <p:spPr bwMode="auto">
          <a:xfrm>
            <a:off x="804672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3815613" name="TextBox 21"/>
          <p:cNvSpPr txBox="1"/>
          <p:nvPr/>
        </p:nvSpPr>
        <p:spPr bwMode="auto">
          <a:xfrm>
            <a:off x="804672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557525937" name="TextBox 22"/>
          <p:cNvSpPr txBox="1"/>
          <p:nvPr/>
        </p:nvSpPr>
        <p:spPr bwMode="auto">
          <a:xfrm>
            <a:off x="804672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Reports</a:t>
            </a:r>
            <a:endParaRPr/>
          </a:p>
        </p:txBody>
      </p:sp>
      <p:pic>
        <p:nvPicPr>
          <p:cNvPr id="1495104362" name="Picture 23" descr="landin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828800"/>
            <a:ext cx="4064000" cy="2286000"/>
          </a:xfrm>
          <a:prstGeom prst="rect">
            <a:avLst/>
          </a:prstGeom>
        </p:spPr>
      </p:pic>
      <p:pic>
        <p:nvPicPr>
          <p:cNvPr id="911778164" name="Picture 24" descr="logi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29200" y="1828800"/>
            <a:ext cx="4064000" cy="228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94961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10. Testing &amp; Verification</a:t>
            </a:r>
            <a:endParaRPr/>
          </a:p>
        </p:txBody>
      </p:sp>
      <p:sp>
        <p:nvSpPr>
          <p:cNvPr id="113645816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the fixed system was verified before this presentation.</a:t>
            </a:r>
            <a:endParaRPr/>
          </a:p>
        </p:txBody>
      </p:sp>
      <p:sp>
        <p:nvSpPr>
          <p:cNvPr id="1847972985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904542495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11</a:t>
            </a:r>
            <a:endParaRPr/>
          </a:p>
        </p:txBody>
      </p:sp>
      <p:sp>
        <p:nvSpPr>
          <p:cNvPr id="854447051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Full source audit across the Vue 3 frontend, Express API and MySQL schema — request/response contracts, SQL correctness and router paths checked file by file.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Deployed and tested the frontend, backend, and database successfully.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Live endpoint checks after fixes: login and session flow, donor CRUD and search, camp finance summary and category totals, camp-register lookup, and Excel report export.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Data-integrity check: fresh-install seed data (donors, camps, templates, message logs) loads without foreign-key errors.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Regression check: values written through the fixed endpoints (e.g. new contribution categories) were re-read back correctly, then the test rows were removed — the database ships clean.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58054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11. Deployment</a:t>
            </a:r>
            <a:endParaRPr/>
          </a:p>
        </p:txBody>
      </p:sp>
      <p:sp>
        <p:nvSpPr>
          <p:cNvPr id="4326297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Deployed on standard web hosting.</a:t>
            </a:r>
            <a:endParaRPr/>
          </a:p>
        </p:txBody>
      </p:sp>
      <p:sp>
        <p:nvSpPr>
          <p:cNvPr id="741662914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681331490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12</a:t>
            </a:r>
            <a:endParaRPr/>
          </a:p>
        </p:txBody>
      </p:sp>
      <p:sp>
        <p:nvSpPr>
          <p:cNvPr id="1243590314" name="TextBox 5"/>
          <p:cNvSpPr txBox="1"/>
          <p:nvPr/>
        </p:nvSpPr>
        <p:spPr bwMode="auto">
          <a:xfrm>
            <a:off x="822960" y="1554480"/>
            <a:ext cx="6035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▪ Deployed online using standard web hosting services.</a:t>
            </a:r>
          </a:p>
          <a:p>
            <a:r>
              <a:t>▪ Frontend is a Vue 3 Single Page Application.</a:t>
            </a:r>
          </a:p>
          <a:p>
            <a:r>
              <a:t>▪ Backend is a Node.js REST API.</a:t>
            </a:r>
          </a:p>
          <a:p>
            <a:r>
              <a:t>▪ Database is MySQL/MariaDB.</a:t>
            </a:r>
          </a:p>
        </p:txBody>
      </p:sp>
      <p:sp>
        <p:nvSpPr>
          <p:cNvPr id="748444850" name="Rounded Rectangle 6"/>
          <p:cNvSpPr/>
          <p:nvPr/>
        </p:nvSpPr>
        <p:spPr bwMode="auto">
          <a:xfrm>
            <a:off x="7178039" y="160020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212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33312924" name="TextBox 7"/>
          <p:cNvSpPr txBox="1"/>
          <p:nvPr/>
        </p:nvSpPr>
        <p:spPr bwMode="auto">
          <a:xfrm>
            <a:off x="7498080" y="187451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E5E7EB"/>
                </a:solidFill>
                <a:latin typeface="Calibri"/>
              </a:rPr>
              <a:t>System Architecture</a:t>
            </a:r>
            <a:endParaRPr/>
          </a:p>
        </p:txBody>
      </p:sp>
      <p:sp>
        <p:nvSpPr>
          <p:cNvPr id="252151753" name="TextBox 8"/>
          <p:cNvSpPr txBox="1"/>
          <p:nvPr/>
        </p:nvSpPr>
        <p:spPr bwMode="auto">
          <a:xfrm>
            <a:off x="7498080" y="2331720"/>
            <a:ext cx="3611880" cy="3017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Frontend: Vue 3</a:t>
            </a:r>
          </a:p>
          <a:p>
            <a:r>
              <a:t>Backend: Node.js / Express</a:t>
            </a:r>
          </a:p>
          <a:p>
            <a:r>
              <a:t>Database: MySQL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66339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12. Benefits &amp; Future Scope</a:t>
            </a:r>
            <a:endParaRPr/>
          </a:p>
        </p:txBody>
      </p:sp>
      <p:sp>
        <p:nvSpPr>
          <p:cNvPr id="1092407583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Impact today, and what's still ahead.</a:t>
            </a:r>
            <a:endParaRPr/>
          </a:p>
        </p:txBody>
      </p:sp>
      <p:sp>
        <p:nvSpPr>
          <p:cNvPr id="1094884607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84029347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13</a:t>
            </a:r>
            <a:endParaRPr/>
          </a:p>
        </p:txBody>
      </p:sp>
      <p:sp>
        <p:nvSpPr>
          <p:cNvPr id="486341996" name="TextBox 5"/>
          <p:cNvSpPr txBox="1"/>
          <p:nvPr/>
        </p:nvSpPr>
        <p:spPr bwMode="auto">
          <a:xfrm>
            <a:off x="822960" y="1554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One system replaces paper registers, spreadsheets and ad-hoc phone calls for running a camp.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Chunked, deduplicated messaging safely reaches hundreds of donors without double-sending.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Clear separation of cash vs. in-kind donations gives organisers an honest, auditable budget picture.</a:t>
            </a:r>
            <a:endParaRPr/>
          </a:p>
        </p:txBody>
      </p:sp>
      <p:sp>
        <p:nvSpPr>
          <p:cNvPr id="891221895" name="TextBox 6"/>
          <p:cNvSpPr txBox="1"/>
          <p:nvPr/>
        </p:nvSpPr>
        <p:spPr bwMode="auto">
          <a:xfrm>
            <a:off x="822960" y="34290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B41E2E"/>
                </a:solidFill>
                <a:latin typeface="Calibri"/>
              </a:rPr>
              <a:t>Outstanding / Roadmap</a:t>
            </a:r>
            <a:endParaRPr/>
          </a:p>
        </p:txBody>
      </p:sp>
      <p:sp>
        <p:nvSpPr>
          <p:cNvPr id="835874884" name="TextBox 7"/>
          <p:cNvSpPr txBox="1"/>
          <p:nvPr/>
        </p:nvSpPr>
        <p:spPr bwMode="auto">
          <a:xfrm>
            <a:off x="82296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Get the three WhatsApp templates (camp notice, emergency, general) approved in WhatsApp Manager.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Register the organisation's own WhatsApp number and an 11-character approved SMS sender ID.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Finish transcribing the remaining paper register pages (~19) into the donor database.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Admin dashboard widgets for donor-retention trends and per-camp turnout over time.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1411731" name="TextBox 1"/>
          <p:cNvSpPr txBox="1"/>
          <p:nvPr/>
        </p:nvSpPr>
        <p:spPr bwMode="auto"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4400" b="1" i="0">
                <a:solidFill>
                  <a:srgbClr val="B41E2E"/>
                </a:solidFill>
                <a:latin typeface="Calibri"/>
              </a:rPr>
              <a:t>Thank You</a:t>
            </a:r>
            <a:endParaRPr/>
          </a:p>
        </p:txBody>
      </p:sp>
      <p:sp>
        <p:nvSpPr>
          <p:cNvPr id="2138659585" name="TextBox 2"/>
          <p:cNvSpPr txBox="1"/>
          <p:nvPr/>
        </p:nvSpPr>
        <p:spPr bwMode="auto">
          <a:xfrm>
            <a:off x="0" y="31546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2200" b="1" i="0">
                <a:solidFill>
                  <a:srgbClr val="212938"/>
                </a:solidFill>
                <a:latin typeface="Calibri"/>
              </a:rPr>
              <a:t>Questions &amp; Answers</a:t>
            </a:r>
            <a:endParaRPr/>
          </a:p>
        </p:txBody>
      </p:sp>
      <p:sp>
        <p:nvSpPr>
          <p:cNvPr id="821555438" name="TextBox 3"/>
          <p:cNvSpPr txBox="1"/>
          <p:nvPr/>
        </p:nvSpPr>
        <p:spPr bwMode="auto">
          <a:xfrm>
            <a:off x="0" y="425196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DotLife</a:t>
            </a:r>
            <a:endParaRPr/>
          </a:p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1478107619" name="TextBox 4"/>
          <p:cNvSpPr txBox="1"/>
          <p:nvPr/>
        </p:nvSpPr>
        <p:spPr bwMode="auto"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600" b="1" i="1">
                <a:solidFill>
                  <a:srgbClr val="B41E2E"/>
                </a:solidFill>
                <a:latin typeface="Calibri"/>
              </a:rPr>
              <a:t>“A small contribution can save a life.”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Dashboard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Donor Management</a:t>
            </a:r>
          </a:p>
        </p:txBody>
      </p:sp>
      <p:pic>
        <p:nvPicPr>
          <p:cNvPr id="3" name="Picture 2" descr="Don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Camp Register</a:t>
            </a:r>
          </a:p>
        </p:txBody>
      </p:sp>
      <p:pic>
        <p:nvPicPr>
          <p:cNvPr id="3" name="Picture 2" descr="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Budget &amp; Donations</a:t>
            </a:r>
          </a:p>
        </p:txBody>
      </p:sp>
      <p:pic>
        <p:nvPicPr>
          <p:cNvPr id="3" name="Picture 2" descr="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Messaging &amp; Templates</a:t>
            </a:r>
          </a:p>
        </p:txBody>
      </p:sp>
      <p:pic>
        <p:nvPicPr>
          <p:cNvPr id="3" name="Picture 2" descr="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 Screens: Reports</a:t>
            </a:r>
          </a:p>
        </p:txBody>
      </p:sp>
      <p:pic>
        <p:nvPicPr>
          <p:cNvPr id="3" name="Picture 2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2026-09-18T18:49:20Z</dcterms:modified>
  <cp:category/>
</cp:coreProperties>
</file>